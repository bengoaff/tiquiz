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914400"/>
            <a:ext cx="731520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L'ATELIER DU QUIZ</a:t>
            </a:r>
            <a:endParaRPr lang="en-US" sz="1400" dirty="0"/>
          </a:p>
        </p:txBody>
      </p:sp>
      <p:sp>
        <p:nvSpPr>
          <p:cNvPr id="5" name="Text 3"/>
          <p:cNvSpPr/>
          <p:nvPr/>
        </p:nvSpPr>
        <p:spPr>
          <a:xfrm>
            <a:off x="640080" y="1371600"/>
            <a:ext cx="7315200" cy="640080"/>
          </a:xfrm>
          <a:prstGeom prst="rect">
            <a:avLst/>
          </a:prstGeom>
          <a:noFill/>
          <a:ln/>
        </p:spPr>
        <p:txBody>
          <a:bodyPr wrap="square" lIns="0" tIns="0" rIns="0" bIns="0" rtlCol="0" anchor="ctr"/>
          <a:lstStyle/>
          <a:p>
            <a:pPr indent="0" marL="0">
              <a:buNone/>
            </a:pPr>
            <a:r>
              <a:rPr lang="en-US" sz="4000" b="1" dirty="0">
                <a:solidFill>
                  <a:srgbClr val="F5B301"/>
                </a:solidFill>
                <a:latin typeface="Inter" pitchFamily="34" charset="0"/>
                <a:ea typeface="Inter" pitchFamily="34" charset="-122"/>
                <a:cs typeface="Inter" pitchFamily="34" charset="-120"/>
              </a:rPr>
              <a:t>JOUR 6</a:t>
            </a:r>
            <a:endParaRPr lang="en-US" sz="4000" dirty="0"/>
          </a:p>
        </p:txBody>
      </p:sp>
      <p:sp>
        <p:nvSpPr>
          <p:cNvPr id="6" name="Text 4"/>
          <p:cNvSpPr/>
          <p:nvPr/>
        </p:nvSpPr>
        <p:spPr>
          <a:xfrm>
            <a:off x="640080" y="2103120"/>
            <a:ext cx="7955280" cy="1554480"/>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Crée ta communauté</a:t>
            </a:r>
            <a:endParaRPr lang="en-US" sz="3400" dirty="0"/>
          </a:p>
        </p:txBody>
      </p:sp>
      <p:sp>
        <p:nvSpPr>
          <p:cNvPr id="7" name="Text 5"/>
          <p:cNvSpPr/>
          <p:nvPr/>
        </p:nvSpPr>
        <p:spPr>
          <a:xfrm>
            <a:off x="658368" y="3703320"/>
            <a:ext cx="7589520" cy="640080"/>
          </a:xfrm>
          <a:prstGeom prst="rect">
            <a:avLst/>
          </a:prstGeom>
          <a:noFill/>
          <a:ln/>
        </p:spPr>
        <p:txBody>
          <a:bodyPr wrap="square" lIns="0" tIns="0" rIns="0" bIns="0" rtlCol="0" anchor="ctr"/>
          <a:lstStyle/>
          <a:p>
            <a:pPr indent="0" marL="0">
              <a:buNone/>
            </a:pPr>
            <a:r>
              <a:rPr lang="en-US" sz="1700" i="1" dirty="0">
                <a:solidFill>
                  <a:srgbClr val="EAECFB"/>
                </a:solidFill>
                <a:latin typeface="Inter" pitchFamily="34" charset="0"/>
                <a:ea typeface="Inter" pitchFamily="34" charset="-122"/>
                <a:cs typeface="Inter" pitchFamily="34" charset="-120"/>
              </a:rPr>
              <a:t>Transforme tes leads en une audience vivante qui revient et rachète.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Au programme aujourd'hui</a:t>
            </a:r>
            <a:endParaRPr lang="en-US" sz="3000" dirty="0"/>
          </a:p>
        </p:txBody>
      </p:sp>
      <p:sp>
        <p:nvSpPr>
          <p:cNvPr id="3" name="Shape 1"/>
          <p:cNvSpPr/>
          <p:nvPr/>
        </p:nvSpPr>
        <p:spPr>
          <a:xfrm>
            <a:off x="640080" y="1371600"/>
            <a:ext cx="7863840" cy="960120"/>
          </a:xfrm>
          <a:prstGeom prst="roundRect">
            <a:avLst>
              <a:gd name="adj" fmla="val 11429"/>
            </a:avLst>
          </a:prstGeom>
          <a:solidFill>
            <a:srgbClr val="EAECFB"/>
          </a:solidFill>
          <a:ln/>
        </p:spPr>
      </p:sp>
      <p:sp>
        <p:nvSpPr>
          <p:cNvPr id="4" name="Text 2"/>
          <p:cNvSpPr/>
          <p:nvPr/>
        </p:nvSpPr>
        <p:spPr>
          <a:xfrm>
            <a:off x="914400" y="1371600"/>
            <a:ext cx="7315200" cy="960120"/>
          </a:xfrm>
          <a:prstGeom prst="rect">
            <a:avLst/>
          </a:prstGeom>
          <a:noFill/>
          <a:ln/>
        </p:spPr>
        <p:txBody>
          <a:bodyPr wrap="square" lIns="0" tIns="0" rIns="0" bIns="0" rtlCol="0" anchor="ctr"/>
          <a:lstStyle/>
          <a:p>
            <a:pPr indent="0" marL="0">
              <a:buNone/>
            </a:pPr>
            <a:r>
              <a:rPr lang="en-US" sz="1600" b="1" dirty="0">
                <a:solidFill>
                  <a:srgbClr val="5D6CDB"/>
                </a:solidFill>
                <a:latin typeface="Inter" pitchFamily="34" charset="0"/>
                <a:ea typeface="Inter" pitchFamily="34" charset="-122"/>
                <a:cs typeface="Inter" pitchFamily="34" charset="-120"/>
              </a:rPr>
              <a:t>Objectif  </a:t>
            </a:r>
            <a:pPr indent="0" marL="0">
              <a:buNone/>
            </a:pPr>
            <a:r>
              <a:rPr lang="en-US" sz="1600" dirty="0">
                <a:solidFill>
                  <a:srgbClr val="2E386E"/>
                </a:solidFill>
                <a:latin typeface="Inter" pitchFamily="34" charset="0"/>
                <a:ea typeface="Inter" pitchFamily="34" charset="-122"/>
                <a:cs typeface="Inter" pitchFamily="34" charset="-120"/>
              </a:rPr>
              <a:t>Inviter tes nouveaux leads dans une communauté à toi, et leur donner une vraie raison d'y rester.</a:t>
            </a:r>
            <a:endParaRPr lang="en-US" sz="1600" dirty="0"/>
          </a:p>
        </p:txBody>
      </p:sp>
      <p:sp>
        <p:nvSpPr>
          <p:cNvPr id="5" name="Text 3"/>
          <p:cNvSpPr/>
          <p:nvPr/>
        </p:nvSpPr>
        <p:spPr>
          <a:xfrm>
            <a:off x="914400" y="2697480"/>
            <a:ext cx="7315200" cy="1920240"/>
          </a:xfrm>
          <a:prstGeom prst="rect">
            <a:avLst/>
          </a:prstGeom>
          <a:noFill/>
          <a:ln/>
        </p:spPr>
        <p:txBody>
          <a:bodyPr wrap="square" rtlCol="0" anchor="ctr"/>
          <a:lstStyle/>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A quoi sert vraiment une communaute</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Ou la creer : la bonne maison</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Rester proche : en public et en prive</a:t>
            </a:r>
            <a:endParaRPr lang="en-US" sz="1500" dirty="0"/>
          </a:p>
          <a:p>
            <a:pPr marL="203200" indent="-203200">
              <a:spcAft>
                <a:spcPts val="800"/>
              </a:spcAft>
              <a:buSzPct val="100000"/>
              <a:buChar char="•"/>
            </a:pPr>
            <a:r>
              <a:rPr lang="en-US" sz="1500" dirty="0">
                <a:solidFill>
                  <a:srgbClr val="2E386E"/>
                </a:solidFill>
                <a:latin typeface="Inter" pitchFamily="34" charset="0"/>
                <a:ea typeface="Inter" pitchFamily="34" charset="-122"/>
                <a:cs typeface="Inter" pitchFamily="34" charset="-120"/>
              </a:rPr>
              <a:t>Transformer les questions des membres en contenu</a:t>
            </a:r>
            <a:endParaRPr lang="en-US" sz="15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Un lead tout seul, ça t'oublie</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Quelqu'un fait ton quiz, te laisse son email... et dans deux semaines, il a oublié qui tu es. Un email de plus, perdu au milieu de 200 autres.</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Une communauté change tout : un endroit à toi (groupe Facebook, canal Telegram, serveur Discord) où tes leads te voient régulièrement.</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Plus ils te voient, plus ils te font confiance. Et on achète à ceux en qui on a confiance.</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822960"/>
          </a:xfrm>
          <a:prstGeom prst="rect">
            <a:avLst/>
          </a:prstGeom>
          <a:noFill/>
          <a:ln/>
        </p:spPr>
        <p:txBody>
          <a:bodyPr wrap="square" lIns="0" tIns="0" rIns="0" bIns="0" rtlCol="0" anchor="ctr"/>
          <a:lstStyle/>
          <a:p>
            <a:pPr indent="0" marL="0">
              <a:buNone/>
            </a:pPr>
            <a:r>
              <a:rPr lang="en-US" sz="2800" b="1" dirty="0">
                <a:solidFill>
                  <a:srgbClr val="2E386E"/>
                </a:solidFill>
                <a:latin typeface="Inter" pitchFamily="34" charset="0"/>
                <a:ea typeface="Inter" pitchFamily="34" charset="-122"/>
                <a:cs typeface="Inter" pitchFamily="34" charset="-120"/>
              </a:rPr>
              <a:t>Une communauté, c'est quoi, et où la créer ?</a:t>
            </a:r>
            <a:endParaRPr lang="en-US" sz="2800" dirty="0"/>
          </a:p>
        </p:txBody>
      </p:sp>
      <p:sp>
        <p:nvSpPr>
          <p:cNvPr id="3" name="Text 1"/>
          <p:cNvSpPr/>
          <p:nvPr/>
        </p:nvSpPr>
        <p:spPr>
          <a:xfrm>
            <a:off x="640080" y="1737360"/>
            <a:ext cx="7863840" cy="2743200"/>
          </a:xfrm>
          <a:prstGeom prst="rect">
            <a:avLst/>
          </a:prstGeom>
          <a:noFill/>
          <a:ln/>
        </p:spPr>
        <p:txBody>
          <a:bodyPr wrap="square" lIns="0" tIns="0" rIns="0" bIns="0" rtlCol="0" anchor="ctr"/>
          <a:lstStyle/>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Une communauté, c'est un endroit à toi où tes contacts se retrouvent et te voient souvent. Pas juste une liste d'emails muette.</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4 maisons possibles : un groupe Facebook (simple, tout le monde y est), un canal Telegram (tu diffuses, ils reçoivent direct sur leur téléphone), un groupe WhatsApp (ultra proche, comme entre amis), Skool (pensé pour les communautés : cours, discussions et classement au même endroit).</a:t>
            </a:r>
            <a:endParaRPr lang="en-US" sz="1800" dirty="0"/>
          </a:p>
          <a:p>
            <a:pPr indent="0" marL="0">
              <a:lnSpc>
                <a:spcPct val="110000"/>
              </a:lnSpc>
              <a:spcAft>
                <a:spcPts val="1400"/>
              </a:spcAft>
              <a:buNone/>
            </a:pPr>
            <a:r>
              <a:rPr lang="en-US" sz="1800" dirty="0">
                <a:solidFill>
                  <a:srgbClr val="2E386E"/>
                </a:solidFill>
                <a:latin typeface="Inter" pitchFamily="34" charset="0"/>
                <a:ea typeface="Inter" pitchFamily="34" charset="-122"/>
                <a:cs typeface="Inter" pitchFamily="34" charset="-120"/>
              </a:rPr>
              <a:t>Tu n'en choisis qu'une pour commencer. Celle où ton audience est déjà présente.</a:t>
            </a:r>
            <a:endParaRPr lang="en-US" sz="180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À quoi sert vraiment une communauté</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Partager de la valeur exclusive : du contenu, des conseils, des coulisses que seuls tes membres ont. Ça crée un vrai sentiment de privilège.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Collecter des retours en groupe : tu poses une question, tu as 20 réponses dans l'heure. Tu sais ce que veulent tes clients, en direct.</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Rapprocher les gens et créer des liens privilégiés : tes membres se parlent entre eux, et toi tu deviens une vraie personne pour eux, plus juste un nom dans une boîte mail.</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Comment les faire venir depuis ton quiz</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À la fin de ton quiz, sur la page de résultat, tu ajoutes une invitation claire : « Rejoins les autres comme toi dans le groupe ».</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C'est le meilleur moment : la personne vient de recevoir un résultat qui la décrit. Elle est curieuse, fière, et chaude. Profite-en tout de suite.</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Personnalise avec le profil et le prénom : « Tu es un Bâtisseur ? Rejoins les autres Bâtisseurs ici. » Ça rend l'invitation presque impossible à refuser.</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868680"/>
          </a:xfrm>
          <a:prstGeom prst="rect">
            <a:avLst/>
          </a:prstGeom>
          <a:noFill/>
          <a:ln/>
        </p:spPr>
        <p:txBody>
          <a:bodyPr wrap="square" lIns="0" tIns="0" rIns="0" bIns="0" rtlCol="0" anchor="ctr"/>
          <a:lstStyle/>
          <a:p>
            <a:pPr indent="0" marL="0">
              <a:buNone/>
            </a:pPr>
            <a:r>
              <a:rPr lang="en-US" sz="2700" b="1" dirty="0">
                <a:solidFill>
                  <a:srgbClr val="2E386E"/>
                </a:solidFill>
                <a:latin typeface="Inter" pitchFamily="34" charset="0"/>
                <a:ea typeface="Inter" pitchFamily="34" charset="-122"/>
                <a:cs typeface="Inter" pitchFamily="34" charset="-120"/>
              </a:rPr>
              <a:t>Reste disponible, même en privé</a:t>
            </a:r>
            <a:endParaRPr lang="en-US" sz="2700" dirty="0"/>
          </a:p>
        </p:txBody>
      </p:sp>
      <p:sp>
        <p:nvSpPr>
          <p:cNvPr id="3" name="Text 1"/>
          <p:cNvSpPr/>
          <p:nvPr/>
        </p:nvSpPr>
        <p:spPr>
          <a:xfrm>
            <a:off x="640080" y="1691640"/>
            <a:ext cx="7863840" cy="2926080"/>
          </a:xfrm>
          <a:prstGeom prst="rect">
            <a:avLst/>
          </a:prstGeom>
          <a:noFill/>
          <a:ln/>
        </p:spPr>
        <p:txBody>
          <a:bodyPr wrap="square" lIns="0" tIns="0" rIns="0" bIns="0" rtlCol="0" anchor="ctr"/>
          <a:lstStyle/>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Une communauté vivante, ce n'est pas que du public. Réponds aussi en privé : un message direct, un email. On n'oublie jamais qu'on nous a répondu personnellement.</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Répondre vite et vraiment, c'est ce qui transforme un curieux en fan, puis en client. La confiance se gagne une réponse à la fois.</a:t>
            </a:r>
            <a:endParaRPr lang="en-US" sz="1650" dirty="0"/>
          </a:p>
          <a:p>
            <a:pPr indent="0" marL="0">
              <a:lnSpc>
                <a:spcPct val="108000"/>
              </a:lnSpc>
              <a:spcAft>
                <a:spcPts val="1200"/>
              </a:spcAft>
              <a:buNone/>
            </a:pPr>
            <a:r>
              <a:rPr lang="en-US" sz="1650" dirty="0">
                <a:solidFill>
                  <a:srgbClr val="2E386E"/>
                </a:solidFill>
                <a:latin typeface="Inter" pitchFamily="34" charset="0"/>
                <a:ea typeface="Inter" pitchFamily="34" charset="-122"/>
                <a:cs typeface="Inter" pitchFamily="34" charset="-120"/>
              </a:rPr>
              <a:t>Tu n'as pas à être joignable 24h sur 24. Mais montre que derrière le quiz et le groupe, il y a un vrai humain qui écoute.</a:t>
            </a:r>
            <a:endParaRPr lang="en-US" sz="1650" dirty="0"/>
          </a:p>
        </p:txBody>
      </p:sp>
      <p:sp>
        <p:nvSpPr>
          <p:cNvPr id="4" name="Text 2"/>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D6CDB"/>
        </a:solidFill>
      </p:bgPr>
    </p:bg>
    <p:spTree>
      <p:nvGrpSpPr>
        <p:cNvPr id="1" name=""/>
        <p:cNvGrpSpPr/>
        <p:nvPr/>
      </p:nvGrpSpPr>
      <p:grpSpPr>
        <a:xfrm>
          <a:off x="0" y="0"/>
          <a:ext cx="0" cy="0"/>
          <a:chOff x="0" y="0"/>
          <a:chExt cx="0" cy="0"/>
        </a:xfrm>
      </p:grpSpPr>
      <p:sp>
        <p:nvSpPr>
          <p:cNvPr id="2" name="Shape 0"/>
          <p:cNvSpPr/>
          <p:nvPr/>
        </p:nvSpPr>
        <p:spPr>
          <a:xfrm>
            <a:off x="-822960" y="3108960"/>
            <a:ext cx="2560320" cy="2560320"/>
          </a:xfrm>
          <a:prstGeom prst="ellipse">
            <a:avLst/>
          </a:prstGeom>
          <a:solidFill>
            <a:srgbClr val="FFFFFF">
              <a:alpha val="12000"/>
            </a:srgbClr>
          </a:solidFill>
          <a:ln/>
        </p:spPr>
      </p:sp>
      <p:sp>
        <p:nvSpPr>
          <p:cNvPr id="3" name="Text 1"/>
          <p:cNvSpPr/>
          <p:nvPr/>
        </p:nvSpPr>
        <p:spPr>
          <a:xfrm>
            <a:off x="640080" y="960120"/>
            <a:ext cx="7863840" cy="365760"/>
          </a:xfrm>
          <a:prstGeom prst="rect">
            <a:avLst/>
          </a:prstGeom>
          <a:noFill/>
          <a:ln/>
        </p:spPr>
        <p:txBody>
          <a:bodyPr wrap="square" lIns="0" tIns="0" rIns="0" bIns="0" rtlCol="0" anchor="ctr"/>
          <a:lstStyle/>
          <a:p>
            <a:pPr indent="0" marL="0">
              <a:buNone/>
            </a:pPr>
            <a:r>
              <a:rPr lang="en-US" sz="1400" b="1" spc="300" kern="0" dirty="0">
                <a:solidFill>
                  <a:srgbClr val="EAECFB"/>
                </a:solidFill>
                <a:latin typeface="Inter" pitchFamily="34" charset="0"/>
                <a:ea typeface="Inter" pitchFamily="34" charset="-122"/>
                <a:cs typeface="Inter" pitchFamily="34" charset="-120"/>
              </a:rPr>
              <a:t>LA PREUVE</a:t>
            </a:r>
            <a:endParaRPr lang="en-US" sz="1400" dirty="0"/>
          </a:p>
        </p:txBody>
      </p:sp>
      <p:sp>
        <p:nvSpPr>
          <p:cNvPr id="4" name="Text 2"/>
          <p:cNvSpPr/>
          <p:nvPr/>
        </p:nvSpPr>
        <p:spPr>
          <a:xfrm>
            <a:off x="640080" y="1371600"/>
            <a:ext cx="7863840" cy="1188720"/>
          </a:xfrm>
          <a:prstGeom prst="rect">
            <a:avLst/>
          </a:prstGeom>
          <a:noFill/>
          <a:ln/>
        </p:spPr>
        <p:txBody>
          <a:bodyPr wrap="square" lIns="0" tIns="0" rIns="0" bIns="0" rtlCol="0" anchor="ctr"/>
          <a:lstStyle/>
          <a:p>
            <a:pPr indent="0" marL="0">
              <a:buNone/>
            </a:pPr>
            <a:r>
              <a:rPr lang="en-US" sz="6400" b="1" dirty="0">
                <a:solidFill>
                  <a:srgbClr val="FFFFFF"/>
                </a:solidFill>
                <a:latin typeface="Inter" pitchFamily="34" charset="0"/>
                <a:ea typeface="Inter" pitchFamily="34" charset="-122"/>
                <a:cs typeface="Inter" pitchFamily="34" charset="-120"/>
              </a:rPr>
              <a:t>+25 à 95%</a:t>
            </a:r>
            <a:endParaRPr lang="en-US" sz="6400" dirty="0"/>
          </a:p>
        </p:txBody>
      </p:sp>
      <p:sp>
        <p:nvSpPr>
          <p:cNvPr id="5" name="Text 3"/>
          <p:cNvSpPr/>
          <p:nvPr/>
        </p:nvSpPr>
        <p:spPr>
          <a:xfrm>
            <a:off x="658368" y="2697480"/>
            <a:ext cx="7680960" cy="1005840"/>
          </a:xfrm>
          <a:prstGeom prst="rect">
            <a:avLst/>
          </a:prstGeom>
          <a:noFill/>
          <a:ln/>
        </p:spPr>
        <p:txBody>
          <a:bodyPr wrap="square" lIns="0" tIns="0" rIns="0" bIns="0" rtlCol="0" anchor="ctr"/>
          <a:lstStyle/>
          <a:p>
            <a:pPr indent="0" marL="0">
              <a:lnSpc>
                <a:spcPct val="105000"/>
              </a:lnSpc>
              <a:buNone/>
            </a:pPr>
            <a:r>
              <a:rPr lang="en-US" sz="2000" dirty="0">
                <a:solidFill>
                  <a:srgbClr val="FFFFFF"/>
                </a:solidFill>
                <a:latin typeface="Inter" pitchFamily="34" charset="0"/>
                <a:ea typeface="Inter" pitchFamily="34" charset="-122"/>
                <a:cs typeface="Inter" pitchFamily="34" charset="-120"/>
              </a:rPr>
              <a:t>C'est la hausse de profit quand tu gardes seulement 5% de clients en plus. Garder les gens près de toi rapporte plus que courir après du nouveau.</a:t>
            </a:r>
            <a:endParaRPr lang="en-US" sz="2000" dirty="0"/>
          </a:p>
        </p:txBody>
      </p:sp>
      <p:sp>
        <p:nvSpPr>
          <p:cNvPr id="6" name="Text 4"/>
          <p:cNvSpPr/>
          <p:nvPr/>
        </p:nvSpPr>
        <p:spPr>
          <a:xfrm>
            <a:off x="658368" y="3886200"/>
            <a:ext cx="7680960" cy="365760"/>
          </a:xfrm>
          <a:prstGeom prst="rect">
            <a:avLst/>
          </a:prstGeom>
          <a:noFill/>
          <a:ln/>
        </p:spPr>
        <p:txBody>
          <a:bodyPr wrap="square" lIns="0" tIns="0" rIns="0" bIns="0" rtlCol="0" anchor="ctr"/>
          <a:lstStyle/>
          <a:p>
            <a:pPr indent="0" marL="0">
              <a:buNone/>
            </a:pPr>
            <a:r>
              <a:rPr lang="en-US" sz="1200" i="1" dirty="0">
                <a:solidFill>
                  <a:srgbClr val="EAECFB"/>
                </a:solidFill>
                <a:latin typeface="Inter" pitchFamily="34" charset="0"/>
                <a:ea typeface="Inter" pitchFamily="34" charset="-122"/>
                <a:cs typeface="Inter" pitchFamily="34" charset="-120"/>
              </a:rPr>
              <a:t>Source : Bain &amp; Company (Fred Reichheld)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Les 4 réflexes communauté</a:t>
            </a:r>
            <a:endParaRPr lang="en-US" sz="3000" dirty="0"/>
          </a:p>
        </p:txBody>
      </p:sp>
      <p:sp>
        <p:nvSpPr>
          <p:cNvPr id="3" name="Shape 1"/>
          <p:cNvSpPr/>
          <p:nvPr/>
        </p:nvSpPr>
        <p:spPr>
          <a:xfrm>
            <a:off x="640080" y="1534478"/>
            <a:ext cx="457200" cy="457200"/>
          </a:xfrm>
          <a:prstGeom prst="ellipse">
            <a:avLst/>
          </a:prstGeom>
          <a:solidFill>
            <a:srgbClr val="5D6CDB"/>
          </a:solidFill>
          <a:ln/>
        </p:spPr>
      </p:sp>
      <p:sp>
        <p:nvSpPr>
          <p:cNvPr id="4" name="Text 2"/>
          <p:cNvSpPr/>
          <p:nvPr/>
        </p:nvSpPr>
        <p:spPr>
          <a:xfrm>
            <a:off x="640080" y="153447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5" name="Text 3"/>
          <p:cNvSpPr/>
          <p:nvPr/>
        </p:nvSpPr>
        <p:spPr>
          <a:xfrm>
            <a:off x="1280160" y="137160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Réunis tes leads dans un endroit à toi : valeur exclusive, retours, liens entre eux.</a:t>
            </a:r>
            <a:endParaRPr lang="en-US" sz="1600" dirty="0"/>
          </a:p>
        </p:txBody>
      </p:sp>
      <p:sp>
        <p:nvSpPr>
          <p:cNvPr id="6" name="Shape 4"/>
          <p:cNvSpPr/>
          <p:nvPr/>
        </p:nvSpPr>
        <p:spPr>
          <a:xfrm>
            <a:off x="640080" y="2317433"/>
            <a:ext cx="457200" cy="457200"/>
          </a:xfrm>
          <a:prstGeom prst="ellipse">
            <a:avLst/>
          </a:prstGeom>
          <a:solidFill>
            <a:srgbClr val="5D6CDB"/>
          </a:solidFill>
          <a:ln/>
        </p:spPr>
      </p:sp>
      <p:sp>
        <p:nvSpPr>
          <p:cNvPr id="7" name="Text 5"/>
          <p:cNvSpPr/>
          <p:nvPr/>
        </p:nvSpPr>
        <p:spPr>
          <a:xfrm>
            <a:off x="640080" y="231743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8" name="Text 6"/>
          <p:cNvSpPr/>
          <p:nvPr/>
        </p:nvSpPr>
        <p:spPr>
          <a:xfrm>
            <a:off x="1280160" y="215455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Invite-les depuis la page de résultat, avec leur profil et leur prénom.</a:t>
            </a:r>
            <a:endParaRPr lang="en-US" sz="1600" dirty="0"/>
          </a:p>
        </p:txBody>
      </p:sp>
      <p:sp>
        <p:nvSpPr>
          <p:cNvPr id="9" name="Shape 7"/>
          <p:cNvSpPr/>
          <p:nvPr/>
        </p:nvSpPr>
        <p:spPr>
          <a:xfrm>
            <a:off x="640080" y="3100388"/>
            <a:ext cx="457200" cy="457200"/>
          </a:xfrm>
          <a:prstGeom prst="ellipse">
            <a:avLst/>
          </a:prstGeom>
          <a:solidFill>
            <a:srgbClr val="5D6CDB"/>
          </a:solidFill>
          <a:ln/>
        </p:spPr>
      </p:sp>
      <p:sp>
        <p:nvSpPr>
          <p:cNvPr id="10" name="Text 8"/>
          <p:cNvSpPr/>
          <p:nvPr/>
        </p:nvSpPr>
        <p:spPr>
          <a:xfrm>
            <a:off x="640080" y="31003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11" name="Text 9"/>
          <p:cNvSpPr/>
          <p:nvPr/>
        </p:nvSpPr>
        <p:spPr>
          <a:xfrm>
            <a:off x="1280160" y="2937510"/>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Reste dispo même en privé : une réponse personnelle inspire confiance.</a:t>
            </a:r>
            <a:endParaRPr lang="en-US" sz="1600" dirty="0"/>
          </a:p>
        </p:txBody>
      </p:sp>
      <p:sp>
        <p:nvSpPr>
          <p:cNvPr id="12" name="Shape 10"/>
          <p:cNvSpPr/>
          <p:nvPr/>
        </p:nvSpPr>
        <p:spPr>
          <a:xfrm>
            <a:off x="640080" y="3883342"/>
            <a:ext cx="457200" cy="457200"/>
          </a:xfrm>
          <a:prstGeom prst="ellipse">
            <a:avLst/>
          </a:prstGeom>
          <a:solidFill>
            <a:srgbClr val="5D6CDB"/>
          </a:solidFill>
          <a:ln/>
        </p:spPr>
      </p:sp>
      <p:sp>
        <p:nvSpPr>
          <p:cNvPr id="13" name="Text 11"/>
          <p:cNvSpPr/>
          <p:nvPr/>
        </p:nvSpPr>
        <p:spPr>
          <a:xfrm>
            <a:off x="640080" y="388334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4</a:t>
            </a:r>
            <a:endParaRPr lang="en-US" sz="1600" dirty="0"/>
          </a:p>
        </p:txBody>
      </p:sp>
      <p:sp>
        <p:nvSpPr>
          <p:cNvPr id="14" name="Text 12"/>
          <p:cNvSpPr/>
          <p:nvPr/>
        </p:nvSpPr>
        <p:spPr>
          <a:xfrm>
            <a:off x="1280160" y="3720465"/>
            <a:ext cx="7223760" cy="782955"/>
          </a:xfrm>
          <a:prstGeom prst="rect">
            <a:avLst/>
          </a:prstGeom>
          <a:noFill/>
          <a:ln/>
        </p:spPr>
        <p:txBody>
          <a:bodyPr wrap="square" lIns="0" tIns="0" rIns="0" bIns="0" rtlCol="0" anchor="ctr"/>
          <a:lstStyle/>
          <a:p>
            <a:pPr indent="0" marL="0">
              <a:buNone/>
            </a:pPr>
            <a:r>
              <a:rPr lang="en-US" sz="1600" dirty="0">
                <a:solidFill>
                  <a:srgbClr val="2E386E"/>
                </a:solidFill>
                <a:latin typeface="Inter" pitchFamily="34" charset="0"/>
                <a:ea typeface="Inter" pitchFamily="34" charset="-122"/>
                <a:cs typeface="Inter" pitchFamily="34" charset="-120"/>
              </a:rPr>
              <a:t>Recycle les questions des membres en contenus : tutos, articles, quiz.</a:t>
            </a:r>
            <a:endParaRPr lang="en-US" sz="1600" dirty="0"/>
          </a:p>
        </p:txBody>
      </p:sp>
      <p:sp>
        <p:nvSpPr>
          <p:cNvPr id="15" name="Text 13"/>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863840" cy="731520"/>
          </a:xfrm>
          <a:prstGeom prst="rect">
            <a:avLst/>
          </a:prstGeom>
          <a:noFill/>
          <a:ln/>
        </p:spPr>
        <p:txBody>
          <a:bodyPr wrap="square" lIns="0" tIns="0" rIns="0" bIns="0" rtlCol="0" anchor="ctr"/>
          <a:lstStyle/>
          <a:p>
            <a:pPr indent="0" marL="0">
              <a:buNone/>
            </a:pPr>
            <a:r>
              <a:rPr lang="en-US" sz="2600" b="1" dirty="0">
                <a:solidFill>
                  <a:srgbClr val="2E386E"/>
                </a:solidFill>
                <a:latin typeface="Inter" pitchFamily="34" charset="0"/>
                <a:ea typeface="Inter" pitchFamily="34" charset="-122"/>
                <a:cs typeface="Inter" pitchFamily="34" charset="-120"/>
              </a:rPr>
              <a:t>Du quiz à la communauté qui rachète</a:t>
            </a:r>
            <a:endParaRPr lang="en-US" sz="2600" dirty="0"/>
          </a:p>
        </p:txBody>
      </p:sp>
      <p:sp>
        <p:nvSpPr>
          <p:cNvPr id="3" name="Shape 1"/>
          <p:cNvSpPr/>
          <p:nvPr/>
        </p:nvSpPr>
        <p:spPr>
          <a:xfrm>
            <a:off x="640080" y="2240280"/>
            <a:ext cx="1207008" cy="960120"/>
          </a:xfrm>
          <a:prstGeom prst="roundRect">
            <a:avLst>
              <a:gd name="adj" fmla="val 9524"/>
            </a:avLst>
          </a:prstGeom>
          <a:solidFill>
            <a:srgbClr val="EAECFB"/>
          </a:solidFill>
          <a:ln/>
        </p:spPr>
      </p:sp>
      <p:sp>
        <p:nvSpPr>
          <p:cNvPr id="4" name="Text 2"/>
          <p:cNvSpPr/>
          <p:nvPr/>
        </p:nvSpPr>
        <p:spPr>
          <a:xfrm>
            <a:off x="685800"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finit le quiz</a:t>
            </a:r>
            <a:endParaRPr lang="en-US" sz="1350" dirty="0"/>
          </a:p>
        </p:txBody>
      </p:sp>
      <p:sp>
        <p:nvSpPr>
          <p:cNvPr id="5" name="Text 3"/>
          <p:cNvSpPr/>
          <p:nvPr/>
        </p:nvSpPr>
        <p:spPr>
          <a:xfrm>
            <a:off x="1847088"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6" name="Shape 4"/>
          <p:cNvSpPr/>
          <p:nvPr/>
        </p:nvSpPr>
        <p:spPr>
          <a:xfrm>
            <a:off x="2304288" y="2240280"/>
            <a:ext cx="1207008" cy="960120"/>
          </a:xfrm>
          <a:prstGeom prst="roundRect">
            <a:avLst>
              <a:gd name="adj" fmla="val 9524"/>
            </a:avLst>
          </a:prstGeom>
          <a:solidFill>
            <a:srgbClr val="EAECFB"/>
          </a:solidFill>
          <a:ln/>
        </p:spPr>
      </p:sp>
      <p:sp>
        <p:nvSpPr>
          <p:cNvPr id="7" name="Text 5"/>
          <p:cNvSpPr/>
          <p:nvPr/>
        </p:nvSpPr>
        <p:spPr>
          <a:xfrm>
            <a:off x="2350008"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Tu l'invites dans ta commu</a:t>
            </a:r>
            <a:endParaRPr lang="en-US" sz="1350" dirty="0"/>
          </a:p>
        </p:txBody>
      </p:sp>
      <p:sp>
        <p:nvSpPr>
          <p:cNvPr id="8" name="Text 6"/>
          <p:cNvSpPr/>
          <p:nvPr/>
        </p:nvSpPr>
        <p:spPr>
          <a:xfrm>
            <a:off x="3511296"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9" name="Shape 7"/>
          <p:cNvSpPr/>
          <p:nvPr/>
        </p:nvSpPr>
        <p:spPr>
          <a:xfrm>
            <a:off x="3968496" y="2240280"/>
            <a:ext cx="1207008" cy="960120"/>
          </a:xfrm>
          <a:prstGeom prst="roundRect">
            <a:avLst>
              <a:gd name="adj" fmla="val 9524"/>
            </a:avLst>
          </a:prstGeom>
          <a:solidFill>
            <a:srgbClr val="EAECFB"/>
          </a:solidFill>
          <a:ln/>
        </p:spPr>
      </p:sp>
      <p:sp>
        <p:nvSpPr>
          <p:cNvPr id="10" name="Text 8"/>
          <p:cNvSpPr/>
          <p:nvPr/>
        </p:nvSpPr>
        <p:spPr>
          <a:xfrm>
            <a:off x="4014216"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te voit souvent</a:t>
            </a:r>
            <a:endParaRPr lang="en-US" sz="1350" dirty="0"/>
          </a:p>
        </p:txBody>
      </p:sp>
      <p:sp>
        <p:nvSpPr>
          <p:cNvPr id="11" name="Text 9"/>
          <p:cNvSpPr/>
          <p:nvPr/>
        </p:nvSpPr>
        <p:spPr>
          <a:xfrm>
            <a:off x="5175504"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12" name="Shape 10"/>
          <p:cNvSpPr/>
          <p:nvPr/>
        </p:nvSpPr>
        <p:spPr>
          <a:xfrm>
            <a:off x="5632704" y="2240280"/>
            <a:ext cx="1207008" cy="960120"/>
          </a:xfrm>
          <a:prstGeom prst="roundRect">
            <a:avLst>
              <a:gd name="adj" fmla="val 9524"/>
            </a:avLst>
          </a:prstGeom>
          <a:solidFill>
            <a:srgbClr val="EAECFB"/>
          </a:solidFill>
          <a:ln/>
        </p:spPr>
      </p:sp>
      <p:sp>
        <p:nvSpPr>
          <p:cNvPr id="13" name="Text 11"/>
          <p:cNvSpPr/>
          <p:nvPr/>
        </p:nvSpPr>
        <p:spPr>
          <a:xfrm>
            <a:off x="5678424"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te fait confiance</a:t>
            </a:r>
            <a:endParaRPr lang="en-US" sz="1350" dirty="0"/>
          </a:p>
        </p:txBody>
      </p:sp>
      <p:sp>
        <p:nvSpPr>
          <p:cNvPr id="14" name="Text 12"/>
          <p:cNvSpPr/>
          <p:nvPr/>
        </p:nvSpPr>
        <p:spPr>
          <a:xfrm>
            <a:off x="6839712" y="2240280"/>
            <a:ext cx="457200" cy="960120"/>
          </a:xfrm>
          <a:prstGeom prst="rect">
            <a:avLst/>
          </a:prstGeom>
          <a:noFill/>
          <a:ln/>
        </p:spPr>
        <p:txBody>
          <a:bodyPr wrap="square" lIns="0" tIns="0" rIns="0" bIns="0" rtlCol="0" anchor="ctr"/>
          <a:lstStyle/>
          <a:p>
            <a:pPr algn="ctr" indent="0" marL="0">
              <a:buNone/>
            </a:pPr>
            <a:r>
              <a:rPr lang="en-US" sz="2600" b="1" dirty="0">
                <a:solidFill>
                  <a:srgbClr val="F5B301"/>
                </a:solidFill>
                <a:latin typeface="Inter" pitchFamily="34" charset="0"/>
                <a:ea typeface="Inter" pitchFamily="34" charset="-122"/>
                <a:cs typeface="Inter" pitchFamily="34" charset="-120"/>
              </a:rPr>
              <a:t>→</a:t>
            </a:r>
            <a:endParaRPr lang="en-US" sz="2600" dirty="0"/>
          </a:p>
        </p:txBody>
      </p:sp>
      <p:sp>
        <p:nvSpPr>
          <p:cNvPr id="15" name="Shape 13"/>
          <p:cNvSpPr/>
          <p:nvPr/>
        </p:nvSpPr>
        <p:spPr>
          <a:xfrm>
            <a:off x="7296912" y="2240280"/>
            <a:ext cx="1207008" cy="960120"/>
          </a:xfrm>
          <a:prstGeom prst="roundRect">
            <a:avLst>
              <a:gd name="adj" fmla="val 9524"/>
            </a:avLst>
          </a:prstGeom>
          <a:solidFill>
            <a:srgbClr val="EAECFB"/>
          </a:solidFill>
          <a:ln/>
        </p:spPr>
      </p:sp>
      <p:sp>
        <p:nvSpPr>
          <p:cNvPr id="16" name="Text 14"/>
          <p:cNvSpPr/>
          <p:nvPr/>
        </p:nvSpPr>
        <p:spPr>
          <a:xfrm>
            <a:off x="7342632" y="2240280"/>
            <a:ext cx="1115568" cy="960120"/>
          </a:xfrm>
          <a:prstGeom prst="rect">
            <a:avLst/>
          </a:prstGeom>
          <a:noFill/>
          <a:ln/>
        </p:spPr>
        <p:txBody>
          <a:bodyPr wrap="square" lIns="0" tIns="0" rIns="0" bIns="0" rtlCol="0" anchor="ctr"/>
          <a:lstStyle/>
          <a:p>
            <a:pPr algn="ctr" indent="0" marL="0">
              <a:buNone/>
            </a:pPr>
            <a:r>
              <a:rPr lang="en-US" sz="1350" b="1" dirty="0">
                <a:solidFill>
                  <a:srgbClr val="2E386E"/>
                </a:solidFill>
                <a:latin typeface="Inter" pitchFamily="34" charset="0"/>
                <a:ea typeface="Inter" pitchFamily="34" charset="-122"/>
                <a:cs typeface="Inter" pitchFamily="34" charset="-120"/>
              </a:rPr>
              <a:t>Il achète</a:t>
            </a:r>
            <a:endParaRPr lang="en-US" sz="1350" dirty="0"/>
          </a:p>
        </p:txBody>
      </p:sp>
      <p:sp>
        <p:nvSpPr>
          <p:cNvPr id="17" name="Text 15"/>
          <p:cNvSpPr/>
          <p:nvPr/>
        </p:nvSpPr>
        <p:spPr>
          <a:xfrm>
            <a:off x="640080" y="3566160"/>
            <a:ext cx="7863840" cy="548640"/>
          </a:xfrm>
          <a:prstGeom prst="rect">
            <a:avLst/>
          </a:prstGeom>
          <a:noFill/>
          <a:ln/>
        </p:spPr>
        <p:txBody>
          <a:bodyPr wrap="square" lIns="0" tIns="0" rIns="0" bIns="0" rtlCol="0" anchor="ctr"/>
          <a:lstStyle/>
          <a:p>
            <a:pPr algn="ctr" indent="0" marL="0">
              <a:buNone/>
            </a:pPr>
            <a:r>
              <a:rPr lang="en-US" sz="1500" i="1" dirty="0">
                <a:solidFill>
                  <a:srgbClr val="6B73A0"/>
                </a:solidFill>
                <a:latin typeface="Inter" pitchFamily="34" charset="0"/>
                <a:ea typeface="Inter" pitchFamily="34" charset="-122"/>
                <a:cs typeface="Inter" pitchFamily="34" charset="-120"/>
              </a:rPr>
              <a:t>Le quiz capte, la communauté transforme. C'est là que l'argent se fait.</a:t>
            </a:r>
            <a:endParaRPr lang="en-US" sz="1500" dirty="0"/>
          </a:p>
        </p:txBody>
      </p:sp>
      <p:sp>
        <p:nvSpPr>
          <p:cNvPr id="18" name="Text 16"/>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1/3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L'invitation personnalisée sur le résultat</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Sur la page de résultat, tu mets un bouton « Rejoins les autres comme toi » vers ta communauté.</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La personne vient d'apprendre qui elle est. Rejoindre « les gens comme elle », c'est irrésistible : on veut tous appartenir à un groupe qui nous ressemble.</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C'est ce que font les marques à quiz : transformer un résultat en appartenance à un club.</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Dans Tiquiz, ajoute le lien de ton groupe sur chaque page de résultat, avec le nom du profil.</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L'invitation personnalisée sur le résultat</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Ton quiz sort « Tu es La Stratège ». Juste en dessous : « Rejoins les autres Stratèges dans le groupe, on y partage nos plans qui marchent. » La personne se reconnaît, et clique pour retrouver les siens.</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2/3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Le rendez-vous qui fait revenir</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Tu crées un rendez-vous fixe dans ta communauté : le live du mardi, l'astuce du lundi.</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Un rendez-vous régulier crée l'habitude. Les gens reviennent tout seuls, sans que tu aies à les relancer.</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Morning Brew et les gros groupes Facebook tiennent tous par un rituel attendu chaque semaine.</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Choisis UN rendez-vous simple et tiens-le chaque semaine. La régularité bat la perfection.</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Le rendez-vous qui fait revenir</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Tu lances « Le conseil du lundi » : chaque lundi, une astuce courte et utile dans ton groupe. Au bout d'un mois, les gens l'attendent, ouvrent, commentent. Ta communauté est vivante, et toi présente dans leur tête.</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lIns="0" tIns="0" rIns="0" bIns="0" rtlCol="0" anchor="ctr"/>
          <a:lstStyle/>
          <a:p>
            <a:pPr indent="0" marL="0">
              <a:buNone/>
            </a:pPr>
            <a:r>
              <a:rPr lang="en-US" sz="1200" b="1" spc="200" kern="0" dirty="0">
                <a:solidFill>
                  <a:srgbClr val="F5B301"/>
                </a:solidFill>
                <a:latin typeface="Inter" pitchFamily="34" charset="0"/>
                <a:ea typeface="Inter" pitchFamily="34" charset="-122"/>
                <a:cs typeface="Inter" pitchFamily="34" charset="-120"/>
              </a:rPr>
              <a:t>GROWTH HACK   3/3</a:t>
            </a:r>
            <a:endParaRPr lang="en-US" sz="1200" dirty="0"/>
          </a:p>
        </p:txBody>
      </p:sp>
      <p:sp>
        <p:nvSpPr>
          <p:cNvPr id="3" name="Text 1"/>
          <p:cNvSpPr/>
          <p:nvPr/>
        </p:nvSpPr>
        <p:spPr>
          <a:xfrm>
            <a:off x="640080" y="676656"/>
            <a:ext cx="7863840" cy="594360"/>
          </a:xfrm>
          <a:prstGeom prst="rect">
            <a:avLst/>
          </a:prstGeom>
          <a:noFill/>
          <a:ln/>
        </p:spPr>
        <p:txBody>
          <a:bodyPr wrap="square" lIns="0" tIns="0" rIns="0" bIns="0" rtlCol="0" anchor="ctr"/>
          <a:lstStyle/>
          <a:p>
            <a:pPr indent="0" marL="0">
              <a:buNone/>
            </a:pPr>
            <a:r>
              <a:rPr lang="en-US" sz="2500" b="1" dirty="0">
                <a:solidFill>
                  <a:srgbClr val="2E386E"/>
                </a:solidFill>
                <a:latin typeface="Inter" pitchFamily="34" charset="0"/>
                <a:ea typeface="Inter" pitchFamily="34" charset="-122"/>
                <a:cs typeface="Inter" pitchFamily="34" charset="-120"/>
              </a:rPr>
              <a:t>Les questions des membres = ta machine à contenu</a:t>
            </a:r>
            <a:endParaRPr lang="en-US" sz="2500" dirty="0"/>
          </a:p>
        </p:txBody>
      </p:sp>
      <p:sp>
        <p:nvSpPr>
          <p:cNvPr id="4" name="Shape 2"/>
          <p:cNvSpPr/>
          <p:nvPr/>
        </p:nvSpPr>
        <p:spPr>
          <a:xfrm>
            <a:off x="64008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5" name="Image 0" descr="preencoded.png">    </p:cNvPr>
          <p:cNvPicPr>
            <a:picLocks noChangeAspect="1"/>
          </p:cNvPicPr>
          <p:nvPr/>
        </p:nvPicPr>
        <p:blipFill>
          <a:blip r:embed="rId1"/>
          <a:stretch>
            <a:fillRect/>
          </a:stretch>
        </p:blipFill>
        <p:spPr>
          <a:xfrm>
            <a:off x="841248" y="1581912"/>
            <a:ext cx="237744" cy="237744"/>
          </a:xfrm>
          <a:prstGeom prst="rect">
            <a:avLst/>
          </a:prstGeom>
        </p:spPr>
      </p:pic>
      <p:sp>
        <p:nvSpPr>
          <p:cNvPr id="6" name="Text 3"/>
          <p:cNvSpPr/>
          <p:nvPr/>
        </p:nvSpPr>
        <p:spPr>
          <a:xfrm>
            <a:off x="116128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COMMENT ÇA MARCHE</a:t>
            </a:r>
            <a:endParaRPr lang="en-US" sz="950" dirty="0"/>
          </a:p>
        </p:txBody>
      </p:sp>
      <p:sp>
        <p:nvSpPr>
          <p:cNvPr id="7" name="Text 4"/>
          <p:cNvSpPr/>
          <p:nvPr/>
        </p:nvSpPr>
        <p:spPr>
          <a:xfrm>
            <a:off x="84124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Chaque question qu'on te pose dans la communauté devient un contenu : un tuto, un article, une vidéo, un nouveau quiz.</a:t>
            </a:r>
            <a:endParaRPr lang="en-US" sz="1150" dirty="0"/>
          </a:p>
        </p:txBody>
      </p:sp>
      <p:sp>
        <p:nvSpPr>
          <p:cNvPr id="8" name="Shape 5"/>
          <p:cNvSpPr/>
          <p:nvPr/>
        </p:nvSpPr>
        <p:spPr>
          <a:xfrm>
            <a:off x="4663440" y="1417320"/>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9" name="Image 1" descr="preencoded.png">    </p:cNvPr>
          <p:cNvPicPr>
            <a:picLocks noChangeAspect="1"/>
          </p:cNvPicPr>
          <p:nvPr/>
        </p:nvPicPr>
        <p:blipFill>
          <a:blip r:embed="rId2"/>
          <a:stretch>
            <a:fillRect/>
          </a:stretch>
        </p:blipFill>
        <p:spPr>
          <a:xfrm>
            <a:off x="4864608" y="1581912"/>
            <a:ext cx="237744" cy="237744"/>
          </a:xfrm>
          <a:prstGeom prst="rect">
            <a:avLst/>
          </a:prstGeom>
        </p:spPr>
      </p:pic>
      <p:sp>
        <p:nvSpPr>
          <p:cNvPr id="10" name="Text 6"/>
          <p:cNvSpPr/>
          <p:nvPr/>
        </p:nvSpPr>
        <p:spPr>
          <a:xfrm>
            <a:off x="5184648" y="1563624"/>
            <a:ext cx="3127248" cy="274320"/>
          </a:xfrm>
          <a:prstGeom prst="rect">
            <a:avLst/>
          </a:prstGeom>
          <a:noFill/>
          <a:ln/>
        </p:spPr>
        <p:txBody>
          <a:bodyPr wrap="square" lIns="0" tIns="0" rIns="0" bIns="0" rtlCol="0" anchor="ctr"/>
          <a:lstStyle/>
          <a:p>
            <a:pPr indent="0" marL="0">
              <a:buNone/>
            </a:pPr>
            <a:r>
              <a:rPr lang="en-US" sz="950" b="1" spc="100" kern="0" dirty="0">
                <a:solidFill>
                  <a:srgbClr val="5D6CDB"/>
                </a:solidFill>
                <a:latin typeface="Inter" pitchFamily="34" charset="0"/>
                <a:ea typeface="Inter" pitchFamily="34" charset="-122"/>
                <a:cs typeface="Inter" pitchFamily="34" charset="-120"/>
              </a:rPr>
              <a:t>POURQUOI ÇA MARCHE</a:t>
            </a:r>
            <a:endParaRPr lang="en-US" sz="950" dirty="0"/>
          </a:p>
        </p:txBody>
      </p:sp>
      <p:sp>
        <p:nvSpPr>
          <p:cNvPr id="11" name="Text 7"/>
          <p:cNvSpPr/>
          <p:nvPr/>
        </p:nvSpPr>
        <p:spPr>
          <a:xfrm>
            <a:off x="4864608" y="1892808"/>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Si une personne pose la question, des centaines se la posent en silence. Tu réponds une fois, et tu sers tout le monde, longtemps. Fini la page blanche.</a:t>
            </a:r>
            <a:endParaRPr lang="en-US" sz="1150" dirty="0"/>
          </a:p>
        </p:txBody>
      </p:sp>
      <p:sp>
        <p:nvSpPr>
          <p:cNvPr id="12" name="Shape 8"/>
          <p:cNvSpPr/>
          <p:nvPr/>
        </p:nvSpPr>
        <p:spPr>
          <a:xfrm>
            <a:off x="64008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3" name="Image 2" descr="preencoded.png">    </p:cNvPr>
          <p:cNvPicPr>
            <a:picLocks noChangeAspect="1"/>
          </p:cNvPicPr>
          <p:nvPr/>
        </p:nvPicPr>
        <p:blipFill>
          <a:blip r:embed="rId3"/>
          <a:stretch>
            <a:fillRect/>
          </a:stretch>
        </p:blipFill>
        <p:spPr>
          <a:xfrm>
            <a:off x="841248" y="3264408"/>
            <a:ext cx="237744" cy="237744"/>
          </a:xfrm>
          <a:prstGeom prst="rect">
            <a:avLst/>
          </a:prstGeom>
        </p:spPr>
      </p:pic>
      <p:sp>
        <p:nvSpPr>
          <p:cNvPr id="14" name="Text 9"/>
          <p:cNvSpPr/>
          <p:nvPr/>
        </p:nvSpPr>
        <p:spPr>
          <a:xfrm>
            <a:off x="1161288" y="3246120"/>
            <a:ext cx="3127248" cy="274320"/>
          </a:xfrm>
          <a:prstGeom prst="rect">
            <a:avLst/>
          </a:prstGeom>
          <a:noFill/>
          <a:ln/>
        </p:spPr>
        <p:txBody>
          <a:bodyPr wrap="square" lIns="0" tIns="0" rIns="0" bIns="0" rtlCol="0" anchor="ctr"/>
          <a:lstStyle/>
          <a:p>
            <a:pPr indent="0" marL="0">
              <a:buNone/>
            </a:pPr>
            <a:r>
              <a:rPr lang="en-US" sz="950" b="1" spc="100" kern="0" dirty="0">
                <a:solidFill>
                  <a:srgbClr val="F5B301"/>
                </a:solidFill>
                <a:latin typeface="Inter" pitchFamily="34" charset="0"/>
                <a:ea typeface="Inter" pitchFamily="34" charset="-122"/>
                <a:cs typeface="Inter" pitchFamily="34" charset="-120"/>
              </a:rPr>
              <a:t>COMMENT ONT FAIT LES AUTRES</a:t>
            </a:r>
            <a:endParaRPr lang="en-US" sz="950" dirty="0"/>
          </a:p>
        </p:txBody>
      </p:sp>
      <p:sp>
        <p:nvSpPr>
          <p:cNvPr id="15" name="Text 10"/>
          <p:cNvSpPr/>
          <p:nvPr/>
        </p:nvSpPr>
        <p:spPr>
          <a:xfrm>
            <a:off x="84124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Tous les gros créateurs font ça : leur audience écrit leurs sujets à leur place.</a:t>
            </a:r>
            <a:endParaRPr lang="en-US" sz="1150" dirty="0"/>
          </a:p>
        </p:txBody>
      </p:sp>
      <p:sp>
        <p:nvSpPr>
          <p:cNvPr id="16" name="Shape 11"/>
          <p:cNvSpPr/>
          <p:nvPr/>
        </p:nvSpPr>
        <p:spPr>
          <a:xfrm>
            <a:off x="4663440" y="3099816"/>
            <a:ext cx="3840480" cy="1517904"/>
          </a:xfrm>
          <a:prstGeom prst="roundRect">
            <a:avLst>
              <a:gd name="adj" fmla="val 4819"/>
            </a:avLst>
          </a:prstGeom>
          <a:solidFill>
            <a:srgbClr val="FFFFFF"/>
          </a:solidFill>
          <a:ln/>
          <a:effectLst>
            <a:outerShdw sx="100000" sy="100000" kx="0" ky="0" algn="bl" rotWithShape="0" blurRad="114300" dist="38100" dir="8100000">
              <a:srgbClr val="2E386E">
                <a:alpha val="16000"/>
              </a:srgbClr>
            </a:outerShdw>
          </a:effectLst>
        </p:spPr>
      </p:sp>
      <p:pic>
        <p:nvPicPr>
          <p:cNvPr id="17" name="Image 3" descr="preencoded.png">    </p:cNvPr>
          <p:cNvPicPr>
            <a:picLocks noChangeAspect="1"/>
          </p:cNvPicPr>
          <p:nvPr/>
        </p:nvPicPr>
        <p:blipFill>
          <a:blip r:embed="rId4"/>
          <a:stretch>
            <a:fillRect/>
          </a:stretch>
        </p:blipFill>
        <p:spPr>
          <a:xfrm>
            <a:off x="4864608" y="3264408"/>
            <a:ext cx="237744" cy="237744"/>
          </a:xfrm>
          <a:prstGeom prst="rect">
            <a:avLst/>
          </a:prstGeom>
        </p:spPr>
      </p:pic>
      <p:sp>
        <p:nvSpPr>
          <p:cNvPr id="18" name="Text 12"/>
          <p:cNvSpPr/>
          <p:nvPr/>
        </p:nvSpPr>
        <p:spPr>
          <a:xfrm>
            <a:off x="5184648" y="3246120"/>
            <a:ext cx="3127248" cy="274320"/>
          </a:xfrm>
          <a:prstGeom prst="rect">
            <a:avLst/>
          </a:prstGeom>
          <a:noFill/>
          <a:ln/>
        </p:spPr>
        <p:txBody>
          <a:bodyPr wrap="square" lIns="0" tIns="0" rIns="0" bIns="0" rtlCol="0" anchor="ctr"/>
          <a:lstStyle/>
          <a:p>
            <a:pPr indent="0" marL="0">
              <a:buNone/>
            </a:pPr>
            <a:r>
              <a:rPr lang="en-US" sz="950" b="1" spc="100" kern="0" dirty="0">
                <a:solidFill>
                  <a:srgbClr val="2BB673"/>
                </a:solidFill>
                <a:latin typeface="Inter" pitchFamily="34" charset="0"/>
                <a:ea typeface="Inter" pitchFamily="34" charset="-122"/>
                <a:cs typeface="Inter" pitchFamily="34" charset="-120"/>
              </a:rPr>
              <a:t>COMMENT FAIRE CHEZ TOI</a:t>
            </a:r>
            <a:endParaRPr lang="en-US" sz="950" dirty="0"/>
          </a:p>
        </p:txBody>
      </p:sp>
      <p:sp>
        <p:nvSpPr>
          <p:cNvPr id="19" name="Text 13"/>
          <p:cNvSpPr/>
          <p:nvPr/>
        </p:nvSpPr>
        <p:spPr>
          <a:xfrm>
            <a:off x="4864608" y="3575304"/>
            <a:ext cx="3438144" cy="932688"/>
          </a:xfrm>
          <a:prstGeom prst="rect">
            <a:avLst/>
          </a:prstGeom>
          <a:noFill/>
          <a:ln/>
        </p:spPr>
        <p:txBody>
          <a:bodyPr wrap="square" lIns="0" tIns="0" rIns="0" bIns="0" rtlCol="0" anchor="t"/>
          <a:lstStyle/>
          <a:p>
            <a:pPr indent="0" marL="0">
              <a:lnSpc>
                <a:spcPct val="104000"/>
              </a:lnSpc>
              <a:buNone/>
            </a:pPr>
            <a:r>
              <a:rPr lang="en-US" sz="1150" dirty="0">
                <a:solidFill>
                  <a:srgbClr val="2E386E"/>
                </a:solidFill>
                <a:latin typeface="Inter" pitchFamily="34" charset="0"/>
                <a:ea typeface="Inter" pitchFamily="34" charset="-122"/>
                <a:cs typeface="Inter" pitchFamily="34" charset="-120"/>
              </a:rPr>
              <a:t>Garde une liste des questions reçues. Chaque semaine, transforme la plus fréquente en contenu, et même en quiz Tiquiz.</a:t>
            </a:r>
            <a:endParaRPr lang="en-US" sz="1150" dirty="0"/>
          </a:p>
        </p:txBody>
      </p:sp>
      <p:sp>
        <p:nvSpPr>
          <p:cNvPr id="20"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457200"/>
          </a:xfrm>
          <a:prstGeom prst="rect">
            <a:avLst/>
          </a:prstGeom>
          <a:noFill/>
          <a:ln/>
        </p:spPr>
        <p:txBody>
          <a:bodyPr wrap="square" lIns="0" tIns="0" rIns="0" bIns="0" rtlCol="0" anchor="ctr"/>
          <a:lstStyle/>
          <a:p>
            <a:pPr indent="0" marL="0">
              <a:buNone/>
            </a:pPr>
            <a:r>
              <a:rPr lang="en-US" sz="1600" b="1" spc="100" kern="0" dirty="0">
                <a:solidFill>
                  <a:srgbClr val="F5B301"/>
                </a:solidFill>
                <a:latin typeface="Inter" pitchFamily="34" charset="0"/>
                <a:ea typeface="Inter" pitchFamily="34" charset="-122"/>
                <a:cs typeface="Inter" pitchFamily="34" charset="-120"/>
              </a:rPr>
              <a:t>Exemple concret</a:t>
            </a:r>
            <a:endParaRPr lang="en-US" sz="1600" dirty="0"/>
          </a:p>
        </p:txBody>
      </p:sp>
      <p:sp>
        <p:nvSpPr>
          <p:cNvPr id="3" name="Text 1"/>
          <p:cNvSpPr/>
          <p:nvPr/>
        </p:nvSpPr>
        <p:spPr>
          <a:xfrm>
            <a:off x="640080" y="841248"/>
            <a:ext cx="7863840" cy="548640"/>
          </a:xfrm>
          <a:prstGeom prst="rect">
            <a:avLst/>
          </a:prstGeom>
          <a:noFill/>
          <a:ln/>
        </p:spPr>
        <p:txBody>
          <a:bodyPr wrap="square" lIns="0" tIns="0" rIns="0" bIns="0" rtlCol="0" anchor="ctr"/>
          <a:lstStyle/>
          <a:p>
            <a:pPr indent="0" marL="0">
              <a:buNone/>
            </a:pPr>
            <a:r>
              <a:rPr lang="en-US" sz="2400" b="1" dirty="0">
                <a:solidFill>
                  <a:srgbClr val="2E386E"/>
                </a:solidFill>
                <a:latin typeface="Inter" pitchFamily="34" charset="0"/>
                <a:ea typeface="Inter" pitchFamily="34" charset="-122"/>
                <a:cs typeface="Inter" pitchFamily="34" charset="-120"/>
              </a:rPr>
              <a:t>Les questions des membres = ta machine à contenu</a:t>
            </a:r>
            <a:endParaRPr lang="en-US" sz="2400" dirty="0"/>
          </a:p>
        </p:txBody>
      </p:sp>
      <p:sp>
        <p:nvSpPr>
          <p:cNvPr id="4" name="Shape 2"/>
          <p:cNvSpPr/>
          <p:nvPr/>
        </p:nvSpPr>
        <p:spPr>
          <a:xfrm>
            <a:off x="640080" y="1691640"/>
            <a:ext cx="7863840" cy="2468880"/>
          </a:xfrm>
          <a:prstGeom prst="roundRect">
            <a:avLst>
              <a:gd name="adj" fmla="val 5185"/>
            </a:avLst>
          </a:prstGeom>
          <a:solidFill>
            <a:srgbClr val="EAECFB"/>
          </a:solidFill>
          <a:ln/>
        </p:spPr>
      </p:sp>
      <p:sp>
        <p:nvSpPr>
          <p:cNvPr id="5" name="Text 3"/>
          <p:cNvSpPr/>
          <p:nvPr/>
        </p:nvSpPr>
        <p:spPr>
          <a:xfrm>
            <a:off x="1005840" y="1691640"/>
            <a:ext cx="7132320" cy="2468880"/>
          </a:xfrm>
          <a:prstGeom prst="rect">
            <a:avLst/>
          </a:prstGeom>
          <a:noFill/>
          <a:ln/>
        </p:spPr>
        <p:txBody>
          <a:bodyPr wrap="square" lIns="0" tIns="0" rIns="0" bIns="0" rtlCol="0" anchor="ctr"/>
          <a:lstStyle/>
          <a:p>
            <a:pPr indent="0" marL="0">
              <a:lnSpc>
                <a:spcPct val="115000"/>
              </a:lnSpc>
              <a:buNone/>
            </a:pPr>
            <a:r>
              <a:rPr lang="en-US" sz="1600" dirty="0">
                <a:solidFill>
                  <a:srgbClr val="2E386E"/>
                </a:solidFill>
                <a:latin typeface="Inter" pitchFamily="34" charset="0"/>
                <a:ea typeface="Inter" pitchFamily="34" charset="-122"/>
                <a:cs typeface="Inter" pitchFamily="34" charset="-120"/>
              </a:rPr>
              <a:t>Trois personnes demandent « comment choisir mon sujet de quiz ? ». Tu en fais une vidéo, un post, et un mini-quiz « Quel sujet de quiz est fait pour toi ? ». Une question = trois contenus, et un nouvel aimant à leads.</a:t>
            </a:r>
            <a:endParaRPr lang="en-US" sz="1600" dirty="0"/>
          </a:p>
        </p:txBody>
      </p:sp>
      <p:sp>
        <p:nvSpPr>
          <p:cNvPr id="6" name="Text 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L'erreur à éviter</a:t>
            </a:r>
            <a:endParaRPr lang="en-US" sz="3000" dirty="0"/>
          </a:p>
        </p:txBody>
      </p:sp>
      <p:sp>
        <p:nvSpPr>
          <p:cNvPr id="3" name="Shape 1"/>
          <p:cNvSpPr/>
          <p:nvPr/>
        </p:nvSpPr>
        <p:spPr>
          <a:xfrm>
            <a:off x="640080" y="1554480"/>
            <a:ext cx="7863840" cy="1188720"/>
          </a:xfrm>
          <a:prstGeom prst="roundRect">
            <a:avLst>
              <a:gd name="adj" fmla="val 9231"/>
            </a:avLst>
          </a:prstGeom>
          <a:solidFill>
            <a:srgbClr val="FBEAF0"/>
          </a:solidFill>
          <a:ln/>
        </p:spPr>
      </p:sp>
      <p:sp>
        <p:nvSpPr>
          <p:cNvPr id="4" name="Text 2"/>
          <p:cNvSpPr/>
          <p:nvPr/>
        </p:nvSpPr>
        <p:spPr>
          <a:xfrm>
            <a:off x="914400" y="15544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E5577D"/>
                </a:solidFill>
                <a:latin typeface="Inter" pitchFamily="34" charset="0"/>
                <a:ea typeface="Inter" pitchFamily="34" charset="-122"/>
                <a:cs typeface="Inter" pitchFamily="34" charset="-120"/>
              </a:rPr>
              <a:t>L'erreur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Un membre te monopolise : il t'écrit sans arrêt et attend des réponses longues et gratuites. Tu réponds à tout, et tu n'as plus de temps pour les autres.</a:t>
            </a:r>
            <a:endParaRPr lang="en-US" sz="1600" dirty="0"/>
          </a:p>
        </p:txBody>
      </p:sp>
      <p:sp>
        <p:nvSpPr>
          <p:cNvPr id="5" name="Shape 3"/>
          <p:cNvSpPr/>
          <p:nvPr/>
        </p:nvSpPr>
        <p:spPr>
          <a:xfrm>
            <a:off x="640080" y="2926080"/>
            <a:ext cx="7863840" cy="1188720"/>
          </a:xfrm>
          <a:prstGeom prst="roundRect">
            <a:avLst>
              <a:gd name="adj" fmla="val 9231"/>
            </a:avLst>
          </a:prstGeom>
          <a:solidFill>
            <a:srgbClr val="EAF7F0"/>
          </a:solidFill>
          <a:ln/>
        </p:spPr>
      </p:sp>
      <p:sp>
        <p:nvSpPr>
          <p:cNvPr id="6" name="Text 4"/>
          <p:cNvSpPr/>
          <p:nvPr/>
        </p:nvSpPr>
        <p:spPr>
          <a:xfrm>
            <a:off x="914400" y="2926080"/>
            <a:ext cx="7315200" cy="1188720"/>
          </a:xfrm>
          <a:prstGeom prst="rect">
            <a:avLst/>
          </a:prstGeom>
          <a:noFill/>
          <a:ln/>
        </p:spPr>
        <p:txBody>
          <a:bodyPr wrap="square" lIns="0" tIns="0" rIns="0" bIns="0" rtlCol="0" anchor="ctr"/>
          <a:lstStyle/>
          <a:p>
            <a:pPr indent="0" marL="0">
              <a:lnSpc>
                <a:spcPct val="110000"/>
              </a:lnSpc>
              <a:buNone/>
            </a:pPr>
            <a:r>
              <a:rPr lang="en-US" sz="1600" b="1" dirty="0">
                <a:solidFill>
                  <a:srgbClr val="2BB673"/>
                </a:solidFill>
                <a:latin typeface="Inter" pitchFamily="34" charset="0"/>
                <a:ea typeface="Inter" pitchFamily="34" charset="-122"/>
                <a:cs typeface="Inter" pitchFamily="34" charset="-120"/>
              </a:rPr>
              <a:t>La solution :  </a:t>
            </a:r>
            <a:pPr indent="0" marL="0">
              <a:lnSpc>
                <a:spcPct val="110000"/>
              </a:lnSpc>
              <a:buNone/>
            </a:pPr>
            <a:r>
              <a:rPr lang="en-US" sz="1600" dirty="0">
                <a:solidFill>
                  <a:srgbClr val="2E386E"/>
                </a:solidFill>
                <a:latin typeface="Inter" pitchFamily="34" charset="0"/>
                <a:ea typeface="Inter" pitchFamily="34" charset="-122"/>
                <a:cs typeface="Inter" pitchFamily="34" charset="-120"/>
              </a:rPr>
              <a:t>Pose un cadre. Réponds court, renvoie vers le groupe (« super question, je la poste pour que tout le monde en profite »), ou vers ton offre payante pour du suivi individuel. Ton temps gratuit n'est pas illimité.</a:t>
            </a:r>
            <a:endParaRPr lang="en-US" sz="1600" dirty="0"/>
          </a:p>
        </p:txBody>
      </p:sp>
      <p:sp>
        <p:nvSpPr>
          <p:cNvPr id="7" name="Text 5"/>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548640"/>
            <a:ext cx="7863840" cy="457200"/>
          </a:xfrm>
          <a:prstGeom prst="rect">
            <a:avLst/>
          </a:prstGeom>
          <a:noFill/>
          <a:ln/>
        </p:spPr>
        <p:txBody>
          <a:bodyPr wrap="square" lIns="0" tIns="0" rIns="0" bIns="0" rtlCol="0" anchor="ctr"/>
          <a:lstStyle/>
          <a:p>
            <a:pPr indent="0" marL="0">
              <a:buNone/>
            </a:pPr>
            <a:r>
              <a:rPr lang="en-US" sz="1500" b="1" spc="200" kern="0" dirty="0">
                <a:solidFill>
                  <a:srgbClr val="F5B301"/>
                </a:solidFill>
                <a:latin typeface="Inter" pitchFamily="34" charset="0"/>
                <a:ea typeface="Inter" pitchFamily="34" charset="-122"/>
                <a:cs typeface="Inter" pitchFamily="34" charset="-120"/>
              </a:rPr>
              <a:t>CE QUE TU SAIS MAINTENANT</a:t>
            </a:r>
            <a:endParaRPr lang="en-US" sz="1500" dirty="0"/>
          </a:p>
        </p:txBody>
      </p:sp>
      <p:sp>
        <p:nvSpPr>
          <p:cNvPr id="5" name="Shape 3"/>
          <p:cNvSpPr/>
          <p:nvPr/>
        </p:nvSpPr>
        <p:spPr>
          <a:xfrm>
            <a:off x="640080" y="1502474"/>
            <a:ext cx="384048" cy="384048"/>
          </a:xfrm>
          <a:prstGeom prst="ellipse">
            <a:avLst/>
          </a:prstGeom>
          <a:solidFill>
            <a:srgbClr val="2BB673"/>
          </a:solidFill>
          <a:ln/>
        </p:spPr>
      </p:sp>
      <p:sp>
        <p:nvSpPr>
          <p:cNvPr id="6" name="Text 4"/>
          <p:cNvSpPr/>
          <p:nvPr/>
        </p:nvSpPr>
        <p:spPr>
          <a:xfrm>
            <a:off x="640080" y="150247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7" name="Text 5"/>
          <p:cNvSpPr/>
          <p:nvPr/>
        </p:nvSpPr>
        <p:spPr>
          <a:xfrm>
            <a:off x="1234440" y="132588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qu'une communauté sert à donner de la valeur exclusive, collecter des retours et créer des liens.</a:t>
            </a:r>
            <a:endParaRPr lang="en-US" sz="1550" dirty="0"/>
          </a:p>
        </p:txBody>
      </p:sp>
      <p:sp>
        <p:nvSpPr>
          <p:cNvPr id="8" name="Shape 6"/>
          <p:cNvSpPr/>
          <p:nvPr/>
        </p:nvSpPr>
        <p:spPr>
          <a:xfrm>
            <a:off x="640080" y="2239708"/>
            <a:ext cx="384048" cy="384048"/>
          </a:xfrm>
          <a:prstGeom prst="ellipse">
            <a:avLst/>
          </a:prstGeom>
          <a:solidFill>
            <a:srgbClr val="2BB673"/>
          </a:solidFill>
          <a:ln/>
        </p:spPr>
      </p:sp>
      <p:sp>
        <p:nvSpPr>
          <p:cNvPr id="9" name="Text 7"/>
          <p:cNvSpPr/>
          <p:nvPr/>
        </p:nvSpPr>
        <p:spPr>
          <a:xfrm>
            <a:off x="640080" y="22397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1234440" y="206311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connais les 4 maisons : Facebook, Telegram, WhatsApp, Skool.</a:t>
            </a:r>
            <a:endParaRPr lang="en-US" sz="1550" dirty="0"/>
          </a:p>
        </p:txBody>
      </p:sp>
      <p:sp>
        <p:nvSpPr>
          <p:cNvPr id="11" name="Shape 9"/>
          <p:cNvSpPr/>
          <p:nvPr/>
        </p:nvSpPr>
        <p:spPr>
          <a:xfrm>
            <a:off x="640080" y="2976944"/>
            <a:ext cx="384048" cy="384048"/>
          </a:xfrm>
          <a:prstGeom prst="ellipse">
            <a:avLst/>
          </a:prstGeom>
          <a:solidFill>
            <a:srgbClr val="2BB673"/>
          </a:solidFill>
          <a:ln/>
        </p:spPr>
      </p:sp>
      <p:sp>
        <p:nvSpPr>
          <p:cNvPr id="12" name="Text 10"/>
          <p:cNvSpPr/>
          <p:nvPr/>
        </p:nvSpPr>
        <p:spPr>
          <a:xfrm>
            <a:off x="640080" y="2976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3" name="Text 11"/>
          <p:cNvSpPr/>
          <p:nvPr/>
        </p:nvSpPr>
        <p:spPr>
          <a:xfrm>
            <a:off x="1234440" y="2800350"/>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inviter depuis le résultat, et rester proche même en privé.</a:t>
            </a:r>
            <a:endParaRPr lang="en-US" sz="1550" dirty="0"/>
          </a:p>
        </p:txBody>
      </p:sp>
      <p:sp>
        <p:nvSpPr>
          <p:cNvPr id="14" name="Shape 12"/>
          <p:cNvSpPr/>
          <p:nvPr/>
        </p:nvSpPr>
        <p:spPr>
          <a:xfrm>
            <a:off x="640080" y="3714178"/>
            <a:ext cx="384048" cy="384048"/>
          </a:xfrm>
          <a:prstGeom prst="ellipse">
            <a:avLst/>
          </a:prstGeom>
          <a:solidFill>
            <a:srgbClr val="2BB673"/>
          </a:solidFill>
          <a:ln/>
        </p:spPr>
      </p:sp>
      <p:sp>
        <p:nvSpPr>
          <p:cNvPr id="15" name="Text 13"/>
          <p:cNvSpPr/>
          <p:nvPr/>
        </p:nvSpPr>
        <p:spPr>
          <a:xfrm>
            <a:off x="640080" y="371417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t>
            </a:r>
            <a:endParaRPr lang="en-US" sz="1400" dirty="0"/>
          </a:p>
        </p:txBody>
      </p:sp>
      <p:sp>
        <p:nvSpPr>
          <p:cNvPr id="16" name="Text 14"/>
          <p:cNvSpPr/>
          <p:nvPr/>
        </p:nvSpPr>
        <p:spPr>
          <a:xfrm>
            <a:off x="1234440" y="3537585"/>
            <a:ext cx="7223760" cy="737235"/>
          </a:xfrm>
          <a:prstGeom prst="rect">
            <a:avLst/>
          </a:prstGeom>
          <a:noFill/>
          <a:ln/>
        </p:spPr>
        <p:txBody>
          <a:bodyPr wrap="square" lIns="0" tIns="0" rIns="0" bIns="0" rtlCol="0" anchor="ctr"/>
          <a:lstStyle/>
          <a:p>
            <a:pPr indent="0" marL="0">
              <a:buNone/>
            </a:pPr>
            <a:r>
              <a:rPr lang="en-US" sz="1550" dirty="0">
                <a:solidFill>
                  <a:srgbClr val="FFFFFF"/>
                </a:solidFill>
                <a:latin typeface="Inter" pitchFamily="34" charset="0"/>
                <a:ea typeface="Inter" pitchFamily="34" charset="-122"/>
                <a:cs typeface="Inter" pitchFamily="34" charset="-120"/>
              </a:rPr>
              <a:t>Tu sais gérer un membre envahissant, et recycler les questions en contenu.</a:t>
            </a:r>
            <a:endParaRPr lang="en-US" sz="1550" dirty="0"/>
          </a:p>
        </p:txBody>
      </p:sp>
      <p:sp>
        <p:nvSpPr>
          <p:cNvPr id="17" name="Text 15"/>
          <p:cNvSpPr/>
          <p:nvPr/>
        </p:nvSpPr>
        <p:spPr>
          <a:xfrm>
            <a:off x="658368" y="4457700"/>
            <a:ext cx="7863840" cy="365760"/>
          </a:xfrm>
          <a:prstGeom prst="rect">
            <a:avLst/>
          </a:prstGeom>
          <a:noFill/>
          <a:ln/>
        </p:spPr>
        <p:txBody>
          <a:bodyPr wrap="square" lIns="0" tIns="0" rIns="0" bIns="0" rtlCol="0" anchor="ctr"/>
          <a:lstStyle/>
          <a:p>
            <a:pPr indent="0" marL="0">
              <a:buNone/>
            </a:pPr>
            <a:r>
              <a:rPr lang="en-US" sz="1350" i="1" dirty="0">
                <a:solidFill>
                  <a:srgbClr val="EAECFB"/>
                </a:solidFill>
                <a:latin typeface="Inter" pitchFamily="34" charset="0"/>
                <a:ea typeface="Inter" pitchFamily="34" charset="-122"/>
                <a:cs typeface="Inter" pitchFamily="34" charset="-120"/>
              </a:rPr>
              <a:t>Tu peux déjà l'expliquer à quelqu'un qui n'y connaît rien.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31520" y="3291840"/>
            <a:ext cx="2377440" cy="2377440"/>
          </a:xfrm>
          <a:prstGeom prst="ellipse">
            <a:avLst/>
          </a:prstGeom>
          <a:solidFill>
            <a:srgbClr val="5D6CDB">
              <a:alpha val="45000"/>
            </a:srgbClr>
          </a:solidFill>
          <a:ln/>
        </p:spPr>
      </p:sp>
      <p:sp>
        <p:nvSpPr>
          <p:cNvPr id="3" name="Text 1"/>
          <p:cNvSpPr/>
          <p:nvPr/>
        </p:nvSpPr>
        <p:spPr>
          <a:xfrm>
            <a:off x="640080" y="1371600"/>
            <a:ext cx="7863840" cy="548640"/>
          </a:xfrm>
          <a:prstGeom prst="rect">
            <a:avLst/>
          </a:prstGeom>
          <a:noFill/>
          <a:ln/>
        </p:spPr>
        <p:txBody>
          <a:bodyPr wrap="square" lIns="0" tIns="0" rIns="0" bIns="0" rtlCol="0" anchor="ctr"/>
          <a:lstStyle/>
          <a:p>
            <a:pPr indent="0" marL="0">
              <a:buNone/>
            </a:pPr>
            <a:r>
              <a:rPr lang="en-US" sz="1600" b="1" spc="300" kern="0" dirty="0">
                <a:solidFill>
                  <a:srgbClr val="F5B301"/>
                </a:solidFill>
                <a:latin typeface="Inter" pitchFamily="34" charset="0"/>
                <a:ea typeface="Inter" pitchFamily="34" charset="-122"/>
                <a:cs typeface="Inter" pitchFamily="34" charset="-120"/>
              </a:rPr>
              <a:t>ON PASSE À L'ÉCRAN</a:t>
            </a:r>
            <a:endParaRPr lang="en-US" sz="1600" dirty="0"/>
          </a:p>
        </p:txBody>
      </p:sp>
      <p:sp>
        <p:nvSpPr>
          <p:cNvPr id="4" name="Text 2"/>
          <p:cNvSpPr/>
          <p:nvPr/>
        </p:nvSpPr>
        <p:spPr>
          <a:xfrm>
            <a:off x="640080" y="1965960"/>
            <a:ext cx="786384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Inter" pitchFamily="34" charset="0"/>
                <a:ea typeface="Inter" pitchFamily="34" charset="-122"/>
                <a:cs typeface="Inter" pitchFamily="34" charset="-120"/>
              </a:rPr>
              <a:t>Ajouter le lien de ta communauté sur la page de résultat de ton quiz, avec le nom du profil et le prénom.</a:t>
            </a:r>
            <a:endParaRPr lang="en-US" sz="3000" dirty="0"/>
          </a:p>
        </p:txBody>
      </p:sp>
      <p:sp>
        <p:nvSpPr>
          <p:cNvPr id="5" name="Text 3"/>
          <p:cNvSpPr/>
          <p:nvPr/>
        </p:nvSpPr>
        <p:spPr>
          <a:xfrm>
            <a:off x="658368" y="3611880"/>
            <a:ext cx="7315200" cy="457200"/>
          </a:xfrm>
          <a:prstGeom prst="rect">
            <a:avLst/>
          </a:prstGeom>
          <a:noFill/>
          <a:ln/>
        </p:spPr>
        <p:txBody>
          <a:bodyPr wrap="square" lIns="0" tIns="0" rIns="0" bIns="0" rtlCol="0" anchor="ctr"/>
          <a:lstStyle/>
          <a:p>
            <a:pPr indent="0" marL="0">
              <a:buNone/>
            </a:pPr>
            <a:r>
              <a:rPr lang="en-US" sz="1500" i="1" dirty="0">
                <a:solidFill>
                  <a:srgbClr val="EAECFB"/>
                </a:solidFill>
                <a:latin typeface="Inter" pitchFamily="34" charset="0"/>
                <a:ea typeface="Inter" pitchFamily="34" charset="-122"/>
                <a:cs typeface="Inter" pitchFamily="34" charset="-120"/>
              </a:rPr>
              <a:t>Je te montre en direct, suis pas à pas.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lIns="0" tIns="0" rIns="0" bIns="0" rtlCol="0" anchor="ctr"/>
          <a:lstStyle/>
          <a:p>
            <a:pPr indent="0" marL="0">
              <a:buNone/>
            </a:pPr>
            <a:r>
              <a:rPr lang="en-US" sz="3000" b="1" dirty="0">
                <a:solidFill>
                  <a:srgbClr val="2E386E"/>
                </a:solidFill>
                <a:latin typeface="Inter" pitchFamily="34" charset="0"/>
                <a:ea typeface="Inter" pitchFamily="34" charset="-122"/>
                <a:cs typeface="Inter" pitchFamily="34" charset="-120"/>
              </a:rPr>
              <a:t>Ta mission du jour</a:t>
            </a:r>
            <a:endParaRPr lang="en-US" sz="3000" dirty="0"/>
          </a:p>
        </p:txBody>
      </p:sp>
      <p:sp>
        <p:nvSpPr>
          <p:cNvPr id="3" name="Text 1"/>
          <p:cNvSpPr/>
          <p:nvPr/>
        </p:nvSpPr>
        <p:spPr>
          <a:xfrm>
            <a:off x="658368" y="1078992"/>
            <a:ext cx="7863840" cy="365760"/>
          </a:xfrm>
          <a:prstGeom prst="rect">
            <a:avLst/>
          </a:prstGeom>
          <a:noFill/>
          <a:ln/>
        </p:spPr>
        <p:txBody>
          <a:bodyPr wrap="square" lIns="0" tIns="0" rIns="0" bIns="0" rtlCol="0" anchor="ctr"/>
          <a:lstStyle/>
          <a:p>
            <a:pPr indent="0" marL="0">
              <a:buNone/>
            </a:pPr>
            <a:r>
              <a:rPr lang="en-US" sz="1350" i="1" dirty="0">
                <a:solidFill>
                  <a:srgbClr val="6B73A0"/>
                </a:solidFill>
                <a:latin typeface="Inter" pitchFamily="34" charset="0"/>
                <a:ea typeface="Inter" pitchFamily="34" charset="-122"/>
                <a:cs typeface="Inter" pitchFamily="34" charset="-120"/>
              </a:rPr>
              <a:t>Tu valides le quiz du jour pour débloquer le suivant.</a:t>
            </a:r>
            <a:endParaRPr lang="en-US" sz="1350" dirty="0"/>
          </a:p>
        </p:txBody>
      </p:sp>
      <p:sp>
        <p:nvSpPr>
          <p:cNvPr id="4" name="Shape 2"/>
          <p:cNvSpPr/>
          <p:nvPr/>
        </p:nvSpPr>
        <p:spPr>
          <a:xfrm>
            <a:off x="640080" y="1853375"/>
            <a:ext cx="402336" cy="402336"/>
          </a:xfrm>
          <a:prstGeom prst="ellipse">
            <a:avLst/>
          </a:prstGeom>
          <a:solidFill>
            <a:srgbClr val="2BB673"/>
          </a:solidFill>
          <a:ln/>
        </p:spPr>
      </p:sp>
      <p:sp>
        <p:nvSpPr>
          <p:cNvPr id="5" name="Text 3"/>
          <p:cNvSpPr/>
          <p:nvPr/>
        </p:nvSpPr>
        <p:spPr>
          <a:xfrm>
            <a:off x="640080" y="185337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6" name="Text 4"/>
          <p:cNvSpPr/>
          <p:nvPr/>
        </p:nvSpPr>
        <p:spPr>
          <a:xfrm>
            <a:off x="1234440" y="169164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Choisis ta maison : Facebook, Telegram, WhatsApp ou Skool</a:t>
            </a:r>
            <a:endParaRPr lang="en-US" sz="1550" dirty="0"/>
          </a:p>
        </p:txBody>
      </p:sp>
      <p:sp>
        <p:nvSpPr>
          <p:cNvPr id="7" name="Shape 5"/>
          <p:cNvSpPr/>
          <p:nvPr/>
        </p:nvSpPr>
        <p:spPr>
          <a:xfrm>
            <a:off x="640080" y="2579179"/>
            <a:ext cx="402336" cy="402336"/>
          </a:xfrm>
          <a:prstGeom prst="ellipse">
            <a:avLst/>
          </a:prstGeom>
          <a:solidFill>
            <a:srgbClr val="2BB673"/>
          </a:solidFill>
          <a:ln/>
        </p:spPr>
      </p:sp>
      <p:sp>
        <p:nvSpPr>
          <p:cNvPr id="8" name="Text 6"/>
          <p:cNvSpPr/>
          <p:nvPr/>
        </p:nvSpPr>
        <p:spPr>
          <a:xfrm>
            <a:off x="640080" y="257917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9" name="Text 7"/>
          <p:cNvSpPr/>
          <p:nvPr/>
        </p:nvSpPr>
        <p:spPr>
          <a:xfrm>
            <a:off x="1234440" y="241744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Crée-la : un nom clair, une phrase qui dit à qui c'est</a:t>
            </a:r>
            <a:endParaRPr lang="en-US" sz="1550" dirty="0"/>
          </a:p>
        </p:txBody>
      </p:sp>
      <p:sp>
        <p:nvSpPr>
          <p:cNvPr id="10" name="Shape 8"/>
          <p:cNvSpPr/>
          <p:nvPr/>
        </p:nvSpPr>
        <p:spPr>
          <a:xfrm>
            <a:off x="640080" y="3304985"/>
            <a:ext cx="402336" cy="402336"/>
          </a:xfrm>
          <a:prstGeom prst="ellipse">
            <a:avLst/>
          </a:prstGeom>
          <a:solidFill>
            <a:srgbClr val="2BB673"/>
          </a:solidFill>
          <a:ln/>
        </p:spPr>
      </p:sp>
      <p:sp>
        <p:nvSpPr>
          <p:cNvPr id="11" name="Text 9"/>
          <p:cNvSpPr/>
          <p:nvPr/>
        </p:nvSpPr>
        <p:spPr>
          <a:xfrm>
            <a:off x="640080" y="330498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2" name="Text 10"/>
          <p:cNvSpPr/>
          <p:nvPr/>
        </p:nvSpPr>
        <p:spPr>
          <a:xfrm>
            <a:off x="1234440" y="3143250"/>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Ajoute l'invitation sur ta page de résultat, avec le profil</a:t>
            </a:r>
            <a:endParaRPr lang="en-US" sz="1550" dirty="0"/>
          </a:p>
        </p:txBody>
      </p:sp>
      <p:sp>
        <p:nvSpPr>
          <p:cNvPr id="13" name="Shape 11"/>
          <p:cNvSpPr/>
          <p:nvPr/>
        </p:nvSpPr>
        <p:spPr>
          <a:xfrm>
            <a:off x="640080" y="4030789"/>
            <a:ext cx="402336" cy="402336"/>
          </a:xfrm>
          <a:prstGeom prst="ellipse">
            <a:avLst/>
          </a:prstGeom>
          <a:solidFill>
            <a:srgbClr val="2BB673"/>
          </a:solidFill>
          <a:ln/>
        </p:spPr>
      </p:sp>
      <p:sp>
        <p:nvSpPr>
          <p:cNvPr id="14" name="Text 12"/>
          <p:cNvSpPr/>
          <p:nvPr/>
        </p:nvSpPr>
        <p:spPr>
          <a:xfrm>
            <a:off x="640080" y="40307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t>
            </a:r>
            <a:endParaRPr lang="en-US" sz="1500" dirty="0"/>
          </a:p>
        </p:txBody>
      </p:sp>
      <p:sp>
        <p:nvSpPr>
          <p:cNvPr id="15" name="Text 13"/>
          <p:cNvSpPr/>
          <p:nvPr/>
        </p:nvSpPr>
        <p:spPr>
          <a:xfrm>
            <a:off x="1234440" y="3869055"/>
            <a:ext cx="7269480" cy="725805"/>
          </a:xfrm>
          <a:prstGeom prst="rect">
            <a:avLst/>
          </a:prstGeom>
          <a:noFill/>
          <a:ln/>
        </p:spPr>
        <p:txBody>
          <a:bodyPr wrap="square" lIns="0" tIns="0" rIns="0" bIns="0" rtlCol="0" anchor="ctr"/>
          <a:lstStyle/>
          <a:p>
            <a:pPr indent="0" marL="0">
              <a:buNone/>
            </a:pPr>
            <a:r>
              <a:rPr lang="en-US" sz="1550" dirty="0">
                <a:solidFill>
                  <a:srgbClr val="2E386E"/>
                </a:solidFill>
                <a:latin typeface="Inter" pitchFamily="34" charset="0"/>
                <a:ea typeface="Inter" pitchFamily="34" charset="-122"/>
                <a:cs typeface="Inter" pitchFamily="34" charset="-120"/>
              </a:rPr>
              <a:t>Note 3 questions déjà reçues à transformer en contenu</a:t>
            </a:r>
            <a:endParaRPr lang="en-US" sz="1550" dirty="0"/>
          </a:p>
        </p:txBody>
      </p:sp>
      <p:sp>
        <p:nvSpPr>
          <p:cNvPr id="16" name="Text 14"/>
          <p:cNvSpPr/>
          <p:nvPr/>
        </p:nvSpPr>
        <p:spPr>
          <a:xfrm>
            <a:off x="457200" y="4759452"/>
            <a:ext cx="6400800" cy="274320"/>
          </a:xfrm>
          <a:prstGeom prst="rect">
            <a:avLst/>
          </a:prstGeom>
          <a:noFill/>
          <a:ln/>
        </p:spPr>
        <p:txBody>
          <a:bodyPr wrap="square" lIns="0" tIns="0" rIns="0" bIns="0" rtlCol="0" anchor="ctr"/>
          <a:lstStyle/>
          <a:p>
            <a:pPr indent="0" marL="0">
              <a:buNone/>
            </a:pPr>
            <a:r>
              <a:rPr lang="en-US" sz="900" b="1" dirty="0">
                <a:solidFill>
                  <a:srgbClr val="6B73A0"/>
                </a:solidFill>
                <a:latin typeface="Inter" pitchFamily="34" charset="0"/>
                <a:ea typeface="Inter" pitchFamily="34" charset="-122"/>
                <a:cs typeface="Inter" pitchFamily="34" charset="-120"/>
              </a:rPr>
              <a:t>L'Atelier du Quiz</a:t>
            </a:r>
            <a:pPr indent="0" marL="0">
              <a:buNone/>
            </a:pPr>
            <a:r>
              <a:rPr lang="en-US" sz="900" dirty="0">
                <a:solidFill>
                  <a:srgbClr val="6B73A0"/>
                </a:solidFill>
                <a:latin typeface="Inter" pitchFamily="34" charset="0"/>
                <a:ea typeface="Inter" pitchFamily="34" charset="-122"/>
                <a:cs typeface="Inter" pitchFamily="34" charset="-120"/>
              </a:rPr>
              <a:t>   ·   Jour 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386E"/>
        </a:solidFill>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5D6CDB">
              <a:alpha val="30000"/>
            </a:srgbClr>
          </a:solidFill>
          <a:ln/>
        </p:spPr>
      </p:sp>
      <p:sp>
        <p:nvSpPr>
          <p:cNvPr id="3" name="Shape 1"/>
          <p:cNvSpPr/>
          <p:nvPr/>
        </p:nvSpPr>
        <p:spPr>
          <a:xfrm>
            <a:off x="8686800" y="4023360"/>
            <a:ext cx="1554480" cy="1554480"/>
          </a:xfrm>
          <a:prstGeom prst="ellipse">
            <a:avLst/>
          </a:prstGeom>
          <a:solidFill>
            <a:srgbClr val="5D6CDB">
              <a:alpha val="20000"/>
            </a:srgbClr>
          </a:solidFill>
          <a:ln/>
        </p:spPr>
      </p:sp>
      <p:sp>
        <p:nvSpPr>
          <p:cNvPr id="4" name="Text 2"/>
          <p:cNvSpPr/>
          <p:nvPr/>
        </p:nvSpPr>
        <p:spPr>
          <a:xfrm>
            <a:off x="640080" y="1280160"/>
            <a:ext cx="7863840" cy="457200"/>
          </a:xfrm>
          <a:prstGeom prst="rect">
            <a:avLst/>
          </a:prstGeom>
          <a:noFill/>
          <a:ln/>
        </p:spPr>
        <p:txBody>
          <a:bodyPr wrap="square" lIns="0" tIns="0" rIns="0" bIns="0" rtlCol="0" anchor="ctr"/>
          <a:lstStyle/>
          <a:p>
            <a:pPr indent="0" marL="0">
              <a:buNone/>
            </a:pPr>
            <a:r>
              <a:rPr lang="en-US" sz="1400" b="1" spc="200" kern="0" dirty="0">
                <a:solidFill>
                  <a:srgbClr val="F5B301"/>
                </a:solidFill>
                <a:latin typeface="Inter" pitchFamily="34" charset="0"/>
                <a:ea typeface="Inter" pitchFamily="34" charset="-122"/>
                <a:cs typeface="Inter" pitchFamily="34" charset="-120"/>
              </a:rPr>
              <a:t>BRAVO, JOUR 6 BOUCLÉ</a:t>
            </a:r>
            <a:endParaRPr lang="en-US" sz="1400" dirty="0"/>
          </a:p>
        </p:txBody>
      </p:sp>
      <p:sp>
        <p:nvSpPr>
          <p:cNvPr id="5" name="Text 3"/>
          <p:cNvSpPr/>
          <p:nvPr/>
        </p:nvSpPr>
        <p:spPr>
          <a:xfrm>
            <a:off x="640080" y="1828800"/>
            <a:ext cx="7863840" cy="1645920"/>
          </a:xfrm>
          <a:prstGeom prst="rect">
            <a:avLst/>
          </a:prstGeom>
          <a:noFill/>
          <a:ln/>
        </p:spPr>
        <p:txBody>
          <a:bodyPr wrap="square" lIns="0" tIns="0" rIns="0" bIns="0" rtlCol="0" anchor="ctr"/>
          <a:lstStyle/>
          <a:p>
            <a:pPr indent="0" marL="0">
              <a:lnSpc>
                <a:spcPct val="105000"/>
              </a:lnSpc>
              <a:buNone/>
            </a:pPr>
            <a:r>
              <a:rPr lang="en-US" sz="2800" b="1" dirty="0">
                <a:solidFill>
                  <a:srgbClr val="FFFFFF"/>
                </a:solidFill>
                <a:latin typeface="Inter" pitchFamily="34" charset="0"/>
                <a:ea typeface="Inter" pitchFamily="34" charset="-122"/>
                <a:cs typeface="Inter" pitchFamily="34" charset="-120"/>
              </a:rPr>
              <a:t>Demain : on regarde tes vrais chiffres pour améliorer ton quiz, et on trace ton plan pour la suite.</a:t>
            </a:r>
            <a:endParaRPr lang="en-US" sz="2800" dirty="0"/>
          </a:p>
        </p:txBody>
      </p:sp>
      <p:sp>
        <p:nvSpPr>
          <p:cNvPr id="6" name="Text 4"/>
          <p:cNvSpPr/>
          <p:nvPr/>
        </p:nvSpPr>
        <p:spPr>
          <a:xfrm>
            <a:off x="658368" y="4206240"/>
            <a:ext cx="7315200" cy="365760"/>
          </a:xfrm>
          <a:prstGeom prst="rect">
            <a:avLst/>
          </a:prstGeom>
          <a:noFill/>
          <a:ln/>
        </p:spPr>
        <p:txBody>
          <a:bodyPr wrap="square" lIns="0" tIns="0" rIns="0" bIns="0" rtlCol="0" anchor="ctr"/>
          <a:lstStyle/>
          <a:p>
            <a:pPr indent="0" marL="0">
              <a:buNone/>
            </a:pPr>
            <a:r>
              <a:rPr lang="en-US" sz="1200" dirty="0">
                <a:solidFill>
                  <a:srgbClr val="EAECFB"/>
                </a:solidFill>
                <a:latin typeface="Inter" pitchFamily="34" charset="0"/>
                <a:ea typeface="Inter" pitchFamily="34" charset="-122"/>
                <a:cs typeface="Inter" pitchFamily="34" charset="-120"/>
              </a:rPr>
              <a:t>L'Atelier du Quiz  ·  Méthode CAPTO®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L'Atelier du Quiz - Jour 6</dc:title>
  <dc:subject>PptxGenJS Presentation</dc:subject>
  <dc:creator>L'Atelier du Quiz</dc:creator>
  <cp:lastModifiedBy>L'Atelier du Quiz</cp:lastModifiedBy>
  <cp:revision>1</cp:revision>
  <dcterms:created xsi:type="dcterms:W3CDTF">2026-06-19T12:22:20Z</dcterms:created>
  <dcterms:modified xsi:type="dcterms:W3CDTF">2026-06-19T12:22:20Z</dcterms:modified>
</cp:coreProperties>
</file>