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5D6CDB">
              <a:alpha val="30000"/>
            </a:srgbClr>
          </a:solidFill>
          <a:ln/>
        </p:spPr>
      </p:sp>
      <p:sp>
        <p:nvSpPr>
          <p:cNvPr id="3" name="Shape 1"/>
          <p:cNvSpPr/>
          <p:nvPr/>
        </p:nvSpPr>
        <p:spPr>
          <a:xfrm>
            <a:off x="8686800" y="4023360"/>
            <a:ext cx="1554480" cy="1554480"/>
          </a:xfrm>
          <a:prstGeom prst="ellipse">
            <a:avLst/>
          </a:prstGeom>
          <a:solidFill>
            <a:srgbClr val="5D6CDB">
              <a:alpha val="20000"/>
            </a:srgbClr>
          </a:solidFill>
          <a:ln/>
        </p:spPr>
      </p:sp>
      <p:sp>
        <p:nvSpPr>
          <p:cNvPr id="4" name="Text 2"/>
          <p:cNvSpPr/>
          <p:nvPr/>
        </p:nvSpPr>
        <p:spPr>
          <a:xfrm>
            <a:off x="640080" y="914400"/>
            <a:ext cx="7315200" cy="365760"/>
          </a:xfrm>
          <a:prstGeom prst="rect">
            <a:avLst/>
          </a:prstGeom>
          <a:noFill/>
          <a:ln/>
        </p:spPr>
        <p:txBody>
          <a:bodyPr wrap="square" lIns="0" tIns="0" rIns="0" bIns="0" rtlCol="0" anchor="ctr"/>
          <a:lstStyle/>
          <a:p>
            <a:pPr indent="0" marL="0">
              <a:buNone/>
            </a:pPr>
            <a:r>
              <a:rPr lang="en-US" sz="1400" b="1" spc="300" kern="0" dirty="0">
                <a:solidFill>
                  <a:srgbClr val="EAECFB"/>
                </a:solidFill>
                <a:latin typeface="Inter" pitchFamily="34" charset="0"/>
                <a:ea typeface="Inter" pitchFamily="34" charset="-122"/>
                <a:cs typeface="Inter" pitchFamily="34" charset="-120"/>
              </a:rPr>
              <a:t>L'ATELIER DU QUIZ</a:t>
            </a:r>
            <a:endParaRPr lang="en-US" sz="1400" dirty="0"/>
          </a:p>
        </p:txBody>
      </p:sp>
      <p:sp>
        <p:nvSpPr>
          <p:cNvPr id="5" name="Text 3"/>
          <p:cNvSpPr/>
          <p:nvPr/>
        </p:nvSpPr>
        <p:spPr>
          <a:xfrm>
            <a:off x="640080" y="1371600"/>
            <a:ext cx="7315200" cy="640080"/>
          </a:xfrm>
          <a:prstGeom prst="rect">
            <a:avLst/>
          </a:prstGeom>
          <a:noFill/>
          <a:ln/>
        </p:spPr>
        <p:txBody>
          <a:bodyPr wrap="square" lIns="0" tIns="0" rIns="0" bIns="0" rtlCol="0" anchor="ctr"/>
          <a:lstStyle/>
          <a:p>
            <a:pPr indent="0" marL="0">
              <a:buNone/>
            </a:pPr>
            <a:r>
              <a:rPr lang="en-US" sz="4000" b="1" dirty="0">
                <a:solidFill>
                  <a:srgbClr val="F5B301"/>
                </a:solidFill>
                <a:latin typeface="Inter" pitchFamily="34" charset="0"/>
                <a:ea typeface="Inter" pitchFamily="34" charset="-122"/>
                <a:cs typeface="Inter" pitchFamily="34" charset="-120"/>
              </a:rPr>
              <a:t>JOUR 7</a:t>
            </a:r>
            <a:endParaRPr lang="en-US" sz="4000" dirty="0"/>
          </a:p>
        </p:txBody>
      </p:sp>
      <p:sp>
        <p:nvSpPr>
          <p:cNvPr id="6" name="Text 4"/>
          <p:cNvSpPr/>
          <p:nvPr/>
        </p:nvSpPr>
        <p:spPr>
          <a:xfrm>
            <a:off x="640080" y="2103120"/>
            <a:ext cx="7955280" cy="1554480"/>
          </a:xfrm>
          <a:prstGeom prst="rect">
            <a:avLst/>
          </a:prstGeom>
          <a:noFill/>
          <a:ln/>
        </p:spPr>
        <p:txBody>
          <a:bodyPr wrap="square" lIns="0" tIns="0" rIns="0" bIns="0" rtlCol="0" anchor="ctr"/>
          <a:lstStyle/>
          <a:p>
            <a:pPr indent="0" marL="0">
              <a:buNone/>
            </a:pPr>
            <a:r>
              <a:rPr lang="en-US" sz="3400" b="1" dirty="0">
                <a:solidFill>
                  <a:srgbClr val="FFFFFF"/>
                </a:solidFill>
                <a:latin typeface="Inter" pitchFamily="34" charset="0"/>
                <a:ea typeface="Inter" pitchFamily="34" charset="-122"/>
                <a:cs typeface="Inter" pitchFamily="34" charset="-120"/>
              </a:rPr>
              <a:t>Regarde tes chiffres et améliore</a:t>
            </a:r>
            <a:endParaRPr lang="en-US" sz="3400" dirty="0"/>
          </a:p>
        </p:txBody>
      </p:sp>
      <p:sp>
        <p:nvSpPr>
          <p:cNvPr id="7" name="Text 5"/>
          <p:cNvSpPr/>
          <p:nvPr/>
        </p:nvSpPr>
        <p:spPr>
          <a:xfrm>
            <a:off x="658368" y="3703320"/>
            <a:ext cx="7589520" cy="640080"/>
          </a:xfrm>
          <a:prstGeom prst="rect">
            <a:avLst/>
          </a:prstGeom>
          <a:noFill/>
          <a:ln/>
        </p:spPr>
        <p:txBody>
          <a:bodyPr wrap="square" lIns="0" tIns="0" rIns="0" bIns="0" rtlCol="0" anchor="ctr"/>
          <a:lstStyle/>
          <a:p>
            <a:pPr indent="0" marL="0">
              <a:buNone/>
            </a:pPr>
            <a:r>
              <a:rPr lang="en-US" sz="1700" i="1" dirty="0">
                <a:solidFill>
                  <a:srgbClr val="EAECFB"/>
                </a:solidFill>
                <a:latin typeface="Inter" pitchFamily="34" charset="0"/>
                <a:ea typeface="Inter" pitchFamily="34" charset="-122"/>
                <a:cs typeface="Inter" pitchFamily="34" charset="-120"/>
              </a:rPr>
              <a:t>Tu pilotes avec tes vrais chiffres, pas au feeling.</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Au programme aujourd'hui</a:t>
            </a:r>
            <a:endParaRPr lang="en-US" sz="3000" dirty="0"/>
          </a:p>
        </p:txBody>
      </p:sp>
      <p:sp>
        <p:nvSpPr>
          <p:cNvPr id="3" name="Shape 1"/>
          <p:cNvSpPr/>
          <p:nvPr/>
        </p:nvSpPr>
        <p:spPr>
          <a:xfrm>
            <a:off x="640080" y="1371600"/>
            <a:ext cx="7863840" cy="960120"/>
          </a:xfrm>
          <a:prstGeom prst="roundRect">
            <a:avLst>
              <a:gd name="adj" fmla="val 11429"/>
            </a:avLst>
          </a:prstGeom>
          <a:solidFill>
            <a:srgbClr val="EAECFB"/>
          </a:solidFill>
          <a:ln/>
        </p:spPr>
      </p:sp>
      <p:sp>
        <p:nvSpPr>
          <p:cNvPr id="4" name="Text 2"/>
          <p:cNvSpPr/>
          <p:nvPr/>
        </p:nvSpPr>
        <p:spPr>
          <a:xfrm>
            <a:off x="914400" y="1371600"/>
            <a:ext cx="7315200" cy="960120"/>
          </a:xfrm>
          <a:prstGeom prst="rect">
            <a:avLst/>
          </a:prstGeom>
          <a:noFill/>
          <a:ln/>
        </p:spPr>
        <p:txBody>
          <a:bodyPr wrap="square" lIns="0" tIns="0" rIns="0" bIns="0" rtlCol="0" anchor="ctr"/>
          <a:lstStyle/>
          <a:p>
            <a:pPr indent="0" marL="0">
              <a:buNone/>
            </a:pPr>
            <a:r>
              <a:rPr lang="en-US" sz="1600" b="1" dirty="0">
                <a:solidFill>
                  <a:srgbClr val="5D6CDB"/>
                </a:solidFill>
                <a:latin typeface="Inter" pitchFamily="34" charset="0"/>
                <a:ea typeface="Inter" pitchFamily="34" charset="-122"/>
                <a:cs typeface="Inter" pitchFamily="34" charset="-120"/>
              </a:rPr>
              <a:t>Objectif  </a:t>
            </a:r>
            <a:pPr indent="0" marL="0">
              <a:buNone/>
            </a:pPr>
            <a:r>
              <a:rPr lang="en-US" sz="1600" dirty="0">
                <a:solidFill>
                  <a:srgbClr val="2E386E"/>
                </a:solidFill>
                <a:latin typeface="Inter" pitchFamily="34" charset="0"/>
                <a:ea typeface="Inter" pitchFamily="34" charset="-122"/>
                <a:cs typeface="Inter" pitchFamily="34" charset="-120"/>
              </a:rPr>
              <a:t>Lire tes chiffres, réparer ce qui coince, et tracer ton plan pour la suite.</a:t>
            </a:r>
            <a:endParaRPr lang="en-US" sz="1600" dirty="0"/>
          </a:p>
        </p:txBody>
      </p:sp>
      <p:sp>
        <p:nvSpPr>
          <p:cNvPr id="5" name="Text 3"/>
          <p:cNvSpPr/>
          <p:nvPr/>
        </p:nvSpPr>
        <p:spPr>
          <a:xfrm>
            <a:off x="914400" y="2697480"/>
            <a:ext cx="7315200" cy="1920240"/>
          </a:xfrm>
          <a:prstGeom prst="rect">
            <a:avLst/>
          </a:prstGeom>
          <a:noFill/>
          <a:ln/>
        </p:spPr>
        <p:txBody>
          <a:bodyPr wrap="square" rtlCol="0" anchor="ctr"/>
          <a:lstStyle/>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Lire tes chiffres comme une histoire</a:t>
            </a:r>
            <a:endParaRPr lang="en-US" sz="1500" dirty="0"/>
          </a:p>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Trouver le point qui coince</a:t>
            </a:r>
            <a:endParaRPr lang="en-US" sz="1500" dirty="0"/>
          </a:p>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Laisser l'IA de Tiquiz analyser (plan Plus)</a:t>
            </a:r>
            <a:endParaRPr lang="en-US" sz="1500" dirty="0"/>
          </a:p>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Réparer, relancer, et planifier la suite</a:t>
            </a:r>
            <a:endParaRPr lang="en-US" sz="15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863840" cy="822960"/>
          </a:xfrm>
          <a:prstGeom prst="rect">
            <a:avLst/>
          </a:prstGeom>
          <a:noFill/>
          <a:ln/>
        </p:spPr>
        <p:txBody>
          <a:bodyPr wrap="square" lIns="0" tIns="0" rIns="0" bIns="0" rtlCol="0" anchor="ctr"/>
          <a:lstStyle/>
          <a:p>
            <a:pPr indent="0" marL="0">
              <a:buNone/>
            </a:pPr>
            <a:r>
              <a:rPr lang="en-US" sz="2800" b="1" dirty="0">
                <a:solidFill>
                  <a:srgbClr val="2E386E"/>
                </a:solidFill>
                <a:latin typeface="Inter" pitchFamily="34" charset="0"/>
                <a:ea typeface="Inter" pitchFamily="34" charset="-122"/>
                <a:cs typeface="Inter" pitchFamily="34" charset="-120"/>
              </a:rPr>
              <a:t>Avancer au feeling, c'est avancer les yeux fermés</a:t>
            </a:r>
            <a:endParaRPr lang="en-US" sz="2800" dirty="0"/>
          </a:p>
        </p:txBody>
      </p:sp>
      <p:sp>
        <p:nvSpPr>
          <p:cNvPr id="3" name="Text 1"/>
          <p:cNvSpPr/>
          <p:nvPr/>
        </p:nvSpPr>
        <p:spPr>
          <a:xfrm>
            <a:off x="640080" y="1737360"/>
            <a:ext cx="7863840" cy="2743200"/>
          </a:xfrm>
          <a:prstGeom prst="rect">
            <a:avLst/>
          </a:prstGeom>
          <a:noFill/>
          <a:ln/>
        </p:spPr>
        <p:txBody>
          <a:bodyPr wrap="square" lIns="0" tIns="0" rIns="0" bIns="0" rtlCol="0" anchor="ctr"/>
          <a:lstStyle/>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Sans tes chiffres, tu devines. Tu crois que ton quiz marche, ou pas, mais tu n'en sais rien. Et tu refais les mêmes erreurs.</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Tes vrais chiffres te disent exactement où ça coince, et où agir. C'est ta boussole.</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Bonne nouvelle : pas besoin d'être fort en maths. On va lire ça comme une histoire toute simple.</a:t>
            </a:r>
            <a:endParaRPr lang="en-US" sz="180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863840" cy="822960"/>
          </a:xfrm>
          <a:prstGeom prst="rect">
            <a:avLst/>
          </a:prstGeom>
          <a:noFill/>
          <a:ln/>
        </p:spPr>
        <p:txBody>
          <a:bodyPr wrap="square" lIns="0" tIns="0" rIns="0" bIns="0" rtlCol="0" anchor="ctr"/>
          <a:lstStyle/>
          <a:p>
            <a:pPr indent="0" marL="0">
              <a:buNone/>
            </a:pPr>
            <a:r>
              <a:rPr lang="en-US" sz="2800" b="1" dirty="0">
                <a:solidFill>
                  <a:srgbClr val="2E386E"/>
                </a:solidFill>
                <a:latin typeface="Inter" pitchFamily="34" charset="0"/>
                <a:ea typeface="Inter" pitchFamily="34" charset="-122"/>
                <a:cs typeface="Inter" pitchFamily="34" charset="-120"/>
              </a:rPr>
              <a:t>Les 5 chiffres qui comptent (et ce qu'ils veulent dire)</a:t>
            </a:r>
            <a:endParaRPr lang="en-US" sz="2800" dirty="0"/>
          </a:p>
        </p:txBody>
      </p:sp>
      <p:sp>
        <p:nvSpPr>
          <p:cNvPr id="3" name="Text 1"/>
          <p:cNvSpPr/>
          <p:nvPr/>
        </p:nvSpPr>
        <p:spPr>
          <a:xfrm>
            <a:off x="640080" y="1737360"/>
            <a:ext cx="7863840" cy="2743200"/>
          </a:xfrm>
          <a:prstGeom prst="rect">
            <a:avLst/>
          </a:prstGeom>
          <a:noFill/>
          <a:ln/>
        </p:spPr>
        <p:txBody>
          <a:bodyPr wrap="square" lIns="0" tIns="0" rIns="0" bIns="0" rtlCol="0" anchor="ctr"/>
          <a:lstStyle/>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Les vues : combien de personnes voient ton quiz. Les démarrages : combien cliquent et commencent vraiment.</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Les quiz finis : combien vont jusqu'au résultat. Les captures : combien te laissent leur email. Les ventes : combien achètent ensuite.</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À chaque étape, des gens s'arrêtent. C'est normal. Ce qui compte, c'est de voir OÙ tu en perds le plus : c'est là que tu vas agir.</a:t>
            </a:r>
            <a:endParaRPr lang="en-US" sz="180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La démarche : lis tes chiffres comme une histoire</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Tes chiffres racontent un parcours : combien voient ton quiz, le démarrent, le finissent, laissent leur email, achètent. Suis-les dans l'ordre.</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Ton travail : trouver LA marche où tu perds le plus de monde. C'est ton point qui coince, et c'est le seul à réparer pour l'instant.</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Exemple : beaucoup démarrent mais peu finissent ? Ton quiz est trop long ou pas assez fun. Beaucoup finissent mais peu laissent leur email ? Ton cadeau ne donne pas assez envie.</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Laisse l'IA de Tiquiz le faire pour toi (plan Plus)</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Tout ça, tu peux le lire à la main. Mais dans le plan Plus, l'analyse IA de Tiquiz le fait pour toi : elle lit tes résultats et te dit, en clair, ce qui marche et ce qui coince.</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Elle te résume qui sont tes visiteurs, quels profils reviennent le plus, et te suggère quoi améliorer en premier. Tu gagnes des heures et tu ne passes à côté de rien.</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La démarche reste la même : trouver le point qui coince, changer une seule chose, recomparer. L'IA t'évite juste d'éplucher tout toi-même.</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D6CDB"/>
        </a:solidFill>
      </p:bgPr>
    </p:bg>
    <p:spTree>
      <p:nvGrpSpPr>
        <p:cNvPr id="1" name=""/>
        <p:cNvGrpSpPr/>
        <p:nvPr/>
      </p:nvGrpSpPr>
      <p:grpSpPr>
        <a:xfrm>
          <a:off x="0" y="0"/>
          <a:ext cx="0" cy="0"/>
          <a:chOff x="0" y="0"/>
          <a:chExt cx="0" cy="0"/>
        </a:xfrm>
      </p:grpSpPr>
      <p:sp>
        <p:nvSpPr>
          <p:cNvPr id="2" name="Shape 0"/>
          <p:cNvSpPr/>
          <p:nvPr/>
        </p:nvSpPr>
        <p:spPr>
          <a:xfrm>
            <a:off x="-822960" y="3108960"/>
            <a:ext cx="2560320" cy="2560320"/>
          </a:xfrm>
          <a:prstGeom prst="ellipse">
            <a:avLst/>
          </a:prstGeom>
          <a:solidFill>
            <a:srgbClr val="FFFFFF">
              <a:alpha val="12000"/>
            </a:srgbClr>
          </a:solidFill>
          <a:ln/>
        </p:spPr>
      </p:sp>
      <p:sp>
        <p:nvSpPr>
          <p:cNvPr id="3" name="Text 1"/>
          <p:cNvSpPr/>
          <p:nvPr/>
        </p:nvSpPr>
        <p:spPr>
          <a:xfrm>
            <a:off x="640080" y="960120"/>
            <a:ext cx="7863840" cy="365760"/>
          </a:xfrm>
          <a:prstGeom prst="rect">
            <a:avLst/>
          </a:prstGeom>
          <a:noFill/>
          <a:ln/>
        </p:spPr>
        <p:txBody>
          <a:bodyPr wrap="square" lIns="0" tIns="0" rIns="0" bIns="0" rtlCol="0" anchor="ctr"/>
          <a:lstStyle/>
          <a:p>
            <a:pPr indent="0" marL="0">
              <a:buNone/>
            </a:pPr>
            <a:r>
              <a:rPr lang="en-US" sz="1400" b="1" spc="300" kern="0" dirty="0">
                <a:solidFill>
                  <a:srgbClr val="EAECFB"/>
                </a:solidFill>
                <a:latin typeface="Inter" pitchFamily="34" charset="0"/>
                <a:ea typeface="Inter" pitchFamily="34" charset="-122"/>
                <a:cs typeface="Inter" pitchFamily="34" charset="-120"/>
              </a:rPr>
              <a:t>LA PREUVE</a:t>
            </a:r>
            <a:endParaRPr lang="en-US" sz="1400" dirty="0"/>
          </a:p>
        </p:txBody>
      </p:sp>
      <p:sp>
        <p:nvSpPr>
          <p:cNvPr id="4" name="Text 2"/>
          <p:cNvSpPr/>
          <p:nvPr/>
        </p:nvSpPr>
        <p:spPr>
          <a:xfrm>
            <a:off x="640080" y="1371600"/>
            <a:ext cx="7863840" cy="1188720"/>
          </a:xfrm>
          <a:prstGeom prst="rect">
            <a:avLst/>
          </a:prstGeom>
          <a:noFill/>
          <a:ln/>
        </p:spPr>
        <p:txBody>
          <a:bodyPr wrap="square" lIns="0" tIns="0" rIns="0" bIns="0" rtlCol="0" anchor="ctr"/>
          <a:lstStyle/>
          <a:p>
            <a:pPr indent="0" marL="0">
              <a:buNone/>
            </a:pPr>
            <a:r>
              <a:rPr lang="en-US" sz="6400" b="1" dirty="0">
                <a:solidFill>
                  <a:srgbClr val="FFFFFF"/>
                </a:solidFill>
                <a:latin typeface="Inter" pitchFamily="34" charset="0"/>
                <a:ea typeface="Inter" pitchFamily="34" charset="-122"/>
                <a:cs typeface="Inter" pitchFamily="34" charset="-120"/>
              </a:rPr>
              <a:t>150 000</a:t>
            </a:r>
            <a:endParaRPr lang="en-US" sz="6400" dirty="0"/>
          </a:p>
        </p:txBody>
      </p:sp>
      <p:sp>
        <p:nvSpPr>
          <p:cNvPr id="5" name="Text 3"/>
          <p:cNvSpPr/>
          <p:nvPr/>
        </p:nvSpPr>
        <p:spPr>
          <a:xfrm>
            <a:off x="658368" y="2697480"/>
            <a:ext cx="7680960" cy="1005840"/>
          </a:xfrm>
          <a:prstGeom prst="rect">
            <a:avLst/>
          </a:prstGeom>
          <a:noFill/>
          <a:ln/>
        </p:spPr>
        <p:txBody>
          <a:bodyPr wrap="square" lIns="0" tIns="0" rIns="0" bIns="0" rtlCol="0" anchor="ctr"/>
          <a:lstStyle/>
          <a:p>
            <a:pPr indent="0" marL="0">
              <a:lnSpc>
                <a:spcPct val="105000"/>
              </a:lnSpc>
              <a:buNone/>
            </a:pPr>
            <a:r>
              <a:rPr lang="en-US" sz="2000" dirty="0">
                <a:solidFill>
                  <a:srgbClr val="FFFFFF"/>
                </a:solidFill>
                <a:latin typeface="Inter" pitchFamily="34" charset="0"/>
                <a:ea typeface="Inter" pitchFamily="34" charset="-122"/>
                <a:cs typeface="Inter" pitchFamily="34" charset="-120"/>
              </a:rPr>
              <a:t>leads captés par UN seul quiz Beardbrand, qu'ils n'ont jamais eu à refaire. Un bon quiz, tu le mesures, tu l'affines, et tu le relances encore et encore.</a:t>
            </a:r>
            <a:endParaRPr lang="en-US" sz="2000" dirty="0"/>
          </a:p>
        </p:txBody>
      </p:sp>
      <p:sp>
        <p:nvSpPr>
          <p:cNvPr id="6" name="Text 4"/>
          <p:cNvSpPr/>
          <p:nvPr/>
        </p:nvSpPr>
        <p:spPr>
          <a:xfrm>
            <a:off x="658368" y="3886200"/>
            <a:ext cx="7680960" cy="365760"/>
          </a:xfrm>
          <a:prstGeom prst="rect">
            <a:avLst/>
          </a:prstGeom>
          <a:noFill/>
          <a:ln/>
        </p:spPr>
        <p:txBody>
          <a:bodyPr wrap="square" lIns="0" tIns="0" rIns="0" bIns="0" rtlCol="0" anchor="ctr"/>
          <a:lstStyle/>
          <a:p>
            <a:pPr indent="0" marL="0">
              <a:buNone/>
            </a:pPr>
            <a:r>
              <a:rPr lang="en-US" sz="1200" i="1" dirty="0">
                <a:solidFill>
                  <a:srgbClr val="EAECFB"/>
                </a:solidFill>
                <a:latin typeface="Inter" pitchFamily="34" charset="0"/>
                <a:ea typeface="Inter" pitchFamily="34" charset="-122"/>
                <a:cs typeface="Inter" pitchFamily="34" charset="-120"/>
              </a:rPr>
              <a:t>Source : étude de cas Beardbrand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Les 4 réflexes pour piloter ton quiz</a:t>
            </a:r>
            <a:endParaRPr lang="en-US" sz="3000" dirty="0"/>
          </a:p>
        </p:txBody>
      </p:sp>
      <p:sp>
        <p:nvSpPr>
          <p:cNvPr id="3" name="Shape 1"/>
          <p:cNvSpPr/>
          <p:nvPr/>
        </p:nvSpPr>
        <p:spPr>
          <a:xfrm>
            <a:off x="640080" y="1534478"/>
            <a:ext cx="457200" cy="457200"/>
          </a:xfrm>
          <a:prstGeom prst="ellipse">
            <a:avLst/>
          </a:prstGeom>
          <a:solidFill>
            <a:srgbClr val="5D6CDB"/>
          </a:solidFill>
          <a:ln/>
        </p:spPr>
      </p:sp>
      <p:sp>
        <p:nvSpPr>
          <p:cNvPr id="4" name="Text 2"/>
          <p:cNvSpPr/>
          <p:nvPr/>
        </p:nvSpPr>
        <p:spPr>
          <a:xfrm>
            <a:off x="640080" y="153447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1</a:t>
            </a:r>
            <a:endParaRPr lang="en-US" sz="1600" dirty="0"/>
          </a:p>
        </p:txBody>
      </p:sp>
      <p:sp>
        <p:nvSpPr>
          <p:cNvPr id="5" name="Text 3"/>
          <p:cNvSpPr/>
          <p:nvPr/>
        </p:nvSpPr>
        <p:spPr>
          <a:xfrm>
            <a:off x="1280160" y="1371600"/>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Lis ton quiz comme une histoire : vues, démarrages, fins, emails, ventes.</a:t>
            </a:r>
            <a:endParaRPr lang="en-US" sz="1600" dirty="0"/>
          </a:p>
        </p:txBody>
      </p:sp>
      <p:sp>
        <p:nvSpPr>
          <p:cNvPr id="6" name="Shape 4"/>
          <p:cNvSpPr/>
          <p:nvPr/>
        </p:nvSpPr>
        <p:spPr>
          <a:xfrm>
            <a:off x="640080" y="2317433"/>
            <a:ext cx="457200" cy="457200"/>
          </a:xfrm>
          <a:prstGeom prst="ellipse">
            <a:avLst/>
          </a:prstGeom>
          <a:solidFill>
            <a:srgbClr val="5D6CDB"/>
          </a:solidFill>
          <a:ln/>
        </p:spPr>
      </p:sp>
      <p:sp>
        <p:nvSpPr>
          <p:cNvPr id="7" name="Text 5"/>
          <p:cNvSpPr/>
          <p:nvPr/>
        </p:nvSpPr>
        <p:spPr>
          <a:xfrm>
            <a:off x="640080" y="231743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2</a:t>
            </a:r>
            <a:endParaRPr lang="en-US" sz="1600" dirty="0"/>
          </a:p>
        </p:txBody>
      </p:sp>
      <p:sp>
        <p:nvSpPr>
          <p:cNvPr id="8" name="Text 6"/>
          <p:cNvSpPr/>
          <p:nvPr/>
        </p:nvSpPr>
        <p:spPr>
          <a:xfrm>
            <a:off x="1280160" y="2154555"/>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Trouve LA marche où tu perds le plus de monde.</a:t>
            </a:r>
            <a:endParaRPr lang="en-US" sz="1600" dirty="0"/>
          </a:p>
        </p:txBody>
      </p:sp>
      <p:sp>
        <p:nvSpPr>
          <p:cNvPr id="9" name="Shape 7"/>
          <p:cNvSpPr/>
          <p:nvPr/>
        </p:nvSpPr>
        <p:spPr>
          <a:xfrm>
            <a:off x="640080" y="3100388"/>
            <a:ext cx="457200" cy="457200"/>
          </a:xfrm>
          <a:prstGeom prst="ellipse">
            <a:avLst/>
          </a:prstGeom>
          <a:solidFill>
            <a:srgbClr val="5D6CDB"/>
          </a:solidFill>
          <a:ln/>
        </p:spPr>
      </p:sp>
      <p:sp>
        <p:nvSpPr>
          <p:cNvPr id="10" name="Text 8"/>
          <p:cNvSpPr/>
          <p:nvPr/>
        </p:nvSpPr>
        <p:spPr>
          <a:xfrm>
            <a:off x="640080" y="31003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3</a:t>
            </a:r>
            <a:endParaRPr lang="en-US" sz="1600" dirty="0"/>
          </a:p>
        </p:txBody>
      </p:sp>
      <p:sp>
        <p:nvSpPr>
          <p:cNvPr id="11" name="Text 9"/>
          <p:cNvSpPr/>
          <p:nvPr/>
        </p:nvSpPr>
        <p:spPr>
          <a:xfrm>
            <a:off x="1280160" y="2937510"/>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Change une seule chose à la fois, puis recompare.</a:t>
            </a:r>
            <a:endParaRPr lang="en-US" sz="1600" dirty="0"/>
          </a:p>
        </p:txBody>
      </p:sp>
      <p:sp>
        <p:nvSpPr>
          <p:cNvPr id="12" name="Shape 10"/>
          <p:cNvSpPr/>
          <p:nvPr/>
        </p:nvSpPr>
        <p:spPr>
          <a:xfrm>
            <a:off x="640080" y="3883342"/>
            <a:ext cx="457200" cy="457200"/>
          </a:xfrm>
          <a:prstGeom prst="ellipse">
            <a:avLst/>
          </a:prstGeom>
          <a:solidFill>
            <a:srgbClr val="5D6CDB"/>
          </a:solidFill>
          <a:ln/>
        </p:spPr>
      </p:sp>
      <p:sp>
        <p:nvSpPr>
          <p:cNvPr id="13" name="Text 11"/>
          <p:cNvSpPr/>
          <p:nvPr/>
        </p:nvSpPr>
        <p:spPr>
          <a:xfrm>
            <a:off x="640080" y="388334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4</a:t>
            </a:r>
            <a:endParaRPr lang="en-US" sz="1600" dirty="0"/>
          </a:p>
        </p:txBody>
      </p:sp>
      <p:sp>
        <p:nvSpPr>
          <p:cNvPr id="14" name="Text 12"/>
          <p:cNvSpPr/>
          <p:nvPr/>
        </p:nvSpPr>
        <p:spPr>
          <a:xfrm>
            <a:off x="1280160" y="3720465"/>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L'IA de Tiquiz (plan Plus) fait l'analyse à ta place.</a:t>
            </a:r>
            <a:endParaRPr lang="en-US" sz="1600" dirty="0"/>
          </a:p>
        </p:txBody>
      </p:sp>
      <p:sp>
        <p:nvSpPr>
          <p:cNvPr id="15" name="Text 13"/>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731520"/>
          </a:xfrm>
          <a:prstGeom prst="rect">
            <a:avLst/>
          </a:prstGeom>
          <a:noFill/>
          <a:ln/>
        </p:spPr>
        <p:txBody>
          <a:bodyPr wrap="square" lIns="0" tIns="0" rIns="0" bIns="0" rtlCol="0" anchor="ctr"/>
          <a:lstStyle/>
          <a:p>
            <a:pPr indent="0" marL="0">
              <a:buNone/>
            </a:pPr>
            <a:r>
              <a:rPr lang="en-US" sz="2600" b="1" dirty="0">
                <a:solidFill>
                  <a:srgbClr val="2E386E"/>
                </a:solidFill>
                <a:latin typeface="Inter" pitchFamily="34" charset="0"/>
                <a:ea typeface="Inter" pitchFamily="34" charset="-122"/>
                <a:cs typeface="Inter" pitchFamily="34" charset="-120"/>
              </a:rPr>
              <a:t>Tes chiffres : où ça coince ?</a:t>
            </a:r>
            <a:endParaRPr lang="en-US" sz="2600" dirty="0"/>
          </a:p>
        </p:txBody>
      </p:sp>
      <p:sp>
        <p:nvSpPr>
          <p:cNvPr id="3" name="Shape 1"/>
          <p:cNvSpPr/>
          <p:nvPr/>
        </p:nvSpPr>
        <p:spPr>
          <a:xfrm>
            <a:off x="914400" y="1508760"/>
            <a:ext cx="7315200" cy="566928"/>
          </a:xfrm>
          <a:prstGeom prst="roundRect">
            <a:avLst>
              <a:gd name="adj" fmla="val 9677"/>
            </a:avLst>
          </a:prstGeom>
          <a:solidFill>
            <a:srgbClr val="5D6CDB"/>
          </a:solidFill>
          <a:ln/>
        </p:spPr>
      </p:sp>
      <p:sp>
        <p:nvSpPr>
          <p:cNvPr id="4" name="Text 2"/>
          <p:cNvSpPr/>
          <p:nvPr/>
        </p:nvSpPr>
        <p:spPr>
          <a:xfrm>
            <a:off x="914400" y="1508760"/>
            <a:ext cx="731520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Vues</a:t>
            </a:r>
            <a:endParaRPr lang="en-US" sz="1400" dirty="0"/>
          </a:p>
        </p:txBody>
      </p:sp>
      <p:sp>
        <p:nvSpPr>
          <p:cNvPr id="5" name="Shape 3"/>
          <p:cNvSpPr/>
          <p:nvPr/>
        </p:nvSpPr>
        <p:spPr>
          <a:xfrm>
            <a:off x="1463040" y="2240280"/>
            <a:ext cx="6217920" cy="566928"/>
          </a:xfrm>
          <a:prstGeom prst="roundRect">
            <a:avLst>
              <a:gd name="adj" fmla="val 9677"/>
            </a:avLst>
          </a:prstGeom>
          <a:solidFill>
            <a:srgbClr val="5D6CDB">
              <a:alpha val="89000"/>
            </a:srgbClr>
          </a:solidFill>
          <a:ln/>
        </p:spPr>
      </p:sp>
      <p:sp>
        <p:nvSpPr>
          <p:cNvPr id="6" name="Text 4"/>
          <p:cNvSpPr/>
          <p:nvPr/>
        </p:nvSpPr>
        <p:spPr>
          <a:xfrm>
            <a:off x="1463040" y="2240280"/>
            <a:ext cx="6217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Démarrages</a:t>
            </a:r>
            <a:endParaRPr lang="en-US" sz="1400" dirty="0"/>
          </a:p>
        </p:txBody>
      </p:sp>
      <p:sp>
        <p:nvSpPr>
          <p:cNvPr id="7" name="Shape 5"/>
          <p:cNvSpPr/>
          <p:nvPr/>
        </p:nvSpPr>
        <p:spPr>
          <a:xfrm>
            <a:off x="2011680" y="2971800"/>
            <a:ext cx="5120640" cy="566928"/>
          </a:xfrm>
          <a:prstGeom prst="roundRect">
            <a:avLst>
              <a:gd name="adj" fmla="val 9677"/>
            </a:avLst>
          </a:prstGeom>
          <a:solidFill>
            <a:srgbClr val="5D6CDB">
              <a:alpha val="78000"/>
            </a:srgbClr>
          </a:solidFill>
          <a:ln/>
        </p:spPr>
      </p:sp>
      <p:sp>
        <p:nvSpPr>
          <p:cNvPr id="8" name="Text 6"/>
          <p:cNvSpPr/>
          <p:nvPr/>
        </p:nvSpPr>
        <p:spPr>
          <a:xfrm>
            <a:off x="2011680" y="2971800"/>
            <a:ext cx="51206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Quiz finis</a:t>
            </a:r>
            <a:endParaRPr lang="en-US" sz="1400" dirty="0"/>
          </a:p>
        </p:txBody>
      </p:sp>
      <p:sp>
        <p:nvSpPr>
          <p:cNvPr id="9" name="Shape 7"/>
          <p:cNvSpPr/>
          <p:nvPr/>
        </p:nvSpPr>
        <p:spPr>
          <a:xfrm>
            <a:off x="2560320" y="3703320"/>
            <a:ext cx="4023360" cy="566928"/>
          </a:xfrm>
          <a:prstGeom prst="roundRect">
            <a:avLst>
              <a:gd name="adj" fmla="val 9677"/>
            </a:avLst>
          </a:prstGeom>
          <a:solidFill>
            <a:srgbClr val="5D6CDB">
              <a:alpha val="67000"/>
            </a:srgbClr>
          </a:solidFill>
          <a:ln/>
        </p:spPr>
      </p:sp>
      <p:sp>
        <p:nvSpPr>
          <p:cNvPr id="10" name="Text 8"/>
          <p:cNvSpPr/>
          <p:nvPr/>
        </p:nvSpPr>
        <p:spPr>
          <a:xfrm>
            <a:off x="2560320" y="3703320"/>
            <a:ext cx="402336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Captures</a:t>
            </a:r>
            <a:endParaRPr lang="en-US" sz="1400" dirty="0"/>
          </a:p>
        </p:txBody>
      </p:sp>
      <p:sp>
        <p:nvSpPr>
          <p:cNvPr id="11" name="Shape 9"/>
          <p:cNvSpPr/>
          <p:nvPr/>
        </p:nvSpPr>
        <p:spPr>
          <a:xfrm>
            <a:off x="3108960" y="4434840"/>
            <a:ext cx="2926080" cy="566928"/>
          </a:xfrm>
          <a:prstGeom prst="roundRect">
            <a:avLst>
              <a:gd name="adj" fmla="val 9677"/>
            </a:avLst>
          </a:prstGeom>
          <a:solidFill>
            <a:srgbClr val="5D6CDB">
              <a:alpha val="56000"/>
            </a:srgbClr>
          </a:solidFill>
          <a:ln/>
        </p:spPr>
      </p:sp>
      <p:sp>
        <p:nvSpPr>
          <p:cNvPr id="12" name="Text 10"/>
          <p:cNvSpPr/>
          <p:nvPr/>
        </p:nvSpPr>
        <p:spPr>
          <a:xfrm>
            <a:off x="3108960" y="4434840"/>
            <a:ext cx="292608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Clients</a:t>
            </a:r>
            <a:endParaRPr lang="en-US" sz="1400" dirty="0"/>
          </a:p>
        </p:txBody>
      </p:sp>
      <p:sp>
        <p:nvSpPr>
          <p:cNvPr id="13" name="Text 11"/>
          <p:cNvSpPr/>
          <p:nvPr/>
        </p:nvSpPr>
        <p:spPr>
          <a:xfrm>
            <a:off x="640080" y="5212080"/>
            <a:ext cx="7863840" cy="457200"/>
          </a:xfrm>
          <a:prstGeom prst="rect">
            <a:avLst/>
          </a:prstGeom>
          <a:noFill/>
          <a:ln/>
        </p:spPr>
        <p:txBody>
          <a:bodyPr wrap="square" lIns="0" tIns="0" rIns="0" bIns="0" rtlCol="0" anchor="ctr"/>
          <a:lstStyle/>
          <a:p>
            <a:pPr algn="ctr" indent="0" marL="0">
              <a:buNone/>
            </a:pPr>
            <a:r>
              <a:rPr lang="en-US" sz="1400" i="1" dirty="0">
                <a:solidFill>
                  <a:srgbClr val="6B73A0"/>
                </a:solidFill>
                <a:latin typeface="Inter" pitchFamily="34" charset="0"/>
                <a:ea typeface="Inter" pitchFamily="34" charset="-122"/>
                <a:cs typeface="Inter" pitchFamily="34" charset="-120"/>
              </a:rPr>
              <a:t>Tu repères la marche qui perd le plus de monde, et tu répares celle-là en premier.</a:t>
            </a:r>
            <a:endParaRPr lang="en-US" sz="1400" dirty="0"/>
          </a:p>
        </p:txBody>
      </p:sp>
      <p:sp>
        <p:nvSpPr>
          <p:cNvPr id="14" name="Text 1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1/3</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Répare une seule chose à la fois</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Tu trouves le point qui perd le plus de monde, tu changes UNE chose, puis tu regardes le résultat.</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Si tu changes 5 trucs d'un coup et que ça marche mieux, tu ne sais pas lequel a aidé. Tu ne peux pas le refaire.</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C'est la base de tous les pros : on teste un seul changement à la fois pour savoir ce qui marche vraiment.</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Regarde tes chiffres Tiquiz, répare l'endroit qui coince le plus, attends quelques jours, puis recompare.</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Répare une seule chose à la fois</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Tes chiffres montrent que beaucoup démarrent mais peu finissent. Tu raccourcis ton quiz de 10 à 6 questions, et tu ne touches à rien d'autre. Une semaine plus tard, ton taux de fin a grimpé : tu sais que c'était la longueur.</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2/3</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Verse plus là où ça marche déjà</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Tu regardes d'où viennent tes meilleurs visiteurs et tes ventes, et tu mets plus d'énergie sur cette source.</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La plupart des gens s'acharnent sur ce qui rate. Les pros doublent ce qui gagne déjà : c'est là que les résultats sont les plus faciles.</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C'est la loi du 80/20 : une petite partie de tes efforts amène l'essentiel de tes résultats.</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Repère ta source n°1 de trafic ou de ventes dans tes chiffres, et concentre-toi dessus la semaine prochaine.</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Verse plus là où ça marche déjà</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Tu vois que ton quiz cartonne quand tu le mets en story Instagram, mais fait un flop sur LinkedIn. Tu arrêtes de t'épuiser sur LinkedIn et tu publies trois stories de plus cette semaine. Tu vas chercher l'argent là où il est.</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3/3</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Relance le même quiz</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Tous les 3 mois, tu repartages le même quiz avec une nouvelle phrase d'accroche.</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Un quiz qui parle des gens reste vrai tout le temps. Tu peux donc le ressortir sans le refaire, encore et encore.</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Beardbrand utilise le même quiz depuis des années : des leads en continu, sans le recréer.</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Mets un rappel tous les 3 mois pour repartager ton quiz avec un nouveau message et de nouveaux endroits.</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Relance le même quiz</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En janvier tu lances ton quiz « Quel type de créateur es-tu ? ». En avril, tu le ressors avec « Tu repars de zéro ce trimestre ? Découvre ton profil. » Même quiz, nouveau prétexte, nouveau pic de leads.</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L'erreur à éviter</a:t>
            </a:r>
            <a:endParaRPr lang="en-US" sz="3000" dirty="0"/>
          </a:p>
        </p:txBody>
      </p:sp>
      <p:sp>
        <p:nvSpPr>
          <p:cNvPr id="3" name="Shape 1"/>
          <p:cNvSpPr/>
          <p:nvPr/>
        </p:nvSpPr>
        <p:spPr>
          <a:xfrm>
            <a:off x="640080" y="1554480"/>
            <a:ext cx="7863840" cy="1188720"/>
          </a:xfrm>
          <a:prstGeom prst="roundRect">
            <a:avLst>
              <a:gd name="adj" fmla="val 9231"/>
            </a:avLst>
          </a:prstGeom>
          <a:solidFill>
            <a:srgbClr val="FBEAF0"/>
          </a:solidFill>
          <a:ln/>
        </p:spPr>
      </p:sp>
      <p:sp>
        <p:nvSpPr>
          <p:cNvPr id="4" name="Text 2"/>
          <p:cNvSpPr/>
          <p:nvPr/>
        </p:nvSpPr>
        <p:spPr>
          <a:xfrm>
            <a:off x="914400" y="1554480"/>
            <a:ext cx="7315200" cy="1188720"/>
          </a:xfrm>
          <a:prstGeom prst="rect">
            <a:avLst/>
          </a:prstGeom>
          <a:noFill/>
          <a:ln/>
        </p:spPr>
        <p:txBody>
          <a:bodyPr wrap="square" lIns="0" tIns="0" rIns="0" bIns="0" rtlCol="0" anchor="ctr"/>
          <a:lstStyle/>
          <a:p>
            <a:pPr indent="0" marL="0">
              <a:lnSpc>
                <a:spcPct val="110000"/>
              </a:lnSpc>
              <a:buNone/>
            </a:pPr>
            <a:r>
              <a:rPr lang="en-US" sz="1600" b="1" dirty="0">
                <a:solidFill>
                  <a:srgbClr val="E5577D"/>
                </a:solidFill>
                <a:latin typeface="Inter" pitchFamily="34" charset="0"/>
                <a:ea typeface="Inter" pitchFamily="34" charset="-122"/>
                <a:cs typeface="Inter" pitchFamily="34" charset="-120"/>
              </a:rPr>
              <a:t>L'erreur :  </a:t>
            </a:r>
            <a:pPr indent="0" marL="0">
              <a:lnSpc>
                <a:spcPct val="110000"/>
              </a:lnSpc>
              <a:buNone/>
            </a:pPr>
            <a:r>
              <a:rPr lang="en-US" sz="1600" dirty="0">
                <a:solidFill>
                  <a:srgbClr val="2E386E"/>
                </a:solidFill>
                <a:latin typeface="Inter" pitchFamily="34" charset="0"/>
                <a:ea typeface="Inter" pitchFamily="34" charset="-122"/>
                <a:cs typeface="Inter" pitchFamily="34" charset="-120"/>
              </a:rPr>
              <a:t>Ne jamais regarder tes chiffres et avancer au feeling : tu ne sais pas ce qui marche, tu refais les mêmes erreurs, et tu t'épuises.</a:t>
            </a:r>
            <a:endParaRPr lang="en-US" sz="1600" dirty="0"/>
          </a:p>
        </p:txBody>
      </p:sp>
      <p:sp>
        <p:nvSpPr>
          <p:cNvPr id="5" name="Shape 3"/>
          <p:cNvSpPr/>
          <p:nvPr/>
        </p:nvSpPr>
        <p:spPr>
          <a:xfrm>
            <a:off x="640080" y="2926080"/>
            <a:ext cx="7863840" cy="1188720"/>
          </a:xfrm>
          <a:prstGeom prst="roundRect">
            <a:avLst>
              <a:gd name="adj" fmla="val 9231"/>
            </a:avLst>
          </a:prstGeom>
          <a:solidFill>
            <a:srgbClr val="EAF7F0"/>
          </a:solidFill>
          <a:ln/>
        </p:spPr>
      </p:sp>
      <p:sp>
        <p:nvSpPr>
          <p:cNvPr id="6" name="Text 4"/>
          <p:cNvSpPr/>
          <p:nvPr/>
        </p:nvSpPr>
        <p:spPr>
          <a:xfrm>
            <a:off x="914400" y="2926080"/>
            <a:ext cx="7315200" cy="1188720"/>
          </a:xfrm>
          <a:prstGeom prst="rect">
            <a:avLst/>
          </a:prstGeom>
          <a:noFill/>
          <a:ln/>
        </p:spPr>
        <p:txBody>
          <a:bodyPr wrap="square" lIns="0" tIns="0" rIns="0" bIns="0" rtlCol="0" anchor="ctr"/>
          <a:lstStyle/>
          <a:p>
            <a:pPr indent="0" marL="0">
              <a:lnSpc>
                <a:spcPct val="110000"/>
              </a:lnSpc>
              <a:buNone/>
            </a:pPr>
            <a:r>
              <a:rPr lang="en-US" sz="1600" b="1" dirty="0">
                <a:solidFill>
                  <a:srgbClr val="2BB673"/>
                </a:solidFill>
                <a:latin typeface="Inter" pitchFamily="34" charset="0"/>
                <a:ea typeface="Inter" pitchFamily="34" charset="-122"/>
                <a:cs typeface="Inter" pitchFamily="34" charset="-120"/>
              </a:rPr>
              <a:t>La solution :  </a:t>
            </a:r>
            <a:pPr indent="0" marL="0">
              <a:lnSpc>
                <a:spcPct val="110000"/>
              </a:lnSpc>
              <a:buNone/>
            </a:pPr>
            <a:r>
              <a:rPr lang="en-US" sz="1600" dirty="0">
                <a:solidFill>
                  <a:srgbClr val="2E386E"/>
                </a:solidFill>
                <a:latin typeface="Inter" pitchFamily="34" charset="0"/>
                <a:ea typeface="Inter" pitchFamily="34" charset="-122"/>
                <a:cs typeface="Inter" pitchFamily="34" charset="-120"/>
              </a:rPr>
              <a:t>Bloque 15 minutes par mois pour lire tes chiffres. Un coup d'oeil régulier te montre où agir, et t'évite de travailler dans le vide.</a:t>
            </a:r>
            <a:endParaRPr lang="en-US" sz="1600" dirty="0"/>
          </a:p>
        </p:txBody>
      </p:sp>
      <p:sp>
        <p:nvSpPr>
          <p:cNvPr id="7" name="Text 5"/>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5D6CDB">
              <a:alpha val="30000"/>
            </a:srgbClr>
          </a:solidFill>
          <a:ln/>
        </p:spPr>
      </p:sp>
      <p:sp>
        <p:nvSpPr>
          <p:cNvPr id="3" name="Shape 1"/>
          <p:cNvSpPr/>
          <p:nvPr/>
        </p:nvSpPr>
        <p:spPr>
          <a:xfrm>
            <a:off x="8686800" y="4023360"/>
            <a:ext cx="1554480" cy="1554480"/>
          </a:xfrm>
          <a:prstGeom prst="ellipse">
            <a:avLst/>
          </a:prstGeom>
          <a:solidFill>
            <a:srgbClr val="5D6CDB">
              <a:alpha val="20000"/>
            </a:srgbClr>
          </a:solidFill>
          <a:ln/>
        </p:spPr>
      </p:sp>
      <p:sp>
        <p:nvSpPr>
          <p:cNvPr id="4" name="Text 2"/>
          <p:cNvSpPr/>
          <p:nvPr/>
        </p:nvSpPr>
        <p:spPr>
          <a:xfrm>
            <a:off x="640080" y="548640"/>
            <a:ext cx="7863840" cy="457200"/>
          </a:xfrm>
          <a:prstGeom prst="rect">
            <a:avLst/>
          </a:prstGeom>
          <a:noFill/>
          <a:ln/>
        </p:spPr>
        <p:txBody>
          <a:bodyPr wrap="square" lIns="0" tIns="0" rIns="0" bIns="0" rtlCol="0" anchor="ctr"/>
          <a:lstStyle/>
          <a:p>
            <a:pPr indent="0" marL="0">
              <a:buNone/>
            </a:pPr>
            <a:r>
              <a:rPr lang="en-US" sz="1500" b="1" spc="200" kern="0" dirty="0">
                <a:solidFill>
                  <a:srgbClr val="F5B301"/>
                </a:solidFill>
                <a:latin typeface="Inter" pitchFamily="34" charset="0"/>
                <a:ea typeface="Inter" pitchFamily="34" charset="-122"/>
                <a:cs typeface="Inter" pitchFamily="34" charset="-120"/>
              </a:rPr>
              <a:t>CE QUE TU SAIS MAINTENANT</a:t>
            </a:r>
            <a:endParaRPr lang="en-US" sz="1500" dirty="0"/>
          </a:p>
        </p:txBody>
      </p:sp>
      <p:sp>
        <p:nvSpPr>
          <p:cNvPr id="5" name="Shape 3"/>
          <p:cNvSpPr/>
          <p:nvPr/>
        </p:nvSpPr>
        <p:spPr>
          <a:xfrm>
            <a:off x="640080" y="1502474"/>
            <a:ext cx="384048" cy="384048"/>
          </a:xfrm>
          <a:prstGeom prst="ellipse">
            <a:avLst/>
          </a:prstGeom>
          <a:solidFill>
            <a:srgbClr val="2BB673"/>
          </a:solidFill>
          <a:ln/>
        </p:spPr>
      </p:sp>
      <p:sp>
        <p:nvSpPr>
          <p:cNvPr id="6" name="Text 4"/>
          <p:cNvSpPr/>
          <p:nvPr/>
        </p:nvSpPr>
        <p:spPr>
          <a:xfrm>
            <a:off x="640080" y="150247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7" name="Text 5"/>
          <p:cNvSpPr/>
          <p:nvPr/>
        </p:nvSpPr>
        <p:spPr>
          <a:xfrm>
            <a:off x="1234440" y="1325880"/>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lire ton quiz comme une histoire : vues, démarrages, fins, emails, ventes.</a:t>
            </a:r>
            <a:endParaRPr lang="en-US" sz="1550" dirty="0"/>
          </a:p>
        </p:txBody>
      </p:sp>
      <p:sp>
        <p:nvSpPr>
          <p:cNvPr id="8" name="Shape 6"/>
          <p:cNvSpPr/>
          <p:nvPr/>
        </p:nvSpPr>
        <p:spPr>
          <a:xfrm>
            <a:off x="640080" y="2239708"/>
            <a:ext cx="384048" cy="384048"/>
          </a:xfrm>
          <a:prstGeom prst="ellipse">
            <a:avLst/>
          </a:prstGeom>
          <a:solidFill>
            <a:srgbClr val="2BB673"/>
          </a:solidFill>
          <a:ln/>
        </p:spPr>
      </p:sp>
      <p:sp>
        <p:nvSpPr>
          <p:cNvPr id="9" name="Text 7"/>
          <p:cNvSpPr/>
          <p:nvPr/>
        </p:nvSpPr>
        <p:spPr>
          <a:xfrm>
            <a:off x="640080" y="22397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10" name="Text 8"/>
          <p:cNvSpPr/>
          <p:nvPr/>
        </p:nvSpPr>
        <p:spPr>
          <a:xfrm>
            <a:off x="1234440" y="2063115"/>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trouver le point qui coince, et n'en réparer qu'un seul à la fois.</a:t>
            </a:r>
            <a:endParaRPr lang="en-US" sz="1550" dirty="0"/>
          </a:p>
        </p:txBody>
      </p:sp>
      <p:sp>
        <p:nvSpPr>
          <p:cNvPr id="11" name="Shape 9"/>
          <p:cNvSpPr/>
          <p:nvPr/>
        </p:nvSpPr>
        <p:spPr>
          <a:xfrm>
            <a:off x="640080" y="2976944"/>
            <a:ext cx="384048" cy="384048"/>
          </a:xfrm>
          <a:prstGeom prst="ellipse">
            <a:avLst/>
          </a:prstGeom>
          <a:solidFill>
            <a:srgbClr val="2BB673"/>
          </a:solidFill>
          <a:ln/>
        </p:spPr>
      </p:sp>
      <p:sp>
        <p:nvSpPr>
          <p:cNvPr id="12" name="Text 10"/>
          <p:cNvSpPr/>
          <p:nvPr/>
        </p:nvSpPr>
        <p:spPr>
          <a:xfrm>
            <a:off x="640080" y="29769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13" name="Text 11"/>
          <p:cNvSpPr/>
          <p:nvPr/>
        </p:nvSpPr>
        <p:spPr>
          <a:xfrm>
            <a:off x="1234440" y="2800350"/>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que l'IA de Tiquiz (plan Plus) fait l'analyse à ta place.</a:t>
            </a:r>
            <a:endParaRPr lang="en-US" sz="1550" dirty="0"/>
          </a:p>
        </p:txBody>
      </p:sp>
      <p:sp>
        <p:nvSpPr>
          <p:cNvPr id="14" name="Shape 12"/>
          <p:cNvSpPr/>
          <p:nvPr/>
        </p:nvSpPr>
        <p:spPr>
          <a:xfrm>
            <a:off x="640080" y="3714178"/>
            <a:ext cx="384048" cy="384048"/>
          </a:xfrm>
          <a:prstGeom prst="ellipse">
            <a:avLst/>
          </a:prstGeom>
          <a:solidFill>
            <a:srgbClr val="2BB673"/>
          </a:solidFill>
          <a:ln/>
        </p:spPr>
      </p:sp>
      <p:sp>
        <p:nvSpPr>
          <p:cNvPr id="15" name="Text 13"/>
          <p:cNvSpPr/>
          <p:nvPr/>
        </p:nvSpPr>
        <p:spPr>
          <a:xfrm>
            <a:off x="640080" y="371417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16" name="Text 14"/>
          <p:cNvSpPr/>
          <p:nvPr/>
        </p:nvSpPr>
        <p:spPr>
          <a:xfrm>
            <a:off x="1234440" y="3537585"/>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qu'un bon quiz se relance, encore et encore.</a:t>
            </a:r>
            <a:endParaRPr lang="en-US" sz="1550" dirty="0"/>
          </a:p>
        </p:txBody>
      </p:sp>
      <p:sp>
        <p:nvSpPr>
          <p:cNvPr id="17" name="Text 15"/>
          <p:cNvSpPr/>
          <p:nvPr/>
        </p:nvSpPr>
        <p:spPr>
          <a:xfrm>
            <a:off x="658368" y="4457700"/>
            <a:ext cx="7863840" cy="365760"/>
          </a:xfrm>
          <a:prstGeom prst="rect">
            <a:avLst/>
          </a:prstGeom>
          <a:noFill/>
          <a:ln/>
        </p:spPr>
        <p:txBody>
          <a:bodyPr wrap="square" lIns="0" tIns="0" rIns="0" bIns="0" rtlCol="0" anchor="ctr"/>
          <a:lstStyle/>
          <a:p>
            <a:pPr indent="0" marL="0">
              <a:buNone/>
            </a:pPr>
            <a:r>
              <a:rPr lang="en-US" sz="1350" i="1" dirty="0">
                <a:solidFill>
                  <a:srgbClr val="EAECFB"/>
                </a:solidFill>
                <a:latin typeface="Inter" pitchFamily="34" charset="0"/>
                <a:ea typeface="Inter" pitchFamily="34" charset="-122"/>
                <a:cs typeface="Inter" pitchFamily="34" charset="-120"/>
              </a:rPr>
              <a:t>Tu peux déjà l'expliquer à quelqu'un qui n'y connaît rien.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31520" y="3291840"/>
            <a:ext cx="2377440" cy="2377440"/>
          </a:xfrm>
          <a:prstGeom prst="ellipse">
            <a:avLst/>
          </a:prstGeom>
          <a:solidFill>
            <a:srgbClr val="5D6CDB">
              <a:alpha val="45000"/>
            </a:srgbClr>
          </a:solidFill>
          <a:ln/>
        </p:spPr>
      </p:sp>
      <p:sp>
        <p:nvSpPr>
          <p:cNvPr id="3" name="Text 1"/>
          <p:cNvSpPr/>
          <p:nvPr/>
        </p:nvSpPr>
        <p:spPr>
          <a:xfrm>
            <a:off x="640080" y="1371600"/>
            <a:ext cx="7863840" cy="548640"/>
          </a:xfrm>
          <a:prstGeom prst="rect">
            <a:avLst/>
          </a:prstGeom>
          <a:noFill/>
          <a:ln/>
        </p:spPr>
        <p:txBody>
          <a:bodyPr wrap="square" lIns="0" tIns="0" rIns="0" bIns="0" rtlCol="0" anchor="ctr"/>
          <a:lstStyle/>
          <a:p>
            <a:pPr indent="0" marL="0">
              <a:buNone/>
            </a:pPr>
            <a:r>
              <a:rPr lang="en-US" sz="1600" b="1" spc="300" kern="0" dirty="0">
                <a:solidFill>
                  <a:srgbClr val="F5B301"/>
                </a:solidFill>
                <a:latin typeface="Inter" pitchFamily="34" charset="0"/>
                <a:ea typeface="Inter" pitchFamily="34" charset="-122"/>
                <a:cs typeface="Inter" pitchFamily="34" charset="-120"/>
              </a:rPr>
              <a:t>ON PASSE À L'ÉCRAN</a:t>
            </a:r>
            <a:endParaRPr lang="en-US" sz="1600" dirty="0"/>
          </a:p>
        </p:txBody>
      </p:sp>
      <p:sp>
        <p:nvSpPr>
          <p:cNvPr id="4" name="Text 2"/>
          <p:cNvSpPr/>
          <p:nvPr/>
        </p:nvSpPr>
        <p:spPr>
          <a:xfrm>
            <a:off x="640080" y="1965960"/>
            <a:ext cx="7863840" cy="146304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Inter" pitchFamily="34" charset="0"/>
                <a:ea typeface="Inter" pitchFamily="34" charset="-122"/>
                <a:cs typeface="Inter" pitchFamily="34" charset="-120"/>
              </a:rPr>
              <a:t>Lire tes chiffres dans Tiquiz, repérer le point qui coince, et lancer l'analyse IA sur tes résultats (plan Plus).</a:t>
            </a:r>
            <a:endParaRPr lang="en-US" sz="3000" dirty="0"/>
          </a:p>
        </p:txBody>
      </p:sp>
      <p:sp>
        <p:nvSpPr>
          <p:cNvPr id="5" name="Text 3"/>
          <p:cNvSpPr/>
          <p:nvPr/>
        </p:nvSpPr>
        <p:spPr>
          <a:xfrm>
            <a:off x="658368" y="3611880"/>
            <a:ext cx="7315200" cy="457200"/>
          </a:xfrm>
          <a:prstGeom prst="rect">
            <a:avLst/>
          </a:prstGeom>
          <a:noFill/>
          <a:ln/>
        </p:spPr>
        <p:txBody>
          <a:bodyPr wrap="square" lIns="0" tIns="0" rIns="0" bIns="0" rtlCol="0" anchor="ctr"/>
          <a:lstStyle/>
          <a:p>
            <a:pPr indent="0" marL="0">
              <a:buNone/>
            </a:pPr>
            <a:r>
              <a:rPr lang="en-US" sz="1500" i="1" dirty="0">
                <a:solidFill>
                  <a:srgbClr val="EAECFB"/>
                </a:solidFill>
                <a:latin typeface="Inter" pitchFamily="34" charset="0"/>
                <a:ea typeface="Inter" pitchFamily="34" charset="-122"/>
                <a:cs typeface="Inter" pitchFamily="34" charset="-120"/>
              </a:rPr>
              <a:t>Je te montre en direct, suis pas à pas.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Ta mission du jour</a:t>
            </a:r>
            <a:endParaRPr lang="en-US" sz="3000" dirty="0"/>
          </a:p>
        </p:txBody>
      </p:sp>
      <p:sp>
        <p:nvSpPr>
          <p:cNvPr id="3" name="Text 1"/>
          <p:cNvSpPr/>
          <p:nvPr/>
        </p:nvSpPr>
        <p:spPr>
          <a:xfrm>
            <a:off x="658368" y="1078992"/>
            <a:ext cx="7863840" cy="365760"/>
          </a:xfrm>
          <a:prstGeom prst="rect">
            <a:avLst/>
          </a:prstGeom>
          <a:noFill/>
          <a:ln/>
        </p:spPr>
        <p:txBody>
          <a:bodyPr wrap="square" lIns="0" tIns="0" rIns="0" bIns="0" rtlCol="0" anchor="ctr"/>
          <a:lstStyle/>
          <a:p>
            <a:pPr indent="0" marL="0">
              <a:buNone/>
            </a:pPr>
            <a:r>
              <a:rPr lang="en-US" sz="1350" i="1" dirty="0">
                <a:solidFill>
                  <a:srgbClr val="6B73A0"/>
                </a:solidFill>
                <a:latin typeface="Inter" pitchFamily="34" charset="0"/>
                <a:ea typeface="Inter" pitchFamily="34" charset="-122"/>
                <a:cs typeface="Inter" pitchFamily="34" charset="-120"/>
              </a:rPr>
              <a:t>Tu valides le quiz du jour pour débloquer le suivant.</a:t>
            </a:r>
            <a:endParaRPr lang="en-US" sz="1350" dirty="0"/>
          </a:p>
        </p:txBody>
      </p:sp>
      <p:sp>
        <p:nvSpPr>
          <p:cNvPr id="4" name="Shape 2"/>
          <p:cNvSpPr/>
          <p:nvPr/>
        </p:nvSpPr>
        <p:spPr>
          <a:xfrm>
            <a:off x="640080" y="1853375"/>
            <a:ext cx="402336" cy="402336"/>
          </a:xfrm>
          <a:prstGeom prst="ellipse">
            <a:avLst/>
          </a:prstGeom>
          <a:solidFill>
            <a:srgbClr val="2BB673"/>
          </a:solidFill>
          <a:ln/>
        </p:spPr>
      </p:sp>
      <p:sp>
        <p:nvSpPr>
          <p:cNvPr id="5" name="Text 3"/>
          <p:cNvSpPr/>
          <p:nvPr/>
        </p:nvSpPr>
        <p:spPr>
          <a:xfrm>
            <a:off x="640080" y="185337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6" name="Text 4"/>
          <p:cNvSpPr/>
          <p:nvPr/>
        </p:nvSpPr>
        <p:spPr>
          <a:xfrm>
            <a:off x="1234440" y="1691640"/>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Repère le point qui coince le plus dans tes chiffres</a:t>
            </a:r>
            <a:endParaRPr lang="en-US" sz="1550" dirty="0"/>
          </a:p>
        </p:txBody>
      </p:sp>
      <p:sp>
        <p:nvSpPr>
          <p:cNvPr id="7" name="Shape 5"/>
          <p:cNvSpPr/>
          <p:nvPr/>
        </p:nvSpPr>
        <p:spPr>
          <a:xfrm>
            <a:off x="640080" y="2579179"/>
            <a:ext cx="402336" cy="402336"/>
          </a:xfrm>
          <a:prstGeom prst="ellipse">
            <a:avLst/>
          </a:prstGeom>
          <a:solidFill>
            <a:srgbClr val="2BB673"/>
          </a:solidFill>
          <a:ln/>
        </p:spPr>
      </p:sp>
      <p:sp>
        <p:nvSpPr>
          <p:cNvPr id="8" name="Text 6"/>
          <p:cNvSpPr/>
          <p:nvPr/>
        </p:nvSpPr>
        <p:spPr>
          <a:xfrm>
            <a:off x="640080" y="257917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9" name="Text 7"/>
          <p:cNvSpPr/>
          <p:nvPr/>
        </p:nvSpPr>
        <p:spPr>
          <a:xfrm>
            <a:off x="1234440" y="2417445"/>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Change une seule chose, et note-la</a:t>
            </a:r>
            <a:endParaRPr lang="en-US" sz="1550" dirty="0"/>
          </a:p>
        </p:txBody>
      </p:sp>
      <p:sp>
        <p:nvSpPr>
          <p:cNvPr id="10" name="Shape 8"/>
          <p:cNvSpPr/>
          <p:nvPr/>
        </p:nvSpPr>
        <p:spPr>
          <a:xfrm>
            <a:off x="640080" y="3304985"/>
            <a:ext cx="402336" cy="402336"/>
          </a:xfrm>
          <a:prstGeom prst="ellipse">
            <a:avLst/>
          </a:prstGeom>
          <a:solidFill>
            <a:srgbClr val="2BB673"/>
          </a:solidFill>
          <a:ln/>
        </p:spPr>
      </p:sp>
      <p:sp>
        <p:nvSpPr>
          <p:cNvPr id="11" name="Text 9"/>
          <p:cNvSpPr/>
          <p:nvPr/>
        </p:nvSpPr>
        <p:spPr>
          <a:xfrm>
            <a:off x="640080" y="330498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12" name="Text 10"/>
          <p:cNvSpPr/>
          <p:nvPr/>
        </p:nvSpPr>
        <p:spPr>
          <a:xfrm>
            <a:off x="1234440" y="3143250"/>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Lance l'analyse IA si tu es sur le plan Plus</a:t>
            </a:r>
            <a:endParaRPr lang="en-US" sz="1550" dirty="0"/>
          </a:p>
        </p:txBody>
      </p:sp>
      <p:sp>
        <p:nvSpPr>
          <p:cNvPr id="13" name="Shape 11"/>
          <p:cNvSpPr/>
          <p:nvPr/>
        </p:nvSpPr>
        <p:spPr>
          <a:xfrm>
            <a:off x="640080" y="4030789"/>
            <a:ext cx="402336" cy="402336"/>
          </a:xfrm>
          <a:prstGeom prst="ellipse">
            <a:avLst/>
          </a:prstGeom>
          <a:solidFill>
            <a:srgbClr val="2BB673"/>
          </a:solidFill>
          <a:ln/>
        </p:spPr>
      </p:sp>
      <p:sp>
        <p:nvSpPr>
          <p:cNvPr id="14" name="Text 12"/>
          <p:cNvSpPr/>
          <p:nvPr/>
        </p:nvSpPr>
        <p:spPr>
          <a:xfrm>
            <a:off x="640080" y="40307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15" name="Text 13"/>
          <p:cNvSpPr/>
          <p:nvPr/>
        </p:nvSpPr>
        <p:spPr>
          <a:xfrm>
            <a:off x="1234440" y="3869055"/>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Écris ton plan pour les 30 prochains jours</a:t>
            </a:r>
            <a:endParaRPr lang="en-US" sz="1550" dirty="0"/>
          </a:p>
        </p:txBody>
      </p:sp>
      <p:sp>
        <p:nvSpPr>
          <p:cNvPr id="16"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5D6CDB">
              <a:alpha val="30000"/>
            </a:srgbClr>
          </a:solidFill>
          <a:ln/>
        </p:spPr>
      </p:sp>
      <p:sp>
        <p:nvSpPr>
          <p:cNvPr id="3" name="Shape 1"/>
          <p:cNvSpPr/>
          <p:nvPr/>
        </p:nvSpPr>
        <p:spPr>
          <a:xfrm>
            <a:off x="8686800" y="4023360"/>
            <a:ext cx="1554480" cy="1554480"/>
          </a:xfrm>
          <a:prstGeom prst="ellipse">
            <a:avLst/>
          </a:prstGeom>
          <a:solidFill>
            <a:srgbClr val="5D6CDB">
              <a:alpha val="20000"/>
            </a:srgbClr>
          </a:solidFill>
          <a:ln/>
        </p:spPr>
      </p:sp>
      <p:sp>
        <p:nvSpPr>
          <p:cNvPr id="4" name="Text 2"/>
          <p:cNvSpPr/>
          <p:nvPr/>
        </p:nvSpPr>
        <p:spPr>
          <a:xfrm>
            <a:off x="640080" y="1280160"/>
            <a:ext cx="7863840" cy="457200"/>
          </a:xfrm>
          <a:prstGeom prst="rect">
            <a:avLst/>
          </a:prstGeom>
          <a:noFill/>
          <a:ln/>
        </p:spPr>
        <p:txBody>
          <a:bodyPr wrap="square" lIns="0" tIns="0" rIns="0" bIns="0" rtlCol="0" anchor="ctr"/>
          <a:lstStyle/>
          <a:p>
            <a:pPr indent="0" marL="0">
              <a:buNone/>
            </a:pPr>
            <a:r>
              <a:rPr lang="en-US" sz="1400" b="1" spc="200" kern="0" dirty="0">
                <a:solidFill>
                  <a:srgbClr val="F5B301"/>
                </a:solidFill>
                <a:latin typeface="Inter" pitchFamily="34" charset="0"/>
                <a:ea typeface="Inter" pitchFamily="34" charset="-122"/>
                <a:cs typeface="Inter" pitchFamily="34" charset="-120"/>
              </a:rPr>
              <a:t>BRAVO, JOUR 7 BOUCLÉ</a:t>
            </a:r>
            <a:endParaRPr lang="en-US" sz="1400" dirty="0"/>
          </a:p>
        </p:txBody>
      </p:sp>
      <p:sp>
        <p:nvSpPr>
          <p:cNvPr id="5" name="Text 3"/>
          <p:cNvSpPr/>
          <p:nvPr/>
        </p:nvSpPr>
        <p:spPr>
          <a:xfrm>
            <a:off x="640080" y="1828800"/>
            <a:ext cx="7863840" cy="1645920"/>
          </a:xfrm>
          <a:prstGeom prst="rect">
            <a:avLst/>
          </a:prstGeom>
          <a:noFill/>
          <a:ln/>
        </p:spPr>
        <p:txBody>
          <a:bodyPr wrap="square" lIns="0" tIns="0" rIns="0" bIns="0" rtlCol="0" anchor="ctr"/>
          <a:lstStyle/>
          <a:p>
            <a:pPr indent="0" marL="0">
              <a:lnSpc>
                <a:spcPct val="105000"/>
              </a:lnSpc>
              <a:buNone/>
            </a:pPr>
            <a:r>
              <a:rPr lang="en-US" sz="2800" b="1" dirty="0">
                <a:solidFill>
                  <a:srgbClr val="FFFFFF"/>
                </a:solidFill>
                <a:latin typeface="Inter" pitchFamily="34" charset="0"/>
                <a:ea typeface="Inter" pitchFamily="34" charset="-122"/>
                <a:cs typeface="Inter" pitchFamily="34" charset="-120"/>
              </a:rPr>
              <a:t>Et ensuite, les bonus : vendre avec ton quiz, la pub, et un parcours de promo pour chaque réseau (Facebook, Instagram, LinkedIn...).</a:t>
            </a:r>
            <a:endParaRPr lang="en-US" sz="2800" dirty="0"/>
          </a:p>
        </p:txBody>
      </p:sp>
      <p:sp>
        <p:nvSpPr>
          <p:cNvPr id="6" name="Text 4"/>
          <p:cNvSpPr/>
          <p:nvPr/>
        </p:nvSpPr>
        <p:spPr>
          <a:xfrm>
            <a:off x="658368" y="4206240"/>
            <a:ext cx="7315200" cy="365760"/>
          </a:xfrm>
          <a:prstGeom prst="rect">
            <a:avLst/>
          </a:prstGeom>
          <a:noFill/>
          <a:ln/>
        </p:spPr>
        <p:txBody>
          <a:bodyPr wrap="square" lIns="0" tIns="0" rIns="0" bIns="0" rtlCol="0" anchor="ctr"/>
          <a:lstStyle/>
          <a:p>
            <a:pPr indent="0" marL="0">
              <a:buNone/>
            </a:pPr>
            <a:r>
              <a:rPr lang="en-US" sz="1200" dirty="0">
                <a:solidFill>
                  <a:srgbClr val="EAECFB"/>
                </a:solidFill>
                <a:latin typeface="Inter" pitchFamily="34" charset="0"/>
                <a:ea typeface="Inter" pitchFamily="34" charset="-122"/>
                <a:cs typeface="Inter" pitchFamily="34" charset="-120"/>
              </a:rPr>
              <a:t>L'Atelier du Quiz  ·  Méthode CAPTO®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L'Atelier du Quiz - Jour 7</dc:title>
  <dc:subject>PptxGenJS Presentation</dc:subject>
  <dc:creator>L'Atelier du Quiz</dc:creator>
  <cp:lastModifiedBy>L'Atelier du Quiz</cp:lastModifiedBy>
  <cp:revision>1</cp:revision>
  <dcterms:created xsi:type="dcterms:W3CDTF">2026-06-19T12:22:20Z</dcterms:created>
  <dcterms:modified xsi:type="dcterms:W3CDTF">2026-06-19T12:22:20Z</dcterms:modified>
</cp:coreProperties>
</file>