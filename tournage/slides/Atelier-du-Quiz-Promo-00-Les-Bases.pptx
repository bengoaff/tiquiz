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E386E"/>
        </a:solidFill>
      </p:bgPr>
    </p:bg>
    <p:spTree>
      <p:nvGrpSpPr>
        <p:cNvPr id="1" name=""/>
        <p:cNvGrpSpPr/>
        <p:nvPr/>
      </p:nvGrpSpPr>
      <p:grpSpPr>
        <a:xfrm>
          <a:off x="0" y="0"/>
          <a:ext cx="0" cy="0"/>
          <a:chOff x="0" y="0"/>
          <a:chExt cx="0" cy="0"/>
        </a:xfrm>
      </p:grpSpPr>
      <p:sp>
        <p:nvSpPr>
          <p:cNvPr id="2" name="Shape 0"/>
          <p:cNvSpPr/>
          <p:nvPr/>
        </p:nvSpPr>
        <p:spPr>
          <a:xfrm>
            <a:off x="7955280" y="-640080"/>
            <a:ext cx="2194560" cy="2194560"/>
          </a:xfrm>
          <a:prstGeom prst="ellipse">
            <a:avLst/>
          </a:prstGeom>
          <a:solidFill>
            <a:srgbClr val="5D6CDB">
              <a:alpha val="30000"/>
            </a:srgbClr>
          </a:solidFill>
          <a:ln/>
        </p:spPr>
      </p:sp>
      <p:sp>
        <p:nvSpPr>
          <p:cNvPr id="3" name="Shape 1"/>
          <p:cNvSpPr/>
          <p:nvPr/>
        </p:nvSpPr>
        <p:spPr>
          <a:xfrm>
            <a:off x="8686800" y="4023360"/>
            <a:ext cx="1554480" cy="1554480"/>
          </a:xfrm>
          <a:prstGeom prst="ellipse">
            <a:avLst/>
          </a:prstGeom>
          <a:solidFill>
            <a:srgbClr val="5D6CDB">
              <a:alpha val="20000"/>
            </a:srgbClr>
          </a:solidFill>
          <a:ln/>
        </p:spPr>
      </p:sp>
      <p:sp>
        <p:nvSpPr>
          <p:cNvPr id="4" name="Text 2"/>
          <p:cNvSpPr/>
          <p:nvPr/>
        </p:nvSpPr>
        <p:spPr>
          <a:xfrm>
            <a:off x="640080" y="914400"/>
            <a:ext cx="7315200" cy="365760"/>
          </a:xfrm>
          <a:prstGeom prst="rect">
            <a:avLst/>
          </a:prstGeom>
          <a:noFill/>
          <a:ln/>
        </p:spPr>
        <p:txBody>
          <a:bodyPr wrap="square" lIns="0" tIns="0" rIns="0" bIns="0" rtlCol="0" anchor="ctr"/>
          <a:lstStyle/>
          <a:p>
            <a:pPr indent="0" marL="0">
              <a:buNone/>
            </a:pPr>
            <a:r>
              <a:rPr lang="en-US" sz="1400" b="1" spc="300" kern="0" dirty="0">
                <a:solidFill>
                  <a:srgbClr val="EAECFB"/>
                </a:solidFill>
                <a:latin typeface="Inter" pitchFamily="34" charset="0"/>
                <a:ea typeface="Inter" pitchFamily="34" charset="-122"/>
                <a:cs typeface="Inter" pitchFamily="34" charset="-120"/>
              </a:rPr>
              <a:t>L'ATELIER DU QUIZ</a:t>
            </a:r>
            <a:endParaRPr lang="en-US" sz="1400" dirty="0"/>
          </a:p>
        </p:txBody>
      </p:sp>
      <p:sp>
        <p:nvSpPr>
          <p:cNvPr id="5" name="Text 3"/>
          <p:cNvSpPr/>
          <p:nvPr/>
        </p:nvSpPr>
        <p:spPr>
          <a:xfrm>
            <a:off x="640080" y="1371600"/>
            <a:ext cx="7315200" cy="640080"/>
          </a:xfrm>
          <a:prstGeom prst="rect">
            <a:avLst/>
          </a:prstGeom>
          <a:noFill/>
          <a:ln/>
        </p:spPr>
        <p:txBody>
          <a:bodyPr wrap="square" lIns="0" tIns="0" rIns="0" bIns="0" rtlCol="0" anchor="ctr"/>
          <a:lstStyle/>
          <a:p>
            <a:pPr indent="0" marL="0">
              <a:buNone/>
            </a:pPr>
            <a:r>
              <a:rPr lang="en-US" sz="4000" b="1" dirty="0">
                <a:solidFill>
                  <a:srgbClr val="F5B301"/>
                </a:solidFill>
                <a:latin typeface="Inter" pitchFamily="34" charset="0"/>
                <a:ea typeface="Inter" pitchFamily="34" charset="-122"/>
                <a:cs typeface="Inter" pitchFamily="34" charset="-120"/>
              </a:rPr>
              <a:t>PROMO · LES BASES</a:t>
            </a:r>
            <a:endParaRPr lang="en-US" sz="4000" dirty="0"/>
          </a:p>
        </p:txBody>
      </p:sp>
      <p:sp>
        <p:nvSpPr>
          <p:cNvPr id="6" name="Text 4"/>
          <p:cNvSpPr/>
          <p:nvPr/>
        </p:nvSpPr>
        <p:spPr>
          <a:xfrm>
            <a:off x="640080" y="2103120"/>
            <a:ext cx="7955280" cy="1554480"/>
          </a:xfrm>
          <a:prstGeom prst="rect">
            <a:avLst/>
          </a:prstGeom>
          <a:noFill/>
          <a:ln/>
        </p:spPr>
        <p:txBody>
          <a:bodyPr wrap="square" lIns="0" tIns="0" rIns="0" bIns="0" rtlCol="0" anchor="ctr"/>
          <a:lstStyle/>
          <a:p>
            <a:pPr indent="0" marL="0">
              <a:buNone/>
            </a:pPr>
            <a:r>
              <a:rPr lang="en-US" sz="3400" b="1" dirty="0">
                <a:solidFill>
                  <a:srgbClr val="FFFFFF"/>
                </a:solidFill>
                <a:latin typeface="Inter" pitchFamily="34" charset="0"/>
                <a:ea typeface="Inter" pitchFamily="34" charset="-122"/>
                <a:cs typeface="Inter" pitchFamily="34" charset="-120"/>
              </a:rPr>
              <a:t>Promouvoir ton quiz : les bases</a:t>
            </a:r>
            <a:endParaRPr lang="en-US" sz="3400" dirty="0"/>
          </a:p>
        </p:txBody>
      </p:sp>
      <p:sp>
        <p:nvSpPr>
          <p:cNvPr id="7" name="Text 5"/>
          <p:cNvSpPr/>
          <p:nvPr/>
        </p:nvSpPr>
        <p:spPr>
          <a:xfrm>
            <a:off x="658368" y="3703320"/>
            <a:ext cx="7589520" cy="640080"/>
          </a:xfrm>
          <a:prstGeom prst="rect">
            <a:avLst/>
          </a:prstGeom>
          <a:noFill/>
          <a:ln/>
        </p:spPr>
        <p:txBody>
          <a:bodyPr wrap="square" lIns="0" tIns="0" rIns="0" bIns="0" rtlCol="0" anchor="ctr"/>
          <a:lstStyle/>
          <a:p>
            <a:pPr indent="0" marL="0">
              <a:buNone/>
            </a:pPr>
            <a:r>
              <a:rPr lang="en-US" sz="1700" i="1" dirty="0">
                <a:solidFill>
                  <a:srgbClr val="EAECFB"/>
                </a:solidFill>
                <a:latin typeface="Inter" pitchFamily="34" charset="0"/>
                <a:ea typeface="Inter" pitchFamily="34" charset="-122"/>
                <a:cs typeface="Inter" pitchFamily="34" charset="-120"/>
              </a:rPr>
              <a:t>Les fondations qui marchent sur tous les réseaux, avant les spécificités de chacun.</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7863840" cy="640080"/>
          </a:xfrm>
          <a:prstGeom prst="rect">
            <a:avLst/>
          </a:prstGeom>
          <a:noFill/>
          <a:ln/>
        </p:spPr>
        <p:txBody>
          <a:bodyPr wrap="square" lIns="0" tIns="0" rIns="0" bIns="0" rtlCol="0" anchor="ctr"/>
          <a:lstStyle/>
          <a:p>
            <a:pPr indent="0" marL="0">
              <a:buNone/>
            </a:pPr>
            <a:r>
              <a:rPr lang="en-US" sz="3000" b="1" dirty="0">
                <a:solidFill>
                  <a:srgbClr val="2E386E"/>
                </a:solidFill>
                <a:latin typeface="Inter" pitchFamily="34" charset="0"/>
                <a:ea typeface="Inter" pitchFamily="34" charset="-122"/>
                <a:cs typeface="Inter" pitchFamily="34" charset="-120"/>
              </a:rPr>
              <a:t>Au programme aujourd'hui</a:t>
            </a:r>
            <a:endParaRPr lang="en-US" sz="3000" dirty="0"/>
          </a:p>
        </p:txBody>
      </p:sp>
      <p:sp>
        <p:nvSpPr>
          <p:cNvPr id="3" name="Shape 1"/>
          <p:cNvSpPr/>
          <p:nvPr/>
        </p:nvSpPr>
        <p:spPr>
          <a:xfrm>
            <a:off x="640080" y="1371600"/>
            <a:ext cx="7863840" cy="960120"/>
          </a:xfrm>
          <a:prstGeom prst="roundRect">
            <a:avLst>
              <a:gd name="adj" fmla="val 11429"/>
            </a:avLst>
          </a:prstGeom>
          <a:solidFill>
            <a:srgbClr val="EAECFB"/>
          </a:solidFill>
          <a:ln/>
        </p:spPr>
      </p:sp>
      <p:sp>
        <p:nvSpPr>
          <p:cNvPr id="4" name="Text 2"/>
          <p:cNvSpPr/>
          <p:nvPr/>
        </p:nvSpPr>
        <p:spPr>
          <a:xfrm>
            <a:off x="914400" y="1371600"/>
            <a:ext cx="7315200" cy="960120"/>
          </a:xfrm>
          <a:prstGeom prst="rect">
            <a:avLst/>
          </a:prstGeom>
          <a:noFill/>
          <a:ln/>
        </p:spPr>
        <p:txBody>
          <a:bodyPr wrap="square" lIns="0" tIns="0" rIns="0" bIns="0" rtlCol="0" anchor="ctr"/>
          <a:lstStyle/>
          <a:p>
            <a:pPr indent="0" marL="0">
              <a:buNone/>
            </a:pPr>
            <a:r>
              <a:rPr lang="en-US" sz="1600" b="1" dirty="0">
                <a:solidFill>
                  <a:srgbClr val="5D6CDB"/>
                </a:solidFill>
                <a:latin typeface="Inter" pitchFamily="34" charset="0"/>
                <a:ea typeface="Inter" pitchFamily="34" charset="-122"/>
                <a:cs typeface="Inter" pitchFamily="34" charset="-120"/>
              </a:rPr>
              <a:t>Objectif  </a:t>
            </a:r>
            <a:pPr indent="0" marL="0">
              <a:buNone/>
            </a:pPr>
            <a:r>
              <a:rPr lang="en-US" sz="1600" dirty="0">
                <a:solidFill>
                  <a:srgbClr val="2E386E"/>
                </a:solidFill>
                <a:latin typeface="Inter" pitchFamily="34" charset="0"/>
                <a:ea typeface="Inter" pitchFamily="34" charset="-122"/>
                <a:cs typeface="Inter" pitchFamily="34" charset="-120"/>
              </a:rPr>
              <a:t>Préparer ton profil, ton lien en bio et ta façon de poster pour transformer les réseaux en source de trafic vers ton quiz.</a:t>
            </a:r>
            <a:endParaRPr lang="en-US" sz="1600" dirty="0"/>
          </a:p>
        </p:txBody>
      </p:sp>
      <p:sp>
        <p:nvSpPr>
          <p:cNvPr id="5" name="Text 3"/>
          <p:cNvSpPr/>
          <p:nvPr/>
        </p:nvSpPr>
        <p:spPr>
          <a:xfrm>
            <a:off x="914400" y="2697480"/>
            <a:ext cx="7315200" cy="1920240"/>
          </a:xfrm>
          <a:prstGeom prst="rect">
            <a:avLst/>
          </a:prstGeom>
          <a:noFill/>
          <a:ln/>
        </p:spPr>
        <p:txBody>
          <a:bodyPr wrap="square" rtlCol="0" anchor="ctr"/>
          <a:lstStyle/>
          <a:p>
            <a:pPr marL="203200" indent="-203200">
              <a:spcAft>
                <a:spcPts val="800"/>
              </a:spcAft>
              <a:buSzPct val="100000"/>
              <a:buChar char="•"/>
            </a:pPr>
            <a:r>
              <a:rPr lang="en-US" sz="1500" dirty="0">
                <a:solidFill>
                  <a:srgbClr val="2E386E"/>
                </a:solidFill>
                <a:latin typeface="Inter" pitchFamily="34" charset="0"/>
                <a:ea typeface="Inter" pitchFamily="34" charset="-122"/>
                <a:cs typeface="Inter" pitchFamily="34" charset="-120"/>
              </a:rPr>
              <a:t>Ton profil : ta vitrine qui donne envie de cliquer</a:t>
            </a:r>
            <a:endParaRPr lang="en-US" sz="1500" dirty="0"/>
          </a:p>
          <a:p>
            <a:pPr marL="203200" indent="-203200">
              <a:spcAft>
                <a:spcPts val="800"/>
              </a:spcAft>
              <a:buSzPct val="100000"/>
              <a:buChar char="•"/>
            </a:pPr>
            <a:r>
              <a:rPr lang="en-US" sz="1500" dirty="0">
                <a:solidFill>
                  <a:srgbClr val="2E386E"/>
                </a:solidFill>
                <a:latin typeface="Inter" pitchFamily="34" charset="0"/>
                <a:ea typeface="Inter" pitchFamily="34" charset="-122"/>
                <a:cs typeface="Inter" pitchFamily="34" charset="-120"/>
              </a:rPr>
              <a:t>Ton lien en bio : la porte vers ton quiz</a:t>
            </a:r>
            <a:endParaRPr lang="en-US" sz="1500" dirty="0"/>
          </a:p>
          <a:p>
            <a:pPr marL="203200" indent="-203200">
              <a:spcAft>
                <a:spcPts val="800"/>
              </a:spcAft>
              <a:buSzPct val="100000"/>
              <a:buChar char="•"/>
            </a:pPr>
            <a:r>
              <a:rPr lang="en-US" sz="1500" dirty="0">
                <a:solidFill>
                  <a:srgbClr val="2E386E"/>
                </a:solidFill>
                <a:latin typeface="Inter" pitchFamily="34" charset="0"/>
                <a:ea typeface="Inter" pitchFamily="34" charset="-122"/>
                <a:cs typeface="Inter" pitchFamily="34" charset="-120"/>
              </a:rPr>
              <a:t>Quoi poster, à quel rythme, et ton calendrier</a:t>
            </a:r>
            <a:endParaRPr lang="en-US" sz="1500" dirty="0"/>
          </a:p>
          <a:p>
            <a:pPr marL="203200" indent="-203200">
              <a:spcAft>
                <a:spcPts val="800"/>
              </a:spcAft>
              <a:buSzPct val="100000"/>
              <a:buChar char="•"/>
            </a:pPr>
            <a:r>
              <a:rPr lang="en-US" sz="1500" dirty="0">
                <a:solidFill>
                  <a:srgbClr val="2E386E"/>
                </a:solidFill>
                <a:latin typeface="Inter" pitchFamily="34" charset="0"/>
                <a:ea typeface="Inter" pitchFamily="34" charset="-122"/>
                <a:cs typeface="Inter" pitchFamily="34" charset="-120"/>
              </a:rPr>
              <a:t>Les hacks d'engagement et l'IA pour aller vite</a:t>
            </a:r>
            <a:endParaRPr lang="en-US" sz="1500" dirty="0"/>
          </a:p>
        </p:txBody>
      </p:sp>
      <p:sp>
        <p:nvSpPr>
          <p:cNvPr id="6" name="Text 4"/>
          <p:cNvSpPr/>
          <p:nvPr/>
        </p:nvSpPr>
        <p:spPr>
          <a:xfrm>
            <a:off x="457200" y="4759452"/>
            <a:ext cx="6400800" cy="274320"/>
          </a:xfrm>
          <a:prstGeom prst="rect">
            <a:avLst/>
          </a:prstGeom>
          <a:noFill/>
          <a:ln/>
        </p:spPr>
        <p:txBody>
          <a:bodyPr wrap="square" lIns="0" tIns="0" rIns="0" bIns="0" rtlCol="0" anchor="ctr"/>
          <a:lstStyle/>
          <a:p>
            <a:pPr indent="0" marL="0">
              <a:buNone/>
            </a:pPr>
            <a:r>
              <a:rPr lang="en-US" sz="900" b="1" dirty="0">
                <a:solidFill>
                  <a:srgbClr val="6B73A0"/>
                </a:solidFill>
                <a:latin typeface="Inter" pitchFamily="34" charset="0"/>
                <a:ea typeface="Inter" pitchFamily="34" charset="-122"/>
                <a:cs typeface="Inter" pitchFamily="34" charset="-120"/>
              </a:rPr>
              <a:t>L'Atelier du Quiz</a:t>
            </a:r>
            <a:pPr indent="0" marL="0">
              <a:buNone/>
            </a:pPr>
            <a:r>
              <a:rPr lang="en-US" sz="900" dirty="0">
                <a:solidFill>
                  <a:srgbClr val="6B73A0"/>
                </a:solidFill>
                <a:latin typeface="Inter" pitchFamily="34" charset="0"/>
                <a:ea typeface="Inter" pitchFamily="34" charset="-122"/>
                <a:cs typeface="Inter" pitchFamily="34" charset="-120"/>
              </a:rPr>
              <a:t>   ·   Promo réseaux</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48640"/>
            <a:ext cx="7863840" cy="822960"/>
          </a:xfrm>
          <a:prstGeom prst="rect">
            <a:avLst/>
          </a:prstGeom>
          <a:noFill/>
          <a:ln/>
        </p:spPr>
        <p:txBody>
          <a:bodyPr wrap="square" lIns="0" tIns="0" rIns="0" bIns="0" rtlCol="0" anchor="ctr"/>
          <a:lstStyle/>
          <a:p>
            <a:pPr indent="0" marL="0">
              <a:buNone/>
            </a:pPr>
            <a:r>
              <a:rPr lang="en-US" sz="2800" b="1" dirty="0">
                <a:solidFill>
                  <a:srgbClr val="2E386E"/>
                </a:solidFill>
                <a:latin typeface="Inter" pitchFamily="34" charset="0"/>
                <a:ea typeface="Inter" pitchFamily="34" charset="-122"/>
                <a:cs typeface="Inter" pitchFamily="34" charset="-120"/>
              </a:rPr>
              <a:t>Les réseaux, c'est gratuit, mais pas magique</a:t>
            </a:r>
            <a:endParaRPr lang="en-US" sz="2800" dirty="0"/>
          </a:p>
        </p:txBody>
      </p:sp>
      <p:sp>
        <p:nvSpPr>
          <p:cNvPr id="3" name="Text 1"/>
          <p:cNvSpPr/>
          <p:nvPr/>
        </p:nvSpPr>
        <p:spPr>
          <a:xfrm>
            <a:off x="640080" y="1737360"/>
            <a:ext cx="7863840" cy="2743200"/>
          </a:xfrm>
          <a:prstGeom prst="rect">
            <a:avLst/>
          </a:prstGeom>
          <a:noFill/>
          <a:ln/>
        </p:spPr>
        <p:txBody>
          <a:bodyPr wrap="square" lIns="0" tIns="0" rIns="0" bIns="0" rtlCol="0" anchor="ctr"/>
          <a:lstStyle/>
          <a:p>
            <a:pPr indent="0" marL="0">
              <a:lnSpc>
                <a:spcPct val="110000"/>
              </a:lnSpc>
              <a:spcAft>
                <a:spcPts val="1400"/>
              </a:spcAft>
              <a:buNone/>
            </a:pPr>
            <a:r>
              <a:rPr lang="en-US" sz="1800" dirty="0">
                <a:solidFill>
                  <a:srgbClr val="2E386E"/>
                </a:solidFill>
                <a:latin typeface="Inter" pitchFamily="34" charset="0"/>
                <a:ea typeface="Inter" pitchFamily="34" charset="-122"/>
                <a:cs typeface="Inter" pitchFamily="34" charset="-120"/>
              </a:rPr>
              <a:t>Les réseaux peuvent t'amener un flux constant de visiteurs vers ton quiz, sans payer. Mais pas en postant au hasard.</a:t>
            </a:r>
            <a:endParaRPr lang="en-US" sz="1800" dirty="0"/>
          </a:p>
          <a:p>
            <a:pPr indent="0" marL="0">
              <a:lnSpc>
                <a:spcPct val="110000"/>
              </a:lnSpc>
              <a:spcAft>
                <a:spcPts val="1400"/>
              </a:spcAft>
              <a:buNone/>
            </a:pPr>
            <a:r>
              <a:rPr lang="en-US" sz="1800" dirty="0">
                <a:solidFill>
                  <a:srgbClr val="2E386E"/>
                </a:solidFill>
                <a:latin typeface="Inter" pitchFamily="34" charset="0"/>
                <a:ea typeface="Inter" pitchFamily="34" charset="-122"/>
                <a:cs typeface="Inter" pitchFamily="34" charset="-120"/>
              </a:rPr>
              <a:t>Avant les astuces propres à Facebook, Instagram ou LinkedIn, il y a des bases qui marchent partout. Si elles sont bâclées, le reste ne sert à rien.</a:t>
            </a:r>
            <a:endParaRPr lang="en-US" sz="1800" dirty="0"/>
          </a:p>
          <a:p>
            <a:pPr indent="0" marL="0">
              <a:lnSpc>
                <a:spcPct val="110000"/>
              </a:lnSpc>
              <a:spcAft>
                <a:spcPts val="1400"/>
              </a:spcAft>
              <a:buNone/>
            </a:pPr>
            <a:r>
              <a:rPr lang="en-US" sz="1800" dirty="0">
                <a:solidFill>
                  <a:srgbClr val="2E386E"/>
                </a:solidFill>
                <a:latin typeface="Inter" pitchFamily="34" charset="0"/>
                <a:ea typeface="Inter" pitchFamily="34" charset="-122"/>
                <a:cs typeface="Inter" pitchFamily="34" charset="-120"/>
              </a:rPr>
              <a:t>On pose ces fondations une bonne fois : ton profil, ton lien, ta façon de poster. Ensuite, chaque réseau aura son guide.</a:t>
            </a:r>
            <a:endParaRPr lang="en-US" sz="1800" dirty="0"/>
          </a:p>
        </p:txBody>
      </p:sp>
      <p:sp>
        <p:nvSpPr>
          <p:cNvPr id="4" name="Text 2"/>
          <p:cNvSpPr/>
          <p:nvPr/>
        </p:nvSpPr>
        <p:spPr>
          <a:xfrm>
            <a:off x="457200" y="4759452"/>
            <a:ext cx="6400800" cy="274320"/>
          </a:xfrm>
          <a:prstGeom prst="rect">
            <a:avLst/>
          </a:prstGeom>
          <a:noFill/>
          <a:ln/>
        </p:spPr>
        <p:txBody>
          <a:bodyPr wrap="square" lIns="0" tIns="0" rIns="0" bIns="0" rtlCol="0" anchor="ctr"/>
          <a:lstStyle/>
          <a:p>
            <a:pPr indent="0" marL="0">
              <a:buNone/>
            </a:pPr>
            <a:r>
              <a:rPr lang="en-US" sz="900" b="1" dirty="0">
                <a:solidFill>
                  <a:srgbClr val="6B73A0"/>
                </a:solidFill>
                <a:latin typeface="Inter" pitchFamily="34" charset="0"/>
                <a:ea typeface="Inter" pitchFamily="34" charset="-122"/>
                <a:cs typeface="Inter" pitchFamily="34" charset="-120"/>
              </a:rPr>
              <a:t>L'Atelier du Quiz</a:t>
            </a:r>
            <a:pPr indent="0" marL="0">
              <a:buNone/>
            </a:pPr>
            <a:r>
              <a:rPr lang="en-US" sz="900" dirty="0">
                <a:solidFill>
                  <a:srgbClr val="6B73A0"/>
                </a:solidFill>
                <a:latin typeface="Inter" pitchFamily="34" charset="0"/>
                <a:ea typeface="Inter" pitchFamily="34" charset="-122"/>
                <a:cs typeface="Inter" pitchFamily="34" charset="-120"/>
              </a:rPr>
              <a:t>   ·   Promo réseaux</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48640"/>
            <a:ext cx="7863840" cy="822960"/>
          </a:xfrm>
          <a:prstGeom prst="rect">
            <a:avLst/>
          </a:prstGeom>
          <a:noFill/>
          <a:ln/>
        </p:spPr>
        <p:txBody>
          <a:bodyPr wrap="square" lIns="0" tIns="0" rIns="0" bIns="0" rtlCol="0" anchor="ctr"/>
          <a:lstStyle/>
          <a:p>
            <a:pPr indent="0" marL="0">
              <a:buNone/>
            </a:pPr>
            <a:r>
              <a:rPr lang="en-US" sz="2800" b="1" dirty="0">
                <a:solidFill>
                  <a:srgbClr val="2E386E"/>
                </a:solidFill>
                <a:latin typeface="Inter" pitchFamily="34" charset="0"/>
                <a:ea typeface="Inter" pitchFamily="34" charset="-122"/>
                <a:cs typeface="Inter" pitchFamily="34" charset="-120"/>
              </a:rPr>
              <a:t>Ton profil : ta vitrine en 3 secondes</a:t>
            </a:r>
            <a:endParaRPr lang="en-US" sz="2800" dirty="0"/>
          </a:p>
        </p:txBody>
      </p:sp>
      <p:sp>
        <p:nvSpPr>
          <p:cNvPr id="3" name="Text 1"/>
          <p:cNvSpPr/>
          <p:nvPr/>
        </p:nvSpPr>
        <p:spPr>
          <a:xfrm>
            <a:off x="640080" y="1737360"/>
            <a:ext cx="7863840" cy="2743200"/>
          </a:xfrm>
          <a:prstGeom prst="rect">
            <a:avLst/>
          </a:prstGeom>
          <a:noFill/>
          <a:ln/>
        </p:spPr>
        <p:txBody>
          <a:bodyPr wrap="square" lIns="0" tIns="0" rIns="0" bIns="0" rtlCol="0" anchor="ctr"/>
          <a:lstStyle/>
          <a:p>
            <a:pPr indent="0" marL="0">
              <a:lnSpc>
                <a:spcPct val="110000"/>
              </a:lnSpc>
              <a:spcAft>
                <a:spcPts val="1400"/>
              </a:spcAft>
              <a:buNone/>
            </a:pPr>
            <a:r>
              <a:rPr lang="en-US" sz="1800" dirty="0">
                <a:solidFill>
                  <a:srgbClr val="2E386E"/>
                </a:solidFill>
                <a:latin typeface="Inter" pitchFamily="34" charset="0"/>
                <a:ea typeface="Inter" pitchFamily="34" charset="-122"/>
                <a:cs typeface="Inter" pitchFamily="34" charset="-120"/>
              </a:rPr>
              <a:t>En te découvrant, on décide en 3 secondes si on te suit ou si on passe. Ton profil doit dire tout de suite à qui tu parles et ce que tu apportes.</a:t>
            </a:r>
            <a:endParaRPr lang="en-US" sz="1800" dirty="0"/>
          </a:p>
          <a:p>
            <a:pPr indent="0" marL="0">
              <a:lnSpc>
                <a:spcPct val="110000"/>
              </a:lnSpc>
              <a:spcAft>
                <a:spcPts val="1400"/>
              </a:spcAft>
              <a:buNone/>
            </a:pPr>
            <a:r>
              <a:rPr lang="en-US" sz="1800" dirty="0">
                <a:solidFill>
                  <a:srgbClr val="2E386E"/>
                </a:solidFill>
                <a:latin typeface="Inter" pitchFamily="34" charset="0"/>
                <a:ea typeface="Inter" pitchFamily="34" charset="-122"/>
                <a:cs typeface="Inter" pitchFamily="34" charset="-120"/>
              </a:rPr>
              <a:t>Photo nette, neutre ou pro (un vrai visage, pas un logo flou). Une bio qui dit ce que tu fais POUR les gens, pas ton CV. Et un lien, toujours.</a:t>
            </a:r>
            <a:endParaRPr lang="en-US" sz="1800" dirty="0"/>
          </a:p>
          <a:p>
            <a:pPr indent="0" marL="0">
              <a:lnSpc>
                <a:spcPct val="110000"/>
              </a:lnSpc>
              <a:spcAft>
                <a:spcPts val="1400"/>
              </a:spcAft>
              <a:buNone/>
            </a:pPr>
            <a:r>
              <a:rPr lang="en-US" sz="1800" dirty="0">
                <a:solidFill>
                  <a:srgbClr val="2E386E"/>
                </a:solidFill>
                <a:latin typeface="Inter" pitchFamily="34" charset="0"/>
                <a:ea typeface="Inter" pitchFamily="34" charset="-122"/>
                <a:cs typeface="Inter" pitchFamily="34" charset="-120"/>
              </a:rPr>
              <a:t>Sur un profil pro, zéro prise de position politique ou polémique : tu fermes des portes pour rien. Garde ça pour ton profil perso, et sépare clairement les deux.</a:t>
            </a:r>
            <a:endParaRPr lang="en-US" sz="1800" dirty="0"/>
          </a:p>
        </p:txBody>
      </p:sp>
      <p:sp>
        <p:nvSpPr>
          <p:cNvPr id="4" name="Text 2"/>
          <p:cNvSpPr/>
          <p:nvPr/>
        </p:nvSpPr>
        <p:spPr>
          <a:xfrm>
            <a:off x="457200" y="4759452"/>
            <a:ext cx="6400800" cy="274320"/>
          </a:xfrm>
          <a:prstGeom prst="rect">
            <a:avLst/>
          </a:prstGeom>
          <a:noFill/>
          <a:ln/>
        </p:spPr>
        <p:txBody>
          <a:bodyPr wrap="square" lIns="0" tIns="0" rIns="0" bIns="0" rtlCol="0" anchor="ctr"/>
          <a:lstStyle/>
          <a:p>
            <a:pPr indent="0" marL="0">
              <a:buNone/>
            </a:pPr>
            <a:r>
              <a:rPr lang="en-US" sz="900" b="1" dirty="0">
                <a:solidFill>
                  <a:srgbClr val="6B73A0"/>
                </a:solidFill>
                <a:latin typeface="Inter" pitchFamily="34" charset="0"/>
                <a:ea typeface="Inter" pitchFamily="34" charset="-122"/>
                <a:cs typeface="Inter" pitchFamily="34" charset="-120"/>
              </a:rPr>
              <a:t>L'Atelier du Quiz</a:t>
            </a:r>
            <a:pPr indent="0" marL="0">
              <a:buNone/>
            </a:pPr>
            <a:r>
              <a:rPr lang="en-US" sz="900" dirty="0">
                <a:solidFill>
                  <a:srgbClr val="6B73A0"/>
                </a:solidFill>
                <a:latin typeface="Inter" pitchFamily="34" charset="0"/>
                <a:ea typeface="Inter" pitchFamily="34" charset="-122"/>
                <a:cs typeface="Inter" pitchFamily="34" charset="-120"/>
              </a:rPr>
              <a:t>   ·   Promo réseaux</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7863840" cy="868680"/>
          </a:xfrm>
          <a:prstGeom prst="rect">
            <a:avLst/>
          </a:prstGeom>
          <a:noFill/>
          <a:ln/>
        </p:spPr>
        <p:txBody>
          <a:bodyPr wrap="square" lIns="0" tIns="0" rIns="0" bIns="0" rtlCol="0" anchor="ctr"/>
          <a:lstStyle/>
          <a:p>
            <a:pPr indent="0" marL="0">
              <a:buNone/>
            </a:pPr>
            <a:r>
              <a:rPr lang="en-US" sz="2700" b="1" dirty="0">
                <a:solidFill>
                  <a:srgbClr val="2E386E"/>
                </a:solidFill>
                <a:latin typeface="Inter" pitchFamily="34" charset="0"/>
                <a:ea typeface="Inter" pitchFamily="34" charset="-122"/>
                <a:cs typeface="Inter" pitchFamily="34" charset="-120"/>
              </a:rPr>
              <a:t>Ton lien en bio : la porte vers ton quiz</a:t>
            </a:r>
            <a:endParaRPr lang="en-US" sz="2700" dirty="0"/>
          </a:p>
        </p:txBody>
      </p:sp>
      <p:sp>
        <p:nvSpPr>
          <p:cNvPr id="3" name="Text 1"/>
          <p:cNvSpPr/>
          <p:nvPr/>
        </p:nvSpPr>
        <p:spPr>
          <a:xfrm>
            <a:off x="640080" y="1691640"/>
            <a:ext cx="7863840" cy="2926080"/>
          </a:xfrm>
          <a:prstGeom prst="rect">
            <a:avLst/>
          </a:prstGeom>
          <a:noFill/>
          <a:ln/>
        </p:spPr>
        <p:txBody>
          <a:bodyPr wrap="square" lIns="0" tIns="0" rIns="0" bIns="0" rtlCol="0" anchor="ctr"/>
          <a:lstStyle/>
          <a:p>
            <a:pPr indent="0" marL="0">
              <a:lnSpc>
                <a:spcPct val="108000"/>
              </a:lnSpc>
              <a:spcAft>
                <a:spcPts val="1200"/>
              </a:spcAft>
              <a:buNone/>
            </a:pPr>
            <a:r>
              <a:rPr lang="en-US" sz="1650" dirty="0">
                <a:solidFill>
                  <a:srgbClr val="2E386E"/>
                </a:solidFill>
                <a:latin typeface="Inter" pitchFamily="34" charset="0"/>
                <a:ea typeface="Inter" pitchFamily="34" charset="-122"/>
                <a:cs typeface="Inter" pitchFamily="34" charset="-120"/>
              </a:rPr>
              <a:t>Tu n'as souvent qu'UN lien à mettre sur ton profil. Ne le gâche pas : il doit mener à une mini-page qui pousse vers ton quiz.</a:t>
            </a:r>
            <a:endParaRPr lang="en-US" sz="1650" dirty="0"/>
          </a:p>
          <a:p>
            <a:pPr indent="0" marL="0">
              <a:lnSpc>
                <a:spcPct val="108000"/>
              </a:lnSpc>
              <a:spcAft>
                <a:spcPts val="1200"/>
              </a:spcAft>
              <a:buNone/>
            </a:pPr>
            <a:r>
              <a:rPr lang="en-US" sz="1650" dirty="0">
                <a:solidFill>
                  <a:srgbClr val="2E386E"/>
                </a:solidFill>
                <a:latin typeface="Inter" pitchFamily="34" charset="0"/>
                <a:ea typeface="Inter" pitchFamily="34" charset="-122"/>
                <a:cs typeface="Inter" pitchFamily="34" charset="-120"/>
              </a:rPr>
              <a:t>Construis cette page sur Systeme.io : ta photo, une phrase claire, et un gros bouton vers ton quiz, puis tes autres liens utiles en dessous.</a:t>
            </a:r>
            <a:endParaRPr lang="en-US" sz="1650" dirty="0"/>
          </a:p>
          <a:p>
            <a:pPr indent="0" marL="0">
              <a:lnSpc>
                <a:spcPct val="108000"/>
              </a:lnSpc>
              <a:spcAft>
                <a:spcPts val="1200"/>
              </a:spcAft>
              <a:buNone/>
            </a:pPr>
            <a:r>
              <a:rPr lang="en-US" sz="1650" dirty="0">
                <a:solidFill>
                  <a:srgbClr val="2E386E"/>
                </a:solidFill>
                <a:latin typeface="Inter" pitchFamily="34" charset="0"/>
                <a:ea typeface="Inter" pitchFamily="34" charset="-122"/>
                <a:cs typeface="Inter" pitchFamily="34" charset="-120"/>
              </a:rPr>
              <a:t>Tu importeras les templates de page que je te fournis : tu n'as qu'à mettre tes mots et ton lien de quiz, et c'est prêt.</a:t>
            </a:r>
            <a:endParaRPr lang="en-US" sz="1650" dirty="0"/>
          </a:p>
        </p:txBody>
      </p:sp>
      <p:sp>
        <p:nvSpPr>
          <p:cNvPr id="4" name="Text 2"/>
          <p:cNvSpPr/>
          <p:nvPr/>
        </p:nvSpPr>
        <p:spPr>
          <a:xfrm>
            <a:off x="457200" y="4759452"/>
            <a:ext cx="6400800" cy="274320"/>
          </a:xfrm>
          <a:prstGeom prst="rect">
            <a:avLst/>
          </a:prstGeom>
          <a:noFill/>
          <a:ln/>
        </p:spPr>
        <p:txBody>
          <a:bodyPr wrap="square" lIns="0" tIns="0" rIns="0" bIns="0" rtlCol="0" anchor="ctr"/>
          <a:lstStyle/>
          <a:p>
            <a:pPr indent="0" marL="0">
              <a:buNone/>
            </a:pPr>
            <a:r>
              <a:rPr lang="en-US" sz="900" b="1" dirty="0">
                <a:solidFill>
                  <a:srgbClr val="6B73A0"/>
                </a:solidFill>
                <a:latin typeface="Inter" pitchFamily="34" charset="0"/>
                <a:ea typeface="Inter" pitchFamily="34" charset="-122"/>
                <a:cs typeface="Inter" pitchFamily="34" charset="-120"/>
              </a:rPr>
              <a:t>L'Atelier du Quiz</a:t>
            </a:r>
            <a:pPr indent="0" marL="0">
              <a:buNone/>
            </a:pPr>
            <a:r>
              <a:rPr lang="en-US" sz="900" dirty="0">
                <a:solidFill>
                  <a:srgbClr val="6B73A0"/>
                </a:solidFill>
                <a:latin typeface="Inter" pitchFamily="34" charset="0"/>
                <a:ea typeface="Inter" pitchFamily="34" charset="-122"/>
                <a:cs typeface="Inter" pitchFamily="34" charset="-120"/>
              </a:rPr>
              <a:t>   ·   Promo réseaux</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7863840" cy="868680"/>
          </a:xfrm>
          <a:prstGeom prst="rect">
            <a:avLst/>
          </a:prstGeom>
          <a:noFill/>
          <a:ln/>
        </p:spPr>
        <p:txBody>
          <a:bodyPr wrap="square" lIns="0" tIns="0" rIns="0" bIns="0" rtlCol="0" anchor="ctr"/>
          <a:lstStyle/>
          <a:p>
            <a:pPr indent="0" marL="0">
              <a:buNone/>
            </a:pPr>
            <a:r>
              <a:rPr lang="en-US" sz="2700" b="1" dirty="0">
                <a:solidFill>
                  <a:srgbClr val="2E386E"/>
                </a:solidFill>
                <a:latin typeface="Inter" pitchFamily="34" charset="0"/>
                <a:ea typeface="Inter" pitchFamily="34" charset="-122"/>
                <a:cs typeface="Inter" pitchFamily="34" charset="-120"/>
              </a:rPr>
              <a:t>Quoi poster : les 5 types de contenu</a:t>
            </a:r>
            <a:endParaRPr lang="en-US" sz="2700" dirty="0"/>
          </a:p>
        </p:txBody>
      </p:sp>
      <p:sp>
        <p:nvSpPr>
          <p:cNvPr id="3" name="Text 1"/>
          <p:cNvSpPr/>
          <p:nvPr/>
        </p:nvSpPr>
        <p:spPr>
          <a:xfrm>
            <a:off x="640080" y="1691640"/>
            <a:ext cx="7863840" cy="2926080"/>
          </a:xfrm>
          <a:prstGeom prst="rect">
            <a:avLst/>
          </a:prstGeom>
          <a:noFill/>
          <a:ln/>
        </p:spPr>
        <p:txBody>
          <a:bodyPr wrap="square" lIns="0" tIns="0" rIns="0" bIns="0" rtlCol="0" anchor="ctr"/>
          <a:lstStyle/>
          <a:p>
            <a:pPr indent="0" marL="0">
              <a:lnSpc>
                <a:spcPct val="108000"/>
              </a:lnSpc>
              <a:spcAft>
                <a:spcPts val="1200"/>
              </a:spcAft>
              <a:buNone/>
            </a:pPr>
            <a:r>
              <a:rPr lang="en-US" sz="1650" dirty="0">
                <a:solidFill>
                  <a:srgbClr val="2E386E"/>
                </a:solidFill>
                <a:latin typeface="Inter" pitchFamily="34" charset="0"/>
                <a:ea typeface="Inter" pitchFamily="34" charset="-122"/>
                <a:cs typeface="Inter" pitchFamily="34" charset="-120"/>
              </a:rPr>
              <a:t>La valeur : tu apprends un truc utile, gratuitement. C'est la base, ça crée la confiance.</a:t>
            </a:r>
            <a:endParaRPr lang="en-US" sz="1650" dirty="0"/>
          </a:p>
          <a:p>
            <a:pPr indent="0" marL="0">
              <a:lnSpc>
                <a:spcPct val="108000"/>
              </a:lnSpc>
              <a:spcAft>
                <a:spcPts val="1200"/>
              </a:spcAft>
              <a:buNone/>
            </a:pPr>
            <a:r>
              <a:rPr lang="en-US" sz="1650" dirty="0">
                <a:solidFill>
                  <a:srgbClr val="2E386E"/>
                </a:solidFill>
                <a:latin typeface="Inter" pitchFamily="34" charset="0"/>
                <a:ea typeface="Inter" pitchFamily="34" charset="-122"/>
                <a:cs typeface="Inter" pitchFamily="34" charset="-120"/>
              </a:rPr>
              <a:t>La preuve sociale : un résultat, un témoignage, un avant/après. Ça prouve que ça marche.</a:t>
            </a:r>
            <a:endParaRPr lang="en-US" sz="1650" dirty="0"/>
          </a:p>
          <a:p>
            <a:pPr indent="0" marL="0">
              <a:lnSpc>
                <a:spcPct val="108000"/>
              </a:lnSpc>
              <a:spcAft>
                <a:spcPts val="1200"/>
              </a:spcAft>
              <a:buNone/>
            </a:pPr>
            <a:r>
              <a:rPr lang="en-US" sz="1650" dirty="0">
                <a:solidFill>
                  <a:srgbClr val="2E386E"/>
                </a:solidFill>
                <a:latin typeface="Inter" pitchFamily="34" charset="0"/>
                <a:ea typeface="Inter" pitchFamily="34" charset="-122"/>
                <a:cs typeface="Inter" pitchFamily="34" charset="-120"/>
              </a:rPr>
              <a:t>La curiosité : une question, un teasing, un « la plupart se trompent sur... ». Ça donne envie de cliquer, souvent vers ton quiz.</a:t>
            </a:r>
            <a:endParaRPr lang="en-US" sz="1650" dirty="0"/>
          </a:p>
          <a:p>
            <a:pPr indent="0" marL="0">
              <a:lnSpc>
                <a:spcPct val="108000"/>
              </a:lnSpc>
              <a:spcAft>
                <a:spcPts val="1200"/>
              </a:spcAft>
              <a:buNone/>
            </a:pPr>
            <a:r>
              <a:rPr lang="en-US" sz="1650" dirty="0">
                <a:solidFill>
                  <a:srgbClr val="2E386E"/>
                </a:solidFill>
                <a:latin typeface="Inter" pitchFamily="34" charset="0"/>
                <a:ea typeface="Inter" pitchFamily="34" charset="-122"/>
                <a:cs typeface="Inter" pitchFamily="34" charset="-120"/>
              </a:rPr>
              <a:t>La vente : ton offre, clairement. Et la gratitude : tu remercies, tu célèbres ta communauté. Ça t'humanise.</a:t>
            </a:r>
            <a:endParaRPr lang="en-US" sz="1650" dirty="0"/>
          </a:p>
        </p:txBody>
      </p:sp>
      <p:sp>
        <p:nvSpPr>
          <p:cNvPr id="4" name="Text 2"/>
          <p:cNvSpPr/>
          <p:nvPr/>
        </p:nvSpPr>
        <p:spPr>
          <a:xfrm>
            <a:off x="457200" y="4759452"/>
            <a:ext cx="6400800" cy="274320"/>
          </a:xfrm>
          <a:prstGeom prst="rect">
            <a:avLst/>
          </a:prstGeom>
          <a:noFill/>
          <a:ln/>
        </p:spPr>
        <p:txBody>
          <a:bodyPr wrap="square" lIns="0" tIns="0" rIns="0" bIns="0" rtlCol="0" anchor="ctr"/>
          <a:lstStyle/>
          <a:p>
            <a:pPr indent="0" marL="0">
              <a:buNone/>
            </a:pPr>
            <a:r>
              <a:rPr lang="en-US" sz="900" b="1" dirty="0">
                <a:solidFill>
                  <a:srgbClr val="6B73A0"/>
                </a:solidFill>
                <a:latin typeface="Inter" pitchFamily="34" charset="0"/>
                <a:ea typeface="Inter" pitchFamily="34" charset="-122"/>
                <a:cs typeface="Inter" pitchFamily="34" charset="-120"/>
              </a:rPr>
              <a:t>L'Atelier du Quiz</a:t>
            </a:r>
            <a:pPr indent="0" marL="0">
              <a:buNone/>
            </a:pPr>
            <a:r>
              <a:rPr lang="en-US" sz="900" dirty="0">
                <a:solidFill>
                  <a:srgbClr val="6B73A0"/>
                </a:solidFill>
                <a:latin typeface="Inter" pitchFamily="34" charset="0"/>
                <a:ea typeface="Inter" pitchFamily="34" charset="-122"/>
                <a:cs typeface="Inter" pitchFamily="34" charset="-120"/>
              </a:rPr>
              <a:t>   ·   Promo réseaux</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7863840" cy="868680"/>
          </a:xfrm>
          <a:prstGeom prst="rect">
            <a:avLst/>
          </a:prstGeom>
          <a:noFill/>
          <a:ln/>
        </p:spPr>
        <p:txBody>
          <a:bodyPr wrap="square" lIns="0" tIns="0" rIns="0" bIns="0" rtlCol="0" anchor="ctr"/>
          <a:lstStyle/>
          <a:p>
            <a:pPr indent="0" marL="0">
              <a:buNone/>
            </a:pPr>
            <a:r>
              <a:rPr lang="en-US" sz="2700" b="1" dirty="0">
                <a:solidFill>
                  <a:srgbClr val="2E386E"/>
                </a:solidFill>
                <a:latin typeface="Inter" pitchFamily="34" charset="0"/>
                <a:ea typeface="Inter" pitchFamily="34" charset="-122"/>
                <a:cs typeface="Inter" pitchFamily="34" charset="-120"/>
              </a:rPr>
              <a:t>À quel rythme, et ton calendrier</a:t>
            </a:r>
            <a:endParaRPr lang="en-US" sz="2700" dirty="0"/>
          </a:p>
        </p:txBody>
      </p:sp>
      <p:sp>
        <p:nvSpPr>
          <p:cNvPr id="3" name="Text 1"/>
          <p:cNvSpPr/>
          <p:nvPr/>
        </p:nvSpPr>
        <p:spPr>
          <a:xfrm>
            <a:off x="640080" y="1691640"/>
            <a:ext cx="7863840" cy="2926080"/>
          </a:xfrm>
          <a:prstGeom prst="rect">
            <a:avLst/>
          </a:prstGeom>
          <a:noFill/>
          <a:ln/>
        </p:spPr>
        <p:txBody>
          <a:bodyPr wrap="square" lIns="0" tIns="0" rIns="0" bIns="0" rtlCol="0" anchor="ctr"/>
          <a:lstStyle/>
          <a:p>
            <a:pPr indent="0" marL="0">
              <a:lnSpc>
                <a:spcPct val="108000"/>
              </a:lnSpc>
              <a:spcAft>
                <a:spcPts val="1200"/>
              </a:spcAft>
              <a:buNone/>
            </a:pPr>
            <a:r>
              <a:rPr lang="en-US" sz="1650" dirty="0">
                <a:solidFill>
                  <a:srgbClr val="2E386E"/>
                </a:solidFill>
                <a:latin typeface="Inter" pitchFamily="34" charset="0"/>
                <a:ea typeface="Inter" pitchFamily="34" charset="-122"/>
                <a:cs typeface="Inter" pitchFamily="34" charset="-120"/>
              </a:rPr>
              <a:t>Mieux vaut 3 posts par semaine tenables toute l'année que 2 par jour pendant deux semaines, puis plus rien. La régularité bat l'intensité.</a:t>
            </a:r>
            <a:endParaRPr lang="en-US" sz="1650" dirty="0"/>
          </a:p>
          <a:p>
            <a:pPr indent="0" marL="0">
              <a:lnSpc>
                <a:spcPct val="108000"/>
              </a:lnSpc>
              <a:spcAft>
                <a:spcPts val="1200"/>
              </a:spcAft>
              <a:buNone/>
            </a:pPr>
            <a:r>
              <a:rPr lang="en-US" sz="1650" dirty="0">
                <a:solidFill>
                  <a:srgbClr val="2E386E"/>
                </a:solidFill>
                <a:latin typeface="Inter" pitchFamily="34" charset="0"/>
                <a:ea typeface="Inter" pitchFamily="34" charset="-122"/>
                <a:cs typeface="Inter" pitchFamily="34" charset="-120"/>
              </a:rPr>
              <a:t>Construis un calendrier simple en alternant les types : valeur, preuve, curiosité, valeur, vente... pour ne jamais être uniquement dans la promo.</a:t>
            </a:r>
            <a:endParaRPr lang="en-US" sz="1650" dirty="0"/>
          </a:p>
          <a:p>
            <a:pPr indent="0" marL="0">
              <a:lnSpc>
                <a:spcPct val="108000"/>
              </a:lnSpc>
              <a:spcAft>
                <a:spcPts val="1200"/>
              </a:spcAft>
              <a:buNone/>
            </a:pPr>
            <a:r>
              <a:rPr lang="en-US" sz="1650" dirty="0">
                <a:solidFill>
                  <a:srgbClr val="2E386E"/>
                </a:solidFill>
                <a:latin typeface="Inter" pitchFamily="34" charset="0"/>
                <a:ea typeface="Inter" pitchFamily="34" charset="-122"/>
                <a:cs typeface="Inter" pitchFamily="34" charset="-120"/>
              </a:rPr>
              <a:t>Règle d'or : la plupart du temps tu donnes (valeur, preuve, curiosité), et de temps en temps tu vends. On suit ceux qui donnent.</a:t>
            </a:r>
            <a:endParaRPr lang="en-US" sz="1650" dirty="0"/>
          </a:p>
        </p:txBody>
      </p:sp>
      <p:sp>
        <p:nvSpPr>
          <p:cNvPr id="4" name="Text 2"/>
          <p:cNvSpPr/>
          <p:nvPr/>
        </p:nvSpPr>
        <p:spPr>
          <a:xfrm>
            <a:off x="457200" y="4759452"/>
            <a:ext cx="6400800" cy="274320"/>
          </a:xfrm>
          <a:prstGeom prst="rect">
            <a:avLst/>
          </a:prstGeom>
          <a:noFill/>
          <a:ln/>
        </p:spPr>
        <p:txBody>
          <a:bodyPr wrap="square" lIns="0" tIns="0" rIns="0" bIns="0" rtlCol="0" anchor="ctr"/>
          <a:lstStyle/>
          <a:p>
            <a:pPr indent="0" marL="0">
              <a:buNone/>
            </a:pPr>
            <a:r>
              <a:rPr lang="en-US" sz="900" b="1" dirty="0">
                <a:solidFill>
                  <a:srgbClr val="6B73A0"/>
                </a:solidFill>
                <a:latin typeface="Inter" pitchFamily="34" charset="0"/>
                <a:ea typeface="Inter" pitchFamily="34" charset="-122"/>
                <a:cs typeface="Inter" pitchFamily="34" charset="-120"/>
              </a:rPr>
              <a:t>L'Atelier du Quiz</a:t>
            </a:r>
            <a:pPr indent="0" marL="0">
              <a:buNone/>
            </a:pPr>
            <a:r>
              <a:rPr lang="en-US" sz="900" dirty="0">
                <a:solidFill>
                  <a:srgbClr val="6B73A0"/>
                </a:solidFill>
                <a:latin typeface="Inter" pitchFamily="34" charset="0"/>
                <a:ea typeface="Inter" pitchFamily="34" charset="-122"/>
                <a:cs typeface="Inter" pitchFamily="34" charset="-120"/>
              </a:rPr>
              <a:t>   ·   Promo réseaux</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7863840" cy="868680"/>
          </a:xfrm>
          <a:prstGeom prst="rect">
            <a:avLst/>
          </a:prstGeom>
          <a:noFill/>
          <a:ln/>
        </p:spPr>
        <p:txBody>
          <a:bodyPr wrap="square" lIns="0" tIns="0" rIns="0" bIns="0" rtlCol="0" anchor="ctr"/>
          <a:lstStyle/>
          <a:p>
            <a:pPr indent="0" marL="0">
              <a:buNone/>
            </a:pPr>
            <a:r>
              <a:rPr lang="en-US" sz="2700" b="1" dirty="0">
                <a:solidFill>
                  <a:srgbClr val="2E386E"/>
                </a:solidFill>
                <a:latin typeface="Inter" pitchFamily="34" charset="0"/>
                <a:ea typeface="Inter" pitchFamily="34" charset="-122"/>
                <a:cs typeface="Inter" pitchFamily="34" charset="-120"/>
              </a:rPr>
              <a:t>Les outils : programme tes posts, gratuitement</a:t>
            </a:r>
            <a:endParaRPr lang="en-US" sz="2700" dirty="0"/>
          </a:p>
        </p:txBody>
      </p:sp>
      <p:sp>
        <p:nvSpPr>
          <p:cNvPr id="3" name="Text 1"/>
          <p:cNvSpPr/>
          <p:nvPr/>
        </p:nvSpPr>
        <p:spPr>
          <a:xfrm>
            <a:off x="640080" y="1691640"/>
            <a:ext cx="7863840" cy="2926080"/>
          </a:xfrm>
          <a:prstGeom prst="rect">
            <a:avLst/>
          </a:prstGeom>
          <a:noFill/>
          <a:ln/>
        </p:spPr>
        <p:txBody>
          <a:bodyPr wrap="square" lIns="0" tIns="0" rIns="0" bIns="0" rtlCol="0" anchor="ctr"/>
          <a:lstStyle/>
          <a:p>
            <a:pPr indent="0" marL="0">
              <a:lnSpc>
                <a:spcPct val="108000"/>
              </a:lnSpc>
              <a:spcAft>
                <a:spcPts val="1200"/>
              </a:spcAft>
              <a:buNone/>
            </a:pPr>
            <a:r>
              <a:rPr lang="en-US" sz="1650" dirty="0">
                <a:solidFill>
                  <a:srgbClr val="2E386E"/>
                </a:solidFill>
                <a:latin typeface="Inter" pitchFamily="34" charset="0"/>
                <a:ea typeface="Inter" pitchFamily="34" charset="-122"/>
                <a:cs typeface="Inter" pitchFamily="34" charset="-120"/>
              </a:rPr>
              <a:t>Tu n'as pas à poster en direct à chaque fois. Prépare tes posts à l'avance et programme-les : tu libères ta tête.</a:t>
            </a:r>
            <a:endParaRPr lang="en-US" sz="1650" dirty="0"/>
          </a:p>
          <a:p>
            <a:pPr indent="0" marL="0">
              <a:lnSpc>
                <a:spcPct val="108000"/>
              </a:lnSpc>
              <a:spcAft>
                <a:spcPts val="1200"/>
              </a:spcAft>
              <a:buNone/>
            </a:pPr>
            <a:r>
              <a:rPr lang="en-US" sz="1650" dirty="0">
                <a:solidFill>
                  <a:srgbClr val="2E386E"/>
                </a:solidFill>
                <a:latin typeface="Inter" pitchFamily="34" charset="0"/>
                <a:ea typeface="Inter" pitchFamily="34" charset="-122"/>
                <a:cs typeface="Inter" pitchFamily="34" charset="-120"/>
              </a:rPr>
              <a:t>Le plus simple et gratuit : les outils de programmation intégrés aux réseaux eux-mêmes (Meta Business Suite pour Facebook et Instagram, la programmation native de LinkedIn, etc.).</a:t>
            </a:r>
            <a:endParaRPr lang="en-US" sz="1650" dirty="0"/>
          </a:p>
          <a:p>
            <a:pPr indent="0" marL="0">
              <a:lnSpc>
                <a:spcPct val="108000"/>
              </a:lnSpc>
              <a:spcAft>
                <a:spcPts val="1200"/>
              </a:spcAft>
              <a:buNone/>
            </a:pPr>
            <a:r>
              <a:rPr lang="en-US" sz="1650" dirty="0">
                <a:solidFill>
                  <a:srgbClr val="2E386E"/>
                </a:solidFill>
                <a:latin typeface="Inter" pitchFamily="34" charset="0"/>
                <a:ea typeface="Inter" pitchFamily="34" charset="-122"/>
                <a:cs typeface="Inter" pitchFamily="34" charset="-120"/>
              </a:rPr>
              <a:t>Bloque 1h par semaine pour préparer et programmer. Le reste de la semaine, tu n'as plus qu'à interagir.</a:t>
            </a:r>
            <a:endParaRPr lang="en-US" sz="1650" dirty="0"/>
          </a:p>
        </p:txBody>
      </p:sp>
      <p:sp>
        <p:nvSpPr>
          <p:cNvPr id="4" name="Text 2"/>
          <p:cNvSpPr/>
          <p:nvPr/>
        </p:nvSpPr>
        <p:spPr>
          <a:xfrm>
            <a:off x="457200" y="4759452"/>
            <a:ext cx="6400800" cy="274320"/>
          </a:xfrm>
          <a:prstGeom prst="rect">
            <a:avLst/>
          </a:prstGeom>
          <a:noFill/>
          <a:ln/>
        </p:spPr>
        <p:txBody>
          <a:bodyPr wrap="square" lIns="0" tIns="0" rIns="0" bIns="0" rtlCol="0" anchor="ctr"/>
          <a:lstStyle/>
          <a:p>
            <a:pPr indent="0" marL="0">
              <a:buNone/>
            </a:pPr>
            <a:r>
              <a:rPr lang="en-US" sz="900" b="1" dirty="0">
                <a:solidFill>
                  <a:srgbClr val="6B73A0"/>
                </a:solidFill>
                <a:latin typeface="Inter" pitchFamily="34" charset="0"/>
                <a:ea typeface="Inter" pitchFamily="34" charset="-122"/>
                <a:cs typeface="Inter" pitchFamily="34" charset="-120"/>
              </a:rPr>
              <a:t>L'Atelier du Quiz</a:t>
            </a:r>
            <a:pPr indent="0" marL="0">
              <a:buNone/>
            </a:pPr>
            <a:r>
              <a:rPr lang="en-US" sz="900" dirty="0">
                <a:solidFill>
                  <a:srgbClr val="6B73A0"/>
                </a:solidFill>
                <a:latin typeface="Inter" pitchFamily="34" charset="0"/>
                <a:ea typeface="Inter" pitchFamily="34" charset="-122"/>
                <a:cs typeface="Inter" pitchFamily="34" charset="-120"/>
              </a:rPr>
              <a:t>   ·   Promo réseaux</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7863840" cy="868680"/>
          </a:xfrm>
          <a:prstGeom prst="rect">
            <a:avLst/>
          </a:prstGeom>
          <a:noFill/>
          <a:ln/>
        </p:spPr>
        <p:txBody>
          <a:bodyPr wrap="square" lIns="0" tIns="0" rIns="0" bIns="0" rtlCol="0" anchor="ctr"/>
          <a:lstStyle/>
          <a:p>
            <a:pPr indent="0" marL="0">
              <a:buNone/>
            </a:pPr>
            <a:r>
              <a:rPr lang="en-US" sz="2700" b="1" dirty="0">
                <a:solidFill>
                  <a:srgbClr val="2E386E"/>
                </a:solidFill>
                <a:latin typeface="Inter" pitchFamily="34" charset="0"/>
                <a:ea typeface="Inter" pitchFamily="34" charset="-122"/>
                <a:cs typeface="Inter" pitchFamily="34" charset="-120"/>
              </a:rPr>
              <a:t>Fais parler l'IA pour aller 10 fois plus vite</a:t>
            </a:r>
            <a:endParaRPr lang="en-US" sz="2700" dirty="0"/>
          </a:p>
        </p:txBody>
      </p:sp>
      <p:sp>
        <p:nvSpPr>
          <p:cNvPr id="3" name="Text 1"/>
          <p:cNvSpPr/>
          <p:nvPr/>
        </p:nvSpPr>
        <p:spPr>
          <a:xfrm>
            <a:off x="640080" y="1691640"/>
            <a:ext cx="7863840" cy="2926080"/>
          </a:xfrm>
          <a:prstGeom prst="rect">
            <a:avLst/>
          </a:prstGeom>
          <a:noFill/>
          <a:ln/>
        </p:spPr>
        <p:txBody>
          <a:bodyPr wrap="square" lIns="0" tIns="0" rIns="0" bIns="0" rtlCol="0" anchor="ctr"/>
          <a:lstStyle/>
          <a:p>
            <a:pPr indent="0" marL="0">
              <a:lnSpc>
                <a:spcPct val="108000"/>
              </a:lnSpc>
              <a:spcAft>
                <a:spcPts val="1200"/>
              </a:spcAft>
              <a:buNone/>
            </a:pPr>
            <a:r>
              <a:rPr lang="en-US" sz="1650" dirty="0">
                <a:solidFill>
                  <a:srgbClr val="2E386E"/>
                </a:solidFill>
                <a:latin typeface="Inter" pitchFamily="34" charset="0"/>
                <a:ea typeface="Inter" pitchFamily="34" charset="-122"/>
                <a:cs typeface="Inter" pitchFamily="34" charset="-120"/>
              </a:rPr>
              <a:t>L'IA peut t'écrire un mois de posts à partir de ton quiz : ses questions, ses profils et ses résultats sont une mine d'idées.</a:t>
            </a:r>
            <a:endParaRPr lang="en-US" sz="1650" dirty="0"/>
          </a:p>
          <a:p>
            <a:pPr indent="0" marL="0">
              <a:lnSpc>
                <a:spcPct val="108000"/>
              </a:lnSpc>
              <a:spcAft>
                <a:spcPts val="1200"/>
              </a:spcAft>
              <a:buNone/>
            </a:pPr>
            <a:r>
              <a:rPr lang="en-US" sz="1650" dirty="0">
                <a:solidFill>
                  <a:srgbClr val="2E386E"/>
                </a:solidFill>
                <a:latin typeface="Inter" pitchFamily="34" charset="0"/>
                <a:ea typeface="Inter" pitchFamily="34" charset="-122"/>
                <a:cs typeface="Inter" pitchFamily="34" charset="-120"/>
              </a:rPr>
              <a:t>Prompt idées : « Voici mon quiz [sujet] et ses profils. Donne-moi 10 idées de posts qui créent la curiosité et mènent à ce quiz, pour [réseau]. »</a:t>
            </a:r>
            <a:endParaRPr lang="en-US" sz="1650" dirty="0"/>
          </a:p>
          <a:p>
            <a:pPr indent="0" marL="0">
              <a:lnSpc>
                <a:spcPct val="108000"/>
              </a:lnSpc>
              <a:spcAft>
                <a:spcPts val="1200"/>
              </a:spcAft>
              <a:buNone/>
            </a:pPr>
            <a:r>
              <a:rPr lang="en-US" sz="1650" dirty="0">
                <a:solidFill>
                  <a:srgbClr val="2E386E"/>
                </a:solidFill>
                <a:latin typeface="Inter" pitchFamily="34" charset="0"/>
                <a:ea typeface="Inter" pitchFamily="34" charset="-122"/>
                <a:cs typeface="Inter" pitchFamily="34" charset="-120"/>
              </a:rPr>
              <a:t>Prompt réécriture : « Réécris ce post dans un style direct et chaleureux, avec une accroche forte sur la 1re ligne, pour [réseau]. » Tu gardes la main, l'IA fait le brouillon.</a:t>
            </a:r>
            <a:endParaRPr lang="en-US" sz="1650" dirty="0"/>
          </a:p>
        </p:txBody>
      </p:sp>
      <p:sp>
        <p:nvSpPr>
          <p:cNvPr id="4" name="Text 2"/>
          <p:cNvSpPr/>
          <p:nvPr/>
        </p:nvSpPr>
        <p:spPr>
          <a:xfrm>
            <a:off x="457200" y="4759452"/>
            <a:ext cx="6400800" cy="274320"/>
          </a:xfrm>
          <a:prstGeom prst="rect">
            <a:avLst/>
          </a:prstGeom>
          <a:noFill/>
          <a:ln/>
        </p:spPr>
        <p:txBody>
          <a:bodyPr wrap="square" lIns="0" tIns="0" rIns="0" bIns="0" rtlCol="0" anchor="ctr"/>
          <a:lstStyle/>
          <a:p>
            <a:pPr indent="0" marL="0">
              <a:buNone/>
            </a:pPr>
            <a:r>
              <a:rPr lang="en-US" sz="900" b="1" dirty="0">
                <a:solidFill>
                  <a:srgbClr val="6B73A0"/>
                </a:solidFill>
                <a:latin typeface="Inter" pitchFamily="34" charset="0"/>
                <a:ea typeface="Inter" pitchFamily="34" charset="-122"/>
                <a:cs typeface="Inter" pitchFamily="34" charset="-120"/>
              </a:rPr>
              <a:t>L'Atelier du Quiz</a:t>
            </a:r>
            <a:pPr indent="0" marL="0">
              <a:buNone/>
            </a:pPr>
            <a:r>
              <a:rPr lang="en-US" sz="900" dirty="0">
                <a:solidFill>
                  <a:srgbClr val="6B73A0"/>
                </a:solidFill>
                <a:latin typeface="Inter" pitchFamily="34" charset="0"/>
                <a:ea typeface="Inter" pitchFamily="34" charset="-122"/>
                <a:cs typeface="Inter" pitchFamily="34" charset="-120"/>
              </a:rPr>
              <a:t>   ·   Promo réseaux</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863840" cy="731520"/>
          </a:xfrm>
          <a:prstGeom prst="rect">
            <a:avLst/>
          </a:prstGeom>
          <a:noFill/>
          <a:ln/>
        </p:spPr>
        <p:txBody>
          <a:bodyPr wrap="square" lIns="0" tIns="0" rIns="0" bIns="0" rtlCol="0" anchor="ctr"/>
          <a:lstStyle/>
          <a:p>
            <a:pPr indent="0" marL="0">
              <a:buNone/>
            </a:pPr>
            <a:r>
              <a:rPr lang="en-US" sz="2700" b="1" dirty="0">
                <a:solidFill>
                  <a:srgbClr val="2E386E"/>
                </a:solidFill>
                <a:latin typeface="Inter" pitchFamily="34" charset="0"/>
                <a:ea typeface="Inter" pitchFamily="34" charset="-122"/>
                <a:cs typeface="Inter" pitchFamily="34" charset="-120"/>
              </a:rPr>
              <a:t>Nouveau profil, ou recycler l'ancien ?</a:t>
            </a:r>
            <a:endParaRPr lang="en-US" sz="2700" dirty="0"/>
          </a:p>
        </p:txBody>
      </p:sp>
      <p:sp>
        <p:nvSpPr>
          <p:cNvPr id="3" name="Shape 1"/>
          <p:cNvSpPr/>
          <p:nvPr/>
        </p:nvSpPr>
        <p:spPr>
          <a:xfrm>
            <a:off x="640080" y="1463040"/>
            <a:ext cx="3749040" cy="2926080"/>
          </a:xfrm>
          <a:prstGeom prst="roundRect">
            <a:avLst>
              <a:gd name="adj" fmla="val 3750"/>
            </a:avLst>
          </a:prstGeom>
          <a:solidFill>
            <a:srgbClr val="F4F5FA"/>
          </a:solidFill>
          <a:ln/>
        </p:spPr>
      </p:sp>
      <p:sp>
        <p:nvSpPr>
          <p:cNvPr id="4" name="Text 2"/>
          <p:cNvSpPr/>
          <p:nvPr/>
        </p:nvSpPr>
        <p:spPr>
          <a:xfrm>
            <a:off x="914400" y="1664208"/>
            <a:ext cx="3291840" cy="365760"/>
          </a:xfrm>
          <a:prstGeom prst="rect">
            <a:avLst/>
          </a:prstGeom>
          <a:noFill/>
          <a:ln/>
        </p:spPr>
        <p:txBody>
          <a:bodyPr wrap="square" lIns="0" tIns="0" rIns="0" bIns="0" rtlCol="0" anchor="ctr"/>
          <a:lstStyle/>
          <a:p>
            <a:pPr indent="0" marL="0">
              <a:buNone/>
            </a:pPr>
            <a:r>
              <a:rPr lang="en-US" sz="1300" b="1" spc="100" kern="0" dirty="0">
                <a:solidFill>
                  <a:srgbClr val="5D6CDB"/>
                </a:solidFill>
                <a:latin typeface="Inter" pitchFamily="34" charset="0"/>
                <a:ea typeface="Inter" pitchFamily="34" charset="-122"/>
                <a:cs typeface="Inter" pitchFamily="34" charset="-120"/>
              </a:rPr>
              <a:t>REPARTIR DE ZÉRO</a:t>
            </a:r>
            <a:endParaRPr lang="en-US" sz="1300" dirty="0"/>
          </a:p>
        </p:txBody>
      </p:sp>
      <p:sp>
        <p:nvSpPr>
          <p:cNvPr id="5" name="Text 3"/>
          <p:cNvSpPr/>
          <p:nvPr/>
        </p:nvSpPr>
        <p:spPr>
          <a:xfrm>
            <a:off x="914400" y="2148840"/>
            <a:ext cx="3246120" cy="2103120"/>
          </a:xfrm>
          <a:prstGeom prst="rect">
            <a:avLst/>
          </a:prstGeom>
          <a:noFill/>
          <a:ln/>
        </p:spPr>
        <p:txBody>
          <a:bodyPr wrap="square" lIns="0" tIns="0" rIns="0" bIns="0" rtlCol="0" anchor="ctr"/>
          <a:lstStyle/>
          <a:p>
            <a:pPr indent="0" marL="0">
              <a:lnSpc>
                <a:spcPct val="108000"/>
              </a:lnSpc>
              <a:spcAft>
                <a:spcPts val="1100"/>
              </a:spcAft>
              <a:buNone/>
            </a:pPr>
            <a:r>
              <a:rPr lang="en-US" sz="1450" dirty="0">
                <a:solidFill>
                  <a:srgbClr val="2E386E"/>
                </a:solidFill>
                <a:latin typeface="Inter" pitchFamily="34" charset="0"/>
                <a:ea typeface="Inter" pitchFamily="34" charset="-122"/>
                <a:cs typeface="Inter" pitchFamily="34" charset="-120"/>
              </a:rPr>
              <a:t>+ Une image 100% pro, claire, sans vieux posts hors sujet.</a:t>
            </a:r>
            <a:endParaRPr lang="en-US" sz="1450" dirty="0"/>
          </a:p>
          <a:p>
            <a:pPr indent="0" marL="0">
              <a:lnSpc>
                <a:spcPct val="108000"/>
              </a:lnSpc>
              <a:spcAft>
                <a:spcPts val="1100"/>
              </a:spcAft>
              <a:buNone/>
            </a:pPr>
            <a:r>
              <a:rPr lang="en-US" sz="1450" dirty="0">
                <a:solidFill>
                  <a:srgbClr val="2E386E"/>
                </a:solidFill>
                <a:latin typeface="Inter" pitchFamily="34" charset="0"/>
                <a:ea typeface="Inter" pitchFamily="34" charset="-122"/>
                <a:cs typeface="Inter" pitchFamily="34" charset="-120"/>
              </a:rPr>
              <a:t>+ Tu choisis ta cible et ton message dès le départ.</a:t>
            </a:r>
            <a:endParaRPr lang="en-US" sz="1450" dirty="0"/>
          </a:p>
          <a:p>
            <a:pPr indent="0" marL="0">
              <a:lnSpc>
                <a:spcPct val="108000"/>
              </a:lnSpc>
              <a:spcAft>
                <a:spcPts val="1100"/>
              </a:spcAft>
              <a:buNone/>
            </a:pPr>
            <a:r>
              <a:rPr lang="en-US" sz="1450" dirty="0">
                <a:solidFill>
                  <a:srgbClr val="2E386E"/>
                </a:solidFill>
                <a:latin typeface="Inter" pitchFamily="34" charset="0"/>
                <a:ea typeface="Inter" pitchFamily="34" charset="-122"/>
                <a:cs typeface="Inter" pitchFamily="34" charset="-120"/>
              </a:rPr>
              <a:t>- Tu repars à 0 abonné, il faut tout reconstruire.</a:t>
            </a:r>
            <a:endParaRPr lang="en-US" sz="1450" dirty="0"/>
          </a:p>
          <a:p>
            <a:pPr indent="0" marL="0">
              <a:lnSpc>
                <a:spcPct val="108000"/>
              </a:lnSpc>
              <a:spcAft>
                <a:spcPts val="1100"/>
              </a:spcAft>
              <a:buNone/>
            </a:pPr>
            <a:r>
              <a:rPr lang="en-US" sz="1450" dirty="0">
                <a:solidFill>
                  <a:srgbClr val="2E386E"/>
                </a:solidFill>
                <a:latin typeface="Inter" pitchFamily="34" charset="0"/>
                <a:ea typeface="Inter" pitchFamily="34" charset="-122"/>
                <a:cs typeface="Inter" pitchFamily="34" charset="-120"/>
              </a:rPr>
              <a:t>- Plus lent à décoller au début.</a:t>
            </a:r>
            <a:endParaRPr lang="en-US" sz="1450" dirty="0"/>
          </a:p>
        </p:txBody>
      </p:sp>
      <p:sp>
        <p:nvSpPr>
          <p:cNvPr id="6" name="Shape 4"/>
          <p:cNvSpPr/>
          <p:nvPr/>
        </p:nvSpPr>
        <p:spPr>
          <a:xfrm>
            <a:off x="4754880" y="1463040"/>
            <a:ext cx="3749040" cy="2926080"/>
          </a:xfrm>
          <a:prstGeom prst="roundRect">
            <a:avLst>
              <a:gd name="adj" fmla="val 3750"/>
            </a:avLst>
          </a:prstGeom>
          <a:solidFill>
            <a:srgbClr val="F4F5FA"/>
          </a:solidFill>
          <a:ln/>
        </p:spPr>
      </p:sp>
      <p:sp>
        <p:nvSpPr>
          <p:cNvPr id="7" name="Text 5"/>
          <p:cNvSpPr/>
          <p:nvPr/>
        </p:nvSpPr>
        <p:spPr>
          <a:xfrm>
            <a:off x="5029200" y="1664208"/>
            <a:ext cx="3291840" cy="365760"/>
          </a:xfrm>
          <a:prstGeom prst="rect">
            <a:avLst/>
          </a:prstGeom>
          <a:noFill/>
          <a:ln/>
        </p:spPr>
        <p:txBody>
          <a:bodyPr wrap="square" lIns="0" tIns="0" rIns="0" bIns="0" rtlCol="0" anchor="ctr"/>
          <a:lstStyle/>
          <a:p>
            <a:pPr indent="0" marL="0">
              <a:buNone/>
            </a:pPr>
            <a:r>
              <a:rPr lang="en-US" sz="1300" b="1" spc="100" kern="0" dirty="0">
                <a:solidFill>
                  <a:srgbClr val="2BB673"/>
                </a:solidFill>
                <a:latin typeface="Inter" pitchFamily="34" charset="0"/>
                <a:ea typeface="Inter" pitchFamily="34" charset="-122"/>
                <a:cs typeface="Inter" pitchFamily="34" charset="-120"/>
              </a:rPr>
              <a:t>RECYCLER TON PROFIL</a:t>
            </a:r>
            <a:endParaRPr lang="en-US" sz="1300" dirty="0"/>
          </a:p>
        </p:txBody>
      </p:sp>
      <p:sp>
        <p:nvSpPr>
          <p:cNvPr id="8" name="Text 6"/>
          <p:cNvSpPr/>
          <p:nvPr/>
        </p:nvSpPr>
        <p:spPr>
          <a:xfrm>
            <a:off x="5029200" y="2148840"/>
            <a:ext cx="3246120" cy="2103120"/>
          </a:xfrm>
          <a:prstGeom prst="rect">
            <a:avLst/>
          </a:prstGeom>
          <a:noFill/>
          <a:ln/>
        </p:spPr>
        <p:txBody>
          <a:bodyPr wrap="square" lIns="0" tIns="0" rIns="0" bIns="0" rtlCol="0" anchor="ctr"/>
          <a:lstStyle/>
          <a:p>
            <a:pPr indent="0" marL="0">
              <a:lnSpc>
                <a:spcPct val="108000"/>
              </a:lnSpc>
              <a:spcAft>
                <a:spcPts val="1100"/>
              </a:spcAft>
              <a:buNone/>
            </a:pPr>
            <a:r>
              <a:rPr lang="en-US" sz="1450" dirty="0">
                <a:solidFill>
                  <a:srgbClr val="2E386E"/>
                </a:solidFill>
                <a:latin typeface="Inter" pitchFamily="34" charset="0"/>
                <a:ea typeface="Inter" pitchFamily="34" charset="-122"/>
                <a:cs typeface="Inter" pitchFamily="34" charset="-120"/>
              </a:rPr>
              <a:t>+ Tu gardes tes abonnés et ton historique de confiance.</a:t>
            </a:r>
            <a:endParaRPr lang="en-US" sz="1450" dirty="0"/>
          </a:p>
          <a:p>
            <a:pPr indent="0" marL="0">
              <a:lnSpc>
                <a:spcPct val="108000"/>
              </a:lnSpc>
              <a:spcAft>
                <a:spcPts val="1100"/>
              </a:spcAft>
              <a:buNone/>
            </a:pPr>
            <a:r>
              <a:rPr lang="en-US" sz="1450" dirty="0">
                <a:solidFill>
                  <a:srgbClr val="2E386E"/>
                </a:solidFill>
                <a:latin typeface="Inter" pitchFamily="34" charset="0"/>
                <a:ea typeface="Inter" pitchFamily="34" charset="-122"/>
                <a:cs typeface="Inter" pitchFamily="34" charset="-120"/>
              </a:rPr>
              <a:t>+ Tu démarres avec une audience déjà là.</a:t>
            </a:r>
            <a:endParaRPr lang="en-US" sz="1450" dirty="0"/>
          </a:p>
          <a:p>
            <a:pPr indent="0" marL="0">
              <a:lnSpc>
                <a:spcPct val="108000"/>
              </a:lnSpc>
              <a:spcAft>
                <a:spcPts val="1100"/>
              </a:spcAft>
              <a:buNone/>
            </a:pPr>
            <a:r>
              <a:rPr lang="en-US" sz="1450" dirty="0">
                <a:solidFill>
                  <a:srgbClr val="2E386E"/>
                </a:solidFill>
                <a:latin typeface="Inter" pitchFamily="34" charset="0"/>
                <a:ea typeface="Inter" pitchFamily="34" charset="-122"/>
                <a:cs typeface="Inter" pitchFamily="34" charset="-120"/>
              </a:rPr>
              <a:t>- Il faut nettoyer les vieux posts hors sujet.</a:t>
            </a:r>
            <a:endParaRPr lang="en-US" sz="1450" dirty="0"/>
          </a:p>
          <a:p>
            <a:pPr indent="0" marL="0">
              <a:lnSpc>
                <a:spcPct val="108000"/>
              </a:lnSpc>
              <a:spcAft>
                <a:spcPts val="1100"/>
              </a:spcAft>
              <a:buNone/>
            </a:pPr>
            <a:r>
              <a:rPr lang="en-US" sz="1450" dirty="0">
                <a:solidFill>
                  <a:srgbClr val="2E386E"/>
                </a:solidFill>
                <a:latin typeface="Inter" pitchFamily="34" charset="0"/>
                <a:ea typeface="Inter" pitchFamily="34" charset="-122"/>
                <a:cs typeface="Inter" pitchFamily="34" charset="-120"/>
              </a:rPr>
              <a:t>- Ton ancienne image peut brouiller ton nouveau message.</a:t>
            </a:r>
            <a:endParaRPr lang="en-US" sz="1450" dirty="0"/>
          </a:p>
        </p:txBody>
      </p:sp>
      <p:sp>
        <p:nvSpPr>
          <p:cNvPr id="9" name="Text 7"/>
          <p:cNvSpPr/>
          <p:nvPr/>
        </p:nvSpPr>
        <p:spPr>
          <a:xfrm>
            <a:off x="457200" y="4759452"/>
            <a:ext cx="6400800" cy="274320"/>
          </a:xfrm>
          <a:prstGeom prst="rect">
            <a:avLst/>
          </a:prstGeom>
          <a:noFill/>
          <a:ln/>
        </p:spPr>
        <p:txBody>
          <a:bodyPr wrap="square" lIns="0" tIns="0" rIns="0" bIns="0" rtlCol="0" anchor="ctr"/>
          <a:lstStyle/>
          <a:p>
            <a:pPr indent="0" marL="0">
              <a:buNone/>
            </a:pPr>
            <a:r>
              <a:rPr lang="en-US" sz="900" b="1" dirty="0">
                <a:solidFill>
                  <a:srgbClr val="6B73A0"/>
                </a:solidFill>
                <a:latin typeface="Inter" pitchFamily="34" charset="0"/>
                <a:ea typeface="Inter" pitchFamily="34" charset="-122"/>
                <a:cs typeface="Inter" pitchFamily="34" charset="-120"/>
              </a:rPr>
              <a:t>L'Atelier du Quiz</a:t>
            </a:r>
            <a:pPr indent="0" marL="0">
              <a:buNone/>
            </a:pPr>
            <a:r>
              <a:rPr lang="en-US" sz="900" dirty="0">
                <a:solidFill>
                  <a:srgbClr val="6B73A0"/>
                </a:solidFill>
                <a:latin typeface="Inter" pitchFamily="34" charset="0"/>
                <a:ea typeface="Inter" pitchFamily="34" charset="-122"/>
                <a:cs typeface="Inter" pitchFamily="34" charset="-120"/>
              </a:rPr>
              <a:t>   ·   Promo réseaux</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5D6CDB"/>
        </a:solidFill>
      </p:bgPr>
    </p:bg>
    <p:spTree>
      <p:nvGrpSpPr>
        <p:cNvPr id="1" name=""/>
        <p:cNvGrpSpPr/>
        <p:nvPr/>
      </p:nvGrpSpPr>
      <p:grpSpPr>
        <a:xfrm>
          <a:off x="0" y="0"/>
          <a:ext cx="0" cy="0"/>
          <a:chOff x="0" y="0"/>
          <a:chExt cx="0" cy="0"/>
        </a:xfrm>
      </p:grpSpPr>
      <p:sp>
        <p:nvSpPr>
          <p:cNvPr id="2" name="Shape 0"/>
          <p:cNvSpPr/>
          <p:nvPr/>
        </p:nvSpPr>
        <p:spPr>
          <a:xfrm>
            <a:off x="-822960" y="3108960"/>
            <a:ext cx="2560320" cy="2560320"/>
          </a:xfrm>
          <a:prstGeom prst="ellipse">
            <a:avLst/>
          </a:prstGeom>
          <a:solidFill>
            <a:srgbClr val="FFFFFF">
              <a:alpha val="12000"/>
            </a:srgbClr>
          </a:solidFill>
          <a:ln/>
        </p:spPr>
      </p:sp>
      <p:sp>
        <p:nvSpPr>
          <p:cNvPr id="3" name="Text 1"/>
          <p:cNvSpPr/>
          <p:nvPr/>
        </p:nvSpPr>
        <p:spPr>
          <a:xfrm>
            <a:off x="640080" y="960120"/>
            <a:ext cx="7863840" cy="365760"/>
          </a:xfrm>
          <a:prstGeom prst="rect">
            <a:avLst/>
          </a:prstGeom>
          <a:noFill/>
          <a:ln/>
        </p:spPr>
        <p:txBody>
          <a:bodyPr wrap="square" lIns="0" tIns="0" rIns="0" bIns="0" rtlCol="0" anchor="ctr"/>
          <a:lstStyle/>
          <a:p>
            <a:pPr indent="0" marL="0">
              <a:buNone/>
            </a:pPr>
            <a:r>
              <a:rPr lang="en-US" sz="1400" b="1" spc="300" kern="0" dirty="0">
                <a:solidFill>
                  <a:srgbClr val="EAECFB"/>
                </a:solidFill>
                <a:latin typeface="Inter" pitchFamily="34" charset="0"/>
                <a:ea typeface="Inter" pitchFamily="34" charset="-122"/>
                <a:cs typeface="Inter" pitchFamily="34" charset="-120"/>
              </a:rPr>
              <a:t>LA PREUVE</a:t>
            </a:r>
            <a:endParaRPr lang="en-US" sz="1400" dirty="0"/>
          </a:p>
        </p:txBody>
      </p:sp>
      <p:sp>
        <p:nvSpPr>
          <p:cNvPr id="4" name="Text 2"/>
          <p:cNvSpPr/>
          <p:nvPr/>
        </p:nvSpPr>
        <p:spPr>
          <a:xfrm>
            <a:off x="640080" y="1371600"/>
            <a:ext cx="7863840" cy="1188720"/>
          </a:xfrm>
          <a:prstGeom prst="rect">
            <a:avLst/>
          </a:prstGeom>
          <a:noFill/>
          <a:ln/>
        </p:spPr>
        <p:txBody>
          <a:bodyPr wrap="square" lIns="0" tIns="0" rIns="0" bIns="0" rtlCol="0" anchor="ctr"/>
          <a:lstStyle/>
          <a:p>
            <a:pPr indent="0" marL="0">
              <a:buNone/>
            </a:pPr>
            <a:r>
              <a:rPr lang="en-US" sz="6400" b="1" dirty="0">
                <a:solidFill>
                  <a:srgbClr val="FFFFFF"/>
                </a:solidFill>
                <a:latin typeface="Inter" pitchFamily="34" charset="0"/>
                <a:ea typeface="Inter" pitchFamily="34" charset="-122"/>
                <a:cs typeface="Inter" pitchFamily="34" charset="-120"/>
              </a:rPr>
              <a:t>7</a:t>
            </a:r>
            <a:endParaRPr lang="en-US" sz="6400" dirty="0"/>
          </a:p>
        </p:txBody>
      </p:sp>
      <p:sp>
        <p:nvSpPr>
          <p:cNvPr id="5" name="Text 3"/>
          <p:cNvSpPr/>
          <p:nvPr/>
        </p:nvSpPr>
        <p:spPr>
          <a:xfrm>
            <a:off x="658368" y="2697480"/>
            <a:ext cx="7680960" cy="1005840"/>
          </a:xfrm>
          <a:prstGeom prst="rect">
            <a:avLst/>
          </a:prstGeom>
          <a:noFill/>
          <a:ln/>
        </p:spPr>
        <p:txBody>
          <a:bodyPr wrap="square" lIns="0" tIns="0" rIns="0" bIns="0" rtlCol="0" anchor="ctr"/>
          <a:lstStyle/>
          <a:p>
            <a:pPr indent="0" marL="0">
              <a:lnSpc>
                <a:spcPct val="105000"/>
              </a:lnSpc>
              <a:buNone/>
            </a:pPr>
            <a:r>
              <a:rPr lang="en-US" sz="2000" dirty="0">
                <a:solidFill>
                  <a:srgbClr val="FFFFFF"/>
                </a:solidFill>
                <a:latin typeface="Inter" pitchFamily="34" charset="0"/>
                <a:ea typeface="Inter" pitchFamily="34" charset="-122"/>
                <a:cs typeface="Inter" pitchFamily="34" charset="-120"/>
              </a:rPr>
              <a:t>C'est le nombre de fois qu'on doit te voir, en moyenne, avant de te faire confiance et d'agir. D'où l'importance de poster régulièrement.</a:t>
            </a:r>
            <a:endParaRPr lang="en-US" sz="2000" dirty="0"/>
          </a:p>
        </p:txBody>
      </p:sp>
      <p:sp>
        <p:nvSpPr>
          <p:cNvPr id="6" name="Text 4"/>
          <p:cNvSpPr/>
          <p:nvPr/>
        </p:nvSpPr>
        <p:spPr>
          <a:xfrm>
            <a:off x="658368" y="3886200"/>
            <a:ext cx="7680960" cy="365760"/>
          </a:xfrm>
          <a:prstGeom prst="rect">
            <a:avLst/>
          </a:prstGeom>
          <a:noFill/>
          <a:ln/>
        </p:spPr>
        <p:txBody>
          <a:bodyPr wrap="square" lIns="0" tIns="0" rIns="0" bIns="0" rtlCol="0" anchor="ctr"/>
          <a:lstStyle/>
          <a:p>
            <a:pPr indent="0" marL="0">
              <a:buNone/>
            </a:pPr>
            <a:r>
              <a:rPr lang="en-US" sz="1200" i="1" dirty="0">
                <a:solidFill>
                  <a:srgbClr val="EAECFB"/>
                </a:solidFill>
                <a:latin typeface="Inter" pitchFamily="34" charset="0"/>
                <a:ea typeface="Inter" pitchFamily="34" charset="-122"/>
                <a:cs typeface="Inter" pitchFamily="34" charset="-120"/>
              </a:rPr>
              <a:t>Repère marketing : la règle des 7 contacts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863840" cy="640080"/>
          </a:xfrm>
          <a:prstGeom prst="rect">
            <a:avLst/>
          </a:prstGeom>
          <a:noFill/>
          <a:ln/>
        </p:spPr>
        <p:txBody>
          <a:bodyPr wrap="square" lIns="0" tIns="0" rIns="0" bIns="0" rtlCol="0" anchor="ctr"/>
          <a:lstStyle/>
          <a:p>
            <a:pPr indent="0" marL="0">
              <a:buNone/>
            </a:pPr>
            <a:r>
              <a:rPr lang="en-US" sz="3000" b="1" dirty="0">
                <a:solidFill>
                  <a:srgbClr val="2E386E"/>
                </a:solidFill>
                <a:latin typeface="Inter" pitchFamily="34" charset="0"/>
                <a:ea typeface="Inter" pitchFamily="34" charset="-122"/>
                <a:cs typeface="Inter" pitchFamily="34" charset="-120"/>
              </a:rPr>
              <a:t>Les réflexes qui marchent partout</a:t>
            </a:r>
            <a:endParaRPr lang="en-US" sz="3000" dirty="0"/>
          </a:p>
        </p:txBody>
      </p:sp>
      <p:sp>
        <p:nvSpPr>
          <p:cNvPr id="3" name="Shape 1"/>
          <p:cNvSpPr/>
          <p:nvPr/>
        </p:nvSpPr>
        <p:spPr>
          <a:xfrm>
            <a:off x="640080" y="1534478"/>
            <a:ext cx="457200" cy="457200"/>
          </a:xfrm>
          <a:prstGeom prst="ellipse">
            <a:avLst/>
          </a:prstGeom>
          <a:solidFill>
            <a:srgbClr val="5D6CDB"/>
          </a:solidFill>
          <a:ln/>
        </p:spPr>
      </p:sp>
      <p:sp>
        <p:nvSpPr>
          <p:cNvPr id="4" name="Text 2"/>
          <p:cNvSpPr/>
          <p:nvPr/>
        </p:nvSpPr>
        <p:spPr>
          <a:xfrm>
            <a:off x="640080" y="153447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Inter" pitchFamily="34" charset="0"/>
                <a:ea typeface="Inter" pitchFamily="34" charset="-122"/>
                <a:cs typeface="Inter" pitchFamily="34" charset="-120"/>
              </a:rPr>
              <a:t>1</a:t>
            </a:r>
            <a:endParaRPr lang="en-US" sz="1600" dirty="0"/>
          </a:p>
        </p:txBody>
      </p:sp>
      <p:sp>
        <p:nvSpPr>
          <p:cNvPr id="5" name="Text 3"/>
          <p:cNvSpPr/>
          <p:nvPr/>
        </p:nvSpPr>
        <p:spPr>
          <a:xfrm>
            <a:off x="1280160" y="1371600"/>
            <a:ext cx="7223760" cy="782955"/>
          </a:xfrm>
          <a:prstGeom prst="rect">
            <a:avLst/>
          </a:prstGeom>
          <a:noFill/>
          <a:ln/>
        </p:spPr>
        <p:txBody>
          <a:bodyPr wrap="square" lIns="0" tIns="0" rIns="0" bIns="0" rtlCol="0" anchor="ctr"/>
          <a:lstStyle/>
          <a:p>
            <a:pPr indent="0" marL="0">
              <a:buNone/>
            </a:pPr>
            <a:r>
              <a:rPr lang="en-US" sz="1600" dirty="0">
                <a:solidFill>
                  <a:srgbClr val="2E386E"/>
                </a:solidFill>
                <a:latin typeface="Inter" pitchFamily="34" charset="0"/>
                <a:ea typeface="Inter" pitchFamily="34" charset="-122"/>
                <a:cs typeface="Inter" pitchFamily="34" charset="-120"/>
              </a:rPr>
              <a:t>Soigne ton profil : photo nette, bio orientée bénéfice, un lien, zéro polémique en pro.</a:t>
            </a:r>
            <a:endParaRPr lang="en-US" sz="1600" dirty="0"/>
          </a:p>
        </p:txBody>
      </p:sp>
      <p:sp>
        <p:nvSpPr>
          <p:cNvPr id="6" name="Shape 4"/>
          <p:cNvSpPr/>
          <p:nvPr/>
        </p:nvSpPr>
        <p:spPr>
          <a:xfrm>
            <a:off x="640080" y="2317433"/>
            <a:ext cx="457200" cy="457200"/>
          </a:xfrm>
          <a:prstGeom prst="ellipse">
            <a:avLst/>
          </a:prstGeom>
          <a:solidFill>
            <a:srgbClr val="5D6CDB"/>
          </a:solidFill>
          <a:ln/>
        </p:spPr>
      </p:sp>
      <p:sp>
        <p:nvSpPr>
          <p:cNvPr id="7" name="Text 5"/>
          <p:cNvSpPr/>
          <p:nvPr/>
        </p:nvSpPr>
        <p:spPr>
          <a:xfrm>
            <a:off x="640080" y="2317433"/>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Inter" pitchFamily="34" charset="0"/>
                <a:ea typeface="Inter" pitchFamily="34" charset="-122"/>
                <a:cs typeface="Inter" pitchFamily="34" charset="-120"/>
              </a:rPr>
              <a:t>2</a:t>
            </a:r>
            <a:endParaRPr lang="en-US" sz="1600" dirty="0"/>
          </a:p>
        </p:txBody>
      </p:sp>
      <p:sp>
        <p:nvSpPr>
          <p:cNvPr id="8" name="Text 6"/>
          <p:cNvSpPr/>
          <p:nvPr/>
        </p:nvSpPr>
        <p:spPr>
          <a:xfrm>
            <a:off x="1280160" y="2154555"/>
            <a:ext cx="7223760" cy="782955"/>
          </a:xfrm>
          <a:prstGeom prst="rect">
            <a:avLst/>
          </a:prstGeom>
          <a:noFill/>
          <a:ln/>
        </p:spPr>
        <p:txBody>
          <a:bodyPr wrap="square" lIns="0" tIns="0" rIns="0" bIns="0" rtlCol="0" anchor="ctr"/>
          <a:lstStyle/>
          <a:p>
            <a:pPr indent="0" marL="0">
              <a:buNone/>
            </a:pPr>
            <a:r>
              <a:rPr lang="en-US" sz="1600" dirty="0">
                <a:solidFill>
                  <a:srgbClr val="2E386E"/>
                </a:solidFill>
                <a:latin typeface="Inter" pitchFamily="34" charset="0"/>
                <a:ea typeface="Inter" pitchFamily="34" charset="-122"/>
                <a:cs typeface="Inter" pitchFamily="34" charset="-120"/>
              </a:rPr>
              <a:t>Mets un lien en bio qui mène à ton quiz, via une page Systeme.io.</a:t>
            </a:r>
            <a:endParaRPr lang="en-US" sz="1600" dirty="0"/>
          </a:p>
        </p:txBody>
      </p:sp>
      <p:sp>
        <p:nvSpPr>
          <p:cNvPr id="9" name="Shape 7"/>
          <p:cNvSpPr/>
          <p:nvPr/>
        </p:nvSpPr>
        <p:spPr>
          <a:xfrm>
            <a:off x="640080" y="3100388"/>
            <a:ext cx="457200" cy="457200"/>
          </a:xfrm>
          <a:prstGeom prst="ellipse">
            <a:avLst/>
          </a:prstGeom>
          <a:solidFill>
            <a:srgbClr val="5D6CDB"/>
          </a:solidFill>
          <a:ln/>
        </p:spPr>
      </p:sp>
      <p:sp>
        <p:nvSpPr>
          <p:cNvPr id="10" name="Text 8"/>
          <p:cNvSpPr/>
          <p:nvPr/>
        </p:nvSpPr>
        <p:spPr>
          <a:xfrm>
            <a:off x="640080" y="310038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Inter" pitchFamily="34" charset="0"/>
                <a:ea typeface="Inter" pitchFamily="34" charset="-122"/>
                <a:cs typeface="Inter" pitchFamily="34" charset="-120"/>
              </a:rPr>
              <a:t>3</a:t>
            </a:r>
            <a:endParaRPr lang="en-US" sz="1600" dirty="0"/>
          </a:p>
        </p:txBody>
      </p:sp>
      <p:sp>
        <p:nvSpPr>
          <p:cNvPr id="11" name="Text 9"/>
          <p:cNvSpPr/>
          <p:nvPr/>
        </p:nvSpPr>
        <p:spPr>
          <a:xfrm>
            <a:off x="1280160" y="2937510"/>
            <a:ext cx="7223760" cy="782955"/>
          </a:xfrm>
          <a:prstGeom prst="rect">
            <a:avLst/>
          </a:prstGeom>
          <a:noFill/>
          <a:ln/>
        </p:spPr>
        <p:txBody>
          <a:bodyPr wrap="square" lIns="0" tIns="0" rIns="0" bIns="0" rtlCol="0" anchor="ctr"/>
          <a:lstStyle/>
          <a:p>
            <a:pPr indent="0" marL="0">
              <a:buNone/>
            </a:pPr>
            <a:r>
              <a:rPr lang="en-US" sz="1600" dirty="0">
                <a:solidFill>
                  <a:srgbClr val="2E386E"/>
                </a:solidFill>
                <a:latin typeface="Inter" pitchFamily="34" charset="0"/>
                <a:ea typeface="Inter" pitchFamily="34" charset="-122"/>
                <a:cs typeface="Inter" pitchFamily="34" charset="-120"/>
              </a:rPr>
              <a:t>Poste régulièrement en alternant valeur, preuve, curiosité, et un peu de vente.</a:t>
            </a:r>
            <a:endParaRPr lang="en-US" sz="1600" dirty="0"/>
          </a:p>
        </p:txBody>
      </p:sp>
      <p:sp>
        <p:nvSpPr>
          <p:cNvPr id="12" name="Shape 10"/>
          <p:cNvSpPr/>
          <p:nvPr/>
        </p:nvSpPr>
        <p:spPr>
          <a:xfrm>
            <a:off x="640080" y="3883342"/>
            <a:ext cx="457200" cy="457200"/>
          </a:xfrm>
          <a:prstGeom prst="ellipse">
            <a:avLst/>
          </a:prstGeom>
          <a:solidFill>
            <a:srgbClr val="5D6CDB"/>
          </a:solidFill>
          <a:ln/>
        </p:spPr>
      </p:sp>
      <p:sp>
        <p:nvSpPr>
          <p:cNvPr id="13" name="Text 11"/>
          <p:cNvSpPr/>
          <p:nvPr/>
        </p:nvSpPr>
        <p:spPr>
          <a:xfrm>
            <a:off x="640080" y="388334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Inter" pitchFamily="34" charset="0"/>
                <a:ea typeface="Inter" pitchFamily="34" charset="-122"/>
                <a:cs typeface="Inter" pitchFamily="34" charset="-120"/>
              </a:rPr>
              <a:t>4</a:t>
            </a:r>
            <a:endParaRPr lang="en-US" sz="1600" dirty="0"/>
          </a:p>
        </p:txBody>
      </p:sp>
      <p:sp>
        <p:nvSpPr>
          <p:cNvPr id="14" name="Text 12"/>
          <p:cNvSpPr/>
          <p:nvPr/>
        </p:nvSpPr>
        <p:spPr>
          <a:xfrm>
            <a:off x="1280160" y="3720465"/>
            <a:ext cx="7223760" cy="782955"/>
          </a:xfrm>
          <a:prstGeom prst="rect">
            <a:avLst/>
          </a:prstGeom>
          <a:noFill/>
          <a:ln/>
        </p:spPr>
        <p:txBody>
          <a:bodyPr wrap="square" lIns="0" tIns="0" rIns="0" bIns="0" rtlCol="0" anchor="ctr"/>
          <a:lstStyle/>
          <a:p>
            <a:pPr indent="0" marL="0">
              <a:buNone/>
            </a:pPr>
            <a:r>
              <a:rPr lang="en-US" sz="1600" dirty="0">
                <a:solidFill>
                  <a:srgbClr val="2E386E"/>
                </a:solidFill>
                <a:latin typeface="Inter" pitchFamily="34" charset="0"/>
                <a:ea typeface="Inter" pitchFamily="34" charset="-122"/>
                <a:cs typeface="Inter" pitchFamily="34" charset="-120"/>
              </a:rPr>
              <a:t>Interagis à la main avant et après chaque post pour booster sa portée.</a:t>
            </a:r>
            <a:endParaRPr lang="en-US" sz="1600" dirty="0"/>
          </a:p>
        </p:txBody>
      </p:sp>
      <p:sp>
        <p:nvSpPr>
          <p:cNvPr id="15" name="Text 13"/>
          <p:cNvSpPr/>
          <p:nvPr/>
        </p:nvSpPr>
        <p:spPr>
          <a:xfrm>
            <a:off x="457200" y="4759452"/>
            <a:ext cx="6400800" cy="274320"/>
          </a:xfrm>
          <a:prstGeom prst="rect">
            <a:avLst/>
          </a:prstGeom>
          <a:noFill/>
          <a:ln/>
        </p:spPr>
        <p:txBody>
          <a:bodyPr wrap="square" lIns="0" tIns="0" rIns="0" bIns="0" rtlCol="0" anchor="ctr"/>
          <a:lstStyle/>
          <a:p>
            <a:pPr indent="0" marL="0">
              <a:buNone/>
            </a:pPr>
            <a:r>
              <a:rPr lang="en-US" sz="900" b="1" dirty="0">
                <a:solidFill>
                  <a:srgbClr val="6B73A0"/>
                </a:solidFill>
                <a:latin typeface="Inter" pitchFamily="34" charset="0"/>
                <a:ea typeface="Inter" pitchFamily="34" charset="-122"/>
                <a:cs typeface="Inter" pitchFamily="34" charset="-120"/>
              </a:rPr>
              <a:t>L'Atelier du Quiz</a:t>
            </a:r>
            <a:pPr indent="0" marL="0">
              <a:buNone/>
            </a:pPr>
            <a:r>
              <a:rPr lang="en-US" sz="900" dirty="0">
                <a:solidFill>
                  <a:srgbClr val="6B73A0"/>
                </a:solidFill>
                <a:latin typeface="Inter" pitchFamily="34" charset="0"/>
                <a:ea typeface="Inter" pitchFamily="34" charset="-122"/>
                <a:cs typeface="Inter" pitchFamily="34" charset="-120"/>
              </a:rPr>
              <a:t>   ·   Promo réseaux</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7863840" cy="731520"/>
          </a:xfrm>
          <a:prstGeom prst="rect">
            <a:avLst/>
          </a:prstGeom>
          <a:noFill/>
          <a:ln/>
        </p:spPr>
        <p:txBody>
          <a:bodyPr wrap="square" lIns="0" tIns="0" rIns="0" bIns="0" rtlCol="0" anchor="ctr"/>
          <a:lstStyle/>
          <a:p>
            <a:pPr indent="0" marL="0">
              <a:buNone/>
            </a:pPr>
            <a:r>
              <a:rPr lang="en-US" sz="2600" b="1" dirty="0">
                <a:solidFill>
                  <a:srgbClr val="2E386E"/>
                </a:solidFill>
                <a:latin typeface="Inter" pitchFamily="34" charset="0"/>
                <a:ea typeface="Inter" pitchFamily="34" charset="-122"/>
                <a:cs typeface="Inter" pitchFamily="34" charset="-120"/>
              </a:rPr>
              <a:t>Comment un inconnu devient ton lead</a:t>
            </a:r>
            <a:endParaRPr lang="en-US" sz="2600" dirty="0"/>
          </a:p>
        </p:txBody>
      </p:sp>
      <p:sp>
        <p:nvSpPr>
          <p:cNvPr id="3" name="Shape 1"/>
          <p:cNvSpPr/>
          <p:nvPr/>
        </p:nvSpPr>
        <p:spPr>
          <a:xfrm>
            <a:off x="640080" y="2240280"/>
            <a:ext cx="1207008" cy="960120"/>
          </a:xfrm>
          <a:prstGeom prst="roundRect">
            <a:avLst>
              <a:gd name="adj" fmla="val 9524"/>
            </a:avLst>
          </a:prstGeom>
          <a:solidFill>
            <a:srgbClr val="EAECFB"/>
          </a:solidFill>
          <a:ln/>
        </p:spPr>
      </p:sp>
      <p:sp>
        <p:nvSpPr>
          <p:cNvPr id="4" name="Text 2"/>
          <p:cNvSpPr/>
          <p:nvPr/>
        </p:nvSpPr>
        <p:spPr>
          <a:xfrm>
            <a:off x="685800" y="2240280"/>
            <a:ext cx="1115568" cy="960120"/>
          </a:xfrm>
          <a:prstGeom prst="rect">
            <a:avLst/>
          </a:prstGeom>
          <a:noFill/>
          <a:ln/>
        </p:spPr>
        <p:txBody>
          <a:bodyPr wrap="square" lIns="0" tIns="0" rIns="0" bIns="0" rtlCol="0" anchor="ctr"/>
          <a:lstStyle/>
          <a:p>
            <a:pPr algn="ctr" indent="0" marL="0">
              <a:buNone/>
            </a:pPr>
            <a:r>
              <a:rPr lang="en-US" sz="1350" b="1" dirty="0">
                <a:solidFill>
                  <a:srgbClr val="2E386E"/>
                </a:solidFill>
                <a:latin typeface="Inter" pitchFamily="34" charset="0"/>
                <a:ea typeface="Inter" pitchFamily="34" charset="-122"/>
                <a:cs typeface="Inter" pitchFamily="34" charset="-120"/>
              </a:rPr>
              <a:t>Il voit ton post de valeur</a:t>
            </a:r>
            <a:endParaRPr lang="en-US" sz="1350" dirty="0"/>
          </a:p>
        </p:txBody>
      </p:sp>
      <p:sp>
        <p:nvSpPr>
          <p:cNvPr id="5" name="Text 3"/>
          <p:cNvSpPr/>
          <p:nvPr/>
        </p:nvSpPr>
        <p:spPr>
          <a:xfrm>
            <a:off x="1847088" y="2240280"/>
            <a:ext cx="457200" cy="960120"/>
          </a:xfrm>
          <a:prstGeom prst="rect">
            <a:avLst/>
          </a:prstGeom>
          <a:noFill/>
          <a:ln/>
        </p:spPr>
        <p:txBody>
          <a:bodyPr wrap="square" lIns="0" tIns="0" rIns="0" bIns="0" rtlCol="0" anchor="ctr"/>
          <a:lstStyle/>
          <a:p>
            <a:pPr algn="ctr" indent="0" marL="0">
              <a:buNone/>
            </a:pPr>
            <a:r>
              <a:rPr lang="en-US" sz="2600" b="1" dirty="0">
                <a:solidFill>
                  <a:srgbClr val="F5B301"/>
                </a:solidFill>
                <a:latin typeface="Inter" pitchFamily="34" charset="0"/>
                <a:ea typeface="Inter" pitchFamily="34" charset="-122"/>
                <a:cs typeface="Inter" pitchFamily="34" charset="-120"/>
              </a:rPr>
              <a:t>→</a:t>
            </a:r>
            <a:endParaRPr lang="en-US" sz="2600" dirty="0"/>
          </a:p>
        </p:txBody>
      </p:sp>
      <p:sp>
        <p:nvSpPr>
          <p:cNvPr id="6" name="Shape 4"/>
          <p:cNvSpPr/>
          <p:nvPr/>
        </p:nvSpPr>
        <p:spPr>
          <a:xfrm>
            <a:off x="2304288" y="2240280"/>
            <a:ext cx="1207008" cy="960120"/>
          </a:xfrm>
          <a:prstGeom prst="roundRect">
            <a:avLst>
              <a:gd name="adj" fmla="val 9524"/>
            </a:avLst>
          </a:prstGeom>
          <a:solidFill>
            <a:srgbClr val="EAECFB"/>
          </a:solidFill>
          <a:ln/>
        </p:spPr>
      </p:sp>
      <p:sp>
        <p:nvSpPr>
          <p:cNvPr id="7" name="Text 5"/>
          <p:cNvSpPr/>
          <p:nvPr/>
        </p:nvSpPr>
        <p:spPr>
          <a:xfrm>
            <a:off x="2350008" y="2240280"/>
            <a:ext cx="1115568" cy="960120"/>
          </a:xfrm>
          <a:prstGeom prst="rect">
            <a:avLst/>
          </a:prstGeom>
          <a:noFill/>
          <a:ln/>
        </p:spPr>
        <p:txBody>
          <a:bodyPr wrap="square" lIns="0" tIns="0" rIns="0" bIns="0" rtlCol="0" anchor="ctr"/>
          <a:lstStyle/>
          <a:p>
            <a:pPr algn="ctr" indent="0" marL="0">
              <a:buNone/>
            </a:pPr>
            <a:r>
              <a:rPr lang="en-US" sz="1350" b="1" dirty="0">
                <a:solidFill>
                  <a:srgbClr val="2E386E"/>
                </a:solidFill>
                <a:latin typeface="Inter" pitchFamily="34" charset="0"/>
                <a:ea typeface="Inter" pitchFamily="34" charset="-122"/>
                <a:cs typeface="Inter" pitchFamily="34" charset="-120"/>
              </a:rPr>
              <a:t>Il visite ton profil</a:t>
            </a:r>
            <a:endParaRPr lang="en-US" sz="1350" dirty="0"/>
          </a:p>
        </p:txBody>
      </p:sp>
      <p:sp>
        <p:nvSpPr>
          <p:cNvPr id="8" name="Text 6"/>
          <p:cNvSpPr/>
          <p:nvPr/>
        </p:nvSpPr>
        <p:spPr>
          <a:xfrm>
            <a:off x="3511296" y="2240280"/>
            <a:ext cx="457200" cy="960120"/>
          </a:xfrm>
          <a:prstGeom prst="rect">
            <a:avLst/>
          </a:prstGeom>
          <a:noFill/>
          <a:ln/>
        </p:spPr>
        <p:txBody>
          <a:bodyPr wrap="square" lIns="0" tIns="0" rIns="0" bIns="0" rtlCol="0" anchor="ctr"/>
          <a:lstStyle/>
          <a:p>
            <a:pPr algn="ctr" indent="0" marL="0">
              <a:buNone/>
            </a:pPr>
            <a:r>
              <a:rPr lang="en-US" sz="2600" b="1" dirty="0">
                <a:solidFill>
                  <a:srgbClr val="F5B301"/>
                </a:solidFill>
                <a:latin typeface="Inter" pitchFamily="34" charset="0"/>
                <a:ea typeface="Inter" pitchFamily="34" charset="-122"/>
                <a:cs typeface="Inter" pitchFamily="34" charset="-120"/>
              </a:rPr>
              <a:t>→</a:t>
            </a:r>
            <a:endParaRPr lang="en-US" sz="2600" dirty="0"/>
          </a:p>
        </p:txBody>
      </p:sp>
      <p:sp>
        <p:nvSpPr>
          <p:cNvPr id="9" name="Shape 7"/>
          <p:cNvSpPr/>
          <p:nvPr/>
        </p:nvSpPr>
        <p:spPr>
          <a:xfrm>
            <a:off x="3968496" y="2240280"/>
            <a:ext cx="1207008" cy="960120"/>
          </a:xfrm>
          <a:prstGeom prst="roundRect">
            <a:avLst>
              <a:gd name="adj" fmla="val 9524"/>
            </a:avLst>
          </a:prstGeom>
          <a:solidFill>
            <a:srgbClr val="EAECFB"/>
          </a:solidFill>
          <a:ln/>
        </p:spPr>
      </p:sp>
      <p:sp>
        <p:nvSpPr>
          <p:cNvPr id="10" name="Text 8"/>
          <p:cNvSpPr/>
          <p:nvPr/>
        </p:nvSpPr>
        <p:spPr>
          <a:xfrm>
            <a:off x="4014216" y="2240280"/>
            <a:ext cx="1115568" cy="960120"/>
          </a:xfrm>
          <a:prstGeom prst="rect">
            <a:avLst/>
          </a:prstGeom>
          <a:noFill/>
          <a:ln/>
        </p:spPr>
        <p:txBody>
          <a:bodyPr wrap="square" lIns="0" tIns="0" rIns="0" bIns="0" rtlCol="0" anchor="ctr"/>
          <a:lstStyle/>
          <a:p>
            <a:pPr algn="ctr" indent="0" marL="0">
              <a:buNone/>
            </a:pPr>
            <a:r>
              <a:rPr lang="en-US" sz="1350" b="1" dirty="0">
                <a:solidFill>
                  <a:srgbClr val="2E386E"/>
                </a:solidFill>
                <a:latin typeface="Inter" pitchFamily="34" charset="0"/>
                <a:ea typeface="Inter" pitchFamily="34" charset="-122"/>
                <a:cs typeface="Inter" pitchFamily="34" charset="-120"/>
              </a:rPr>
              <a:t>Il clique sur ton lien en bio</a:t>
            </a:r>
            <a:endParaRPr lang="en-US" sz="1350" dirty="0"/>
          </a:p>
        </p:txBody>
      </p:sp>
      <p:sp>
        <p:nvSpPr>
          <p:cNvPr id="11" name="Text 9"/>
          <p:cNvSpPr/>
          <p:nvPr/>
        </p:nvSpPr>
        <p:spPr>
          <a:xfrm>
            <a:off x="5175504" y="2240280"/>
            <a:ext cx="457200" cy="960120"/>
          </a:xfrm>
          <a:prstGeom prst="rect">
            <a:avLst/>
          </a:prstGeom>
          <a:noFill/>
          <a:ln/>
        </p:spPr>
        <p:txBody>
          <a:bodyPr wrap="square" lIns="0" tIns="0" rIns="0" bIns="0" rtlCol="0" anchor="ctr"/>
          <a:lstStyle/>
          <a:p>
            <a:pPr algn="ctr" indent="0" marL="0">
              <a:buNone/>
            </a:pPr>
            <a:r>
              <a:rPr lang="en-US" sz="2600" b="1" dirty="0">
                <a:solidFill>
                  <a:srgbClr val="F5B301"/>
                </a:solidFill>
                <a:latin typeface="Inter" pitchFamily="34" charset="0"/>
                <a:ea typeface="Inter" pitchFamily="34" charset="-122"/>
                <a:cs typeface="Inter" pitchFamily="34" charset="-120"/>
              </a:rPr>
              <a:t>→</a:t>
            </a:r>
            <a:endParaRPr lang="en-US" sz="2600" dirty="0"/>
          </a:p>
        </p:txBody>
      </p:sp>
      <p:sp>
        <p:nvSpPr>
          <p:cNvPr id="12" name="Shape 10"/>
          <p:cNvSpPr/>
          <p:nvPr/>
        </p:nvSpPr>
        <p:spPr>
          <a:xfrm>
            <a:off x="5632704" y="2240280"/>
            <a:ext cx="1207008" cy="960120"/>
          </a:xfrm>
          <a:prstGeom prst="roundRect">
            <a:avLst>
              <a:gd name="adj" fmla="val 9524"/>
            </a:avLst>
          </a:prstGeom>
          <a:solidFill>
            <a:srgbClr val="EAECFB"/>
          </a:solidFill>
          <a:ln/>
        </p:spPr>
      </p:sp>
      <p:sp>
        <p:nvSpPr>
          <p:cNvPr id="13" name="Text 11"/>
          <p:cNvSpPr/>
          <p:nvPr/>
        </p:nvSpPr>
        <p:spPr>
          <a:xfrm>
            <a:off x="5678424" y="2240280"/>
            <a:ext cx="1115568" cy="960120"/>
          </a:xfrm>
          <a:prstGeom prst="rect">
            <a:avLst/>
          </a:prstGeom>
          <a:noFill/>
          <a:ln/>
        </p:spPr>
        <p:txBody>
          <a:bodyPr wrap="square" lIns="0" tIns="0" rIns="0" bIns="0" rtlCol="0" anchor="ctr"/>
          <a:lstStyle/>
          <a:p>
            <a:pPr algn="ctr" indent="0" marL="0">
              <a:buNone/>
            </a:pPr>
            <a:r>
              <a:rPr lang="en-US" sz="1350" b="1" dirty="0">
                <a:solidFill>
                  <a:srgbClr val="2E386E"/>
                </a:solidFill>
                <a:latin typeface="Inter" pitchFamily="34" charset="0"/>
                <a:ea typeface="Inter" pitchFamily="34" charset="-122"/>
                <a:cs typeface="Inter" pitchFamily="34" charset="-120"/>
              </a:rPr>
              <a:t>Il arrive sur ton quiz</a:t>
            </a:r>
            <a:endParaRPr lang="en-US" sz="1350" dirty="0"/>
          </a:p>
        </p:txBody>
      </p:sp>
      <p:sp>
        <p:nvSpPr>
          <p:cNvPr id="14" name="Text 12"/>
          <p:cNvSpPr/>
          <p:nvPr/>
        </p:nvSpPr>
        <p:spPr>
          <a:xfrm>
            <a:off x="6839712" y="2240280"/>
            <a:ext cx="457200" cy="960120"/>
          </a:xfrm>
          <a:prstGeom prst="rect">
            <a:avLst/>
          </a:prstGeom>
          <a:noFill/>
          <a:ln/>
        </p:spPr>
        <p:txBody>
          <a:bodyPr wrap="square" lIns="0" tIns="0" rIns="0" bIns="0" rtlCol="0" anchor="ctr"/>
          <a:lstStyle/>
          <a:p>
            <a:pPr algn="ctr" indent="0" marL="0">
              <a:buNone/>
            </a:pPr>
            <a:r>
              <a:rPr lang="en-US" sz="2600" b="1" dirty="0">
                <a:solidFill>
                  <a:srgbClr val="F5B301"/>
                </a:solidFill>
                <a:latin typeface="Inter" pitchFamily="34" charset="0"/>
                <a:ea typeface="Inter" pitchFamily="34" charset="-122"/>
                <a:cs typeface="Inter" pitchFamily="34" charset="-120"/>
              </a:rPr>
              <a:t>→</a:t>
            </a:r>
            <a:endParaRPr lang="en-US" sz="2600" dirty="0"/>
          </a:p>
        </p:txBody>
      </p:sp>
      <p:sp>
        <p:nvSpPr>
          <p:cNvPr id="15" name="Shape 13"/>
          <p:cNvSpPr/>
          <p:nvPr/>
        </p:nvSpPr>
        <p:spPr>
          <a:xfrm>
            <a:off x="7296912" y="2240280"/>
            <a:ext cx="1207008" cy="960120"/>
          </a:xfrm>
          <a:prstGeom prst="roundRect">
            <a:avLst>
              <a:gd name="adj" fmla="val 9524"/>
            </a:avLst>
          </a:prstGeom>
          <a:solidFill>
            <a:srgbClr val="EAECFB"/>
          </a:solidFill>
          <a:ln/>
        </p:spPr>
      </p:sp>
      <p:sp>
        <p:nvSpPr>
          <p:cNvPr id="16" name="Text 14"/>
          <p:cNvSpPr/>
          <p:nvPr/>
        </p:nvSpPr>
        <p:spPr>
          <a:xfrm>
            <a:off x="7342632" y="2240280"/>
            <a:ext cx="1115568" cy="960120"/>
          </a:xfrm>
          <a:prstGeom prst="rect">
            <a:avLst/>
          </a:prstGeom>
          <a:noFill/>
          <a:ln/>
        </p:spPr>
        <p:txBody>
          <a:bodyPr wrap="square" lIns="0" tIns="0" rIns="0" bIns="0" rtlCol="0" anchor="ctr"/>
          <a:lstStyle/>
          <a:p>
            <a:pPr algn="ctr" indent="0" marL="0">
              <a:buNone/>
            </a:pPr>
            <a:r>
              <a:rPr lang="en-US" sz="1350" b="1" dirty="0">
                <a:solidFill>
                  <a:srgbClr val="2E386E"/>
                </a:solidFill>
                <a:latin typeface="Inter" pitchFamily="34" charset="0"/>
                <a:ea typeface="Inter" pitchFamily="34" charset="-122"/>
                <a:cs typeface="Inter" pitchFamily="34" charset="-120"/>
              </a:rPr>
              <a:t>Il devient un lead</a:t>
            </a:r>
            <a:endParaRPr lang="en-US" sz="1350" dirty="0"/>
          </a:p>
        </p:txBody>
      </p:sp>
      <p:sp>
        <p:nvSpPr>
          <p:cNvPr id="17" name="Text 15"/>
          <p:cNvSpPr/>
          <p:nvPr/>
        </p:nvSpPr>
        <p:spPr>
          <a:xfrm>
            <a:off x="640080" y="3566160"/>
            <a:ext cx="7863840" cy="548640"/>
          </a:xfrm>
          <a:prstGeom prst="rect">
            <a:avLst/>
          </a:prstGeom>
          <a:noFill/>
          <a:ln/>
        </p:spPr>
        <p:txBody>
          <a:bodyPr wrap="square" lIns="0" tIns="0" rIns="0" bIns="0" rtlCol="0" anchor="ctr"/>
          <a:lstStyle/>
          <a:p>
            <a:pPr algn="ctr" indent="0" marL="0">
              <a:buNone/>
            </a:pPr>
            <a:r>
              <a:rPr lang="en-US" sz="1500" i="1" dirty="0">
                <a:solidFill>
                  <a:srgbClr val="6B73A0"/>
                </a:solidFill>
                <a:latin typeface="Inter" pitchFamily="34" charset="0"/>
                <a:ea typeface="Inter" pitchFamily="34" charset="-122"/>
                <a:cs typeface="Inter" pitchFamily="34" charset="-120"/>
              </a:rPr>
              <a:t>Chaque post est un hameçon. Le profil et le lien font le reste.</a:t>
            </a:r>
            <a:endParaRPr lang="en-US" sz="1500" dirty="0"/>
          </a:p>
        </p:txBody>
      </p:sp>
      <p:sp>
        <p:nvSpPr>
          <p:cNvPr id="18" name="Text 16"/>
          <p:cNvSpPr/>
          <p:nvPr/>
        </p:nvSpPr>
        <p:spPr>
          <a:xfrm>
            <a:off x="457200" y="4759452"/>
            <a:ext cx="6400800" cy="274320"/>
          </a:xfrm>
          <a:prstGeom prst="rect">
            <a:avLst/>
          </a:prstGeom>
          <a:noFill/>
          <a:ln/>
        </p:spPr>
        <p:txBody>
          <a:bodyPr wrap="square" lIns="0" tIns="0" rIns="0" bIns="0" rtlCol="0" anchor="ctr"/>
          <a:lstStyle/>
          <a:p>
            <a:pPr indent="0" marL="0">
              <a:buNone/>
            </a:pPr>
            <a:r>
              <a:rPr lang="en-US" sz="900" b="1" dirty="0">
                <a:solidFill>
                  <a:srgbClr val="6B73A0"/>
                </a:solidFill>
                <a:latin typeface="Inter" pitchFamily="34" charset="0"/>
                <a:ea typeface="Inter" pitchFamily="34" charset="-122"/>
                <a:cs typeface="Inter" pitchFamily="34" charset="-120"/>
              </a:rPr>
              <a:t>L'Atelier du Quiz</a:t>
            </a:r>
            <a:pPr indent="0" marL="0">
              <a:buNone/>
            </a:pPr>
            <a:r>
              <a:rPr lang="en-US" sz="900" dirty="0">
                <a:solidFill>
                  <a:srgbClr val="6B73A0"/>
                </a:solidFill>
                <a:latin typeface="Inter" pitchFamily="34" charset="0"/>
                <a:ea typeface="Inter" pitchFamily="34" charset="-122"/>
                <a:cs typeface="Inter" pitchFamily="34" charset="-120"/>
              </a:rPr>
              <a:t>   ·   Promo réseaux</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5FA"/>
        </a:solidFill>
      </p:bgPr>
    </p:bg>
    <p:spTree>
      <p:nvGrpSpPr>
        <p:cNvPr id="1" name=""/>
        <p:cNvGrpSpPr/>
        <p:nvPr/>
      </p:nvGrpSpPr>
      <p:grpSpPr>
        <a:xfrm>
          <a:off x="0" y="0"/>
          <a:ext cx="0" cy="0"/>
          <a:chOff x="0" y="0"/>
          <a:chExt cx="0" cy="0"/>
        </a:xfrm>
      </p:grpSpPr>
      <p:sp>
        <p:nvSpPr>
          <p:cNvPr id="2" name="Text 0"/>
          <p:cNvSpPr/>
          <p:nvPr/>
        </p:nvSpPr>
        <p:spPr>
          <a:xfrm>
            <a:off x="640080" y="365760"/>
            <a:ext cx="7315200" cy="320040"/>
          </a:xfrm>
          <a:prstGeom prst="rect">
            <a:avLst/>
          </a:prstGeom>
          <a:noFill/>
          <a:ln/>
        </p:spPr>
        <p:txBody>
          <a:bodyPr wrap="square" lIns="0" tIns="0" rIns="0" bIns="0" rtlCol="0" anchor="ctr"/>
          <a:lstStyle/>
          <a:p>
            <a:pPr indent="0" marL="0">
              <a:buNone/>
            </a:pPr>
            <a:r>
              <a:rPr lang="en-US" sz="1200" b="1" spc="200" kern="0" dirty="0">
                <a:solidFill>
                  <a:srgbClr val="F5B301"/>
                </a:solidFill>
                <a:latin typeface="Inter" pitchFamily="34" charset="0"/>
                <a:ea typeface="Inter" pitchFamily="34" charset="-122"/>
                <a:cs typeface="Inter" pitchFamily="34" charset="-120"/>
              </a:rPr>
              <a:t>GROWTH HACK   1/4</a:t>
            </a:r>
            <a:endParaRPr lang="en-US" sz="1200" dirty="0"/>
          </a:p>
        </p:txBody>
      </p:sp>
      <p:sp>
        <p:nvSpPr>
          <p:cNvPr id="3" name="Text 1"/>
          <p:cNvSpPr/>
          <p:nvPr/>
        </p:nvSpPr>
        <p:spPr>
          <a:xfrm>
            <a:off x="640080" y="676656"/>
            <a:ext cx="7863840" cy="594360"/>
          </a:xfrm>
          <a:prstGeom prst="rect">
            <a:avLst/>
          </a:prstGeom>
          <a:noFill/>
          <a:ln/>
        </p:spPr>
        <p:txBody>
          <a:bodyPr wrap="square" lIns="0" tIns="0" rIns="0" bIns="0" rtlCol="0" anchor="ctr"/>
          <a:lstStyle/>
          <a:p>
            <a:pPr indent="0" marL="0">
              <a:buNone/>
            </a:pPr>
            <a:r>
              <a:rPr lang="en-US" sz="2500" b="1" dirty="0">
                <a:solidFill>
                  <a:srgbClr val="2E386E"/>
                </a:solidFill>
                <a:latin typeface="Inter" pitchFamily="34" charset="0"/>
                <a:ea typeface="Inter" pitchFamily="34" charset="-122"/>
                <a:cs typeface="Inter" pitchFamily="34" charset="-120"/>
              </a:rPr>
              <a:t>Interagis à la main avant ET après ton post</a:t>
            </a:r>
            <a:endParaRPr lang="en-US" sz="2500" dirty="0"/>
          </a:p>
        </p:txBody>
      </p:sp>
      <p:sp>
        <p:nvSpPr>
          <p:cNvPr id="4" name="Shape 2"/>
          <p:cNvSpPr/>
          <p:nvPr/>
        </p:nvSpPr>
        <p:spPr>
          <a:xfrm>
            <a:off x="640080" y="1417320"/>
            <a:ext cx="3840480" cy="1517904"/>
          </a:xfrm>
          <a:prstGeom prst="roundRect">
            <a:avLst>
              <a:gd name="adj" fmla="val 4819"/>
            </a:avLst>
          </a:prstGeom>
          <a:solidFill>
            <a:srgbClr val="FFFFFF"/>
          </a:solidFill>
          <a:ln/>
          <a:effectLst>
            <a:outerShdw sx="100000" sy="100000" kx="0" ky="0" algn="bl" rotWithShape="0" blurRad="114300" dist="38100" dir="8100000">
              <a:srgbClr val="2E386E">
                <a:alpha val="16000"/>
              </a:srgbClr>
            </a:outerShdw>
          </a:effectLst>
        </p:spPr>
      </p:sp>
      <p:pic>
        <p:nvPicPr>
          <p:cNvPr id="5" name="Image 0" descr="preencoded.png">    </p:cNvPr>
          <p:cNvPicPr>
            <a:picLocks noChangeAspect="1"/>
          </p:cNvPicPr>
          <p:nvPr/>
        </p:nvPicPr>
        <p:blipFill>
          <a:blip r:embed="rId1"/>
          <a:stretch>
            <a:fillRect/>
          </a:stretch>
        </p:blipFill>
        <p:spPr>
          <a:xfrm>
            <a:off x="841248" y="1581912"/>
            <a:ext cx="237744" cy="237744"/>
          </a:xfrm>
          <a:prstGeom prst="rect">
            <a:avLst/>
          </a:prstGeom>
        </p:spPr>
      </p:pic>
      <p:sp>
        <p:nvSpPr>
          <p:cNvPr id="6" name="Text 3"/>
          <p:cNvSpPr/>
          <p:nvPr/>
        </p:nvSpPr>
        <p:spPr>
          <a:xfrm>
            <a:off x="1161288" y="1563624"/>
            <a:ext cx="3127248" cy="274320"/>
          </a:xfrm>
          <a:prstGeom prst="rect">
            <a:avLst/>
          </a:prstGeom>
          <a:noFill/>
          <a:ln/>
        </p:spPr>
        <p:txBody>
          <a:bodyPr wrap="square" lIns="0" tIns="0" rIns="0" bIns="0" rtlCol="0" anchor="ctr"/>
          <a:lstStyle/>
          <a:p>
            <a:pPr indent="0" marL="0">
              <a:buNone/>
            </a:pPr>
            <a:r>
              <a:rPr lang="en-US" sz="950" b="1" spc="100" kern="0" dirty="0">
                <a:solidFill>
                  <a:srgbClr val="5D6CDB"/>
                </a:solidFill>
                <a:latin typeface="Inter" pitchFamily="34" charset="0"/>
                <a:ea typeface="Inter" pitchFamily="34" charset="-122"/>
                <a:cs typeface="Inter" pitchFamily="34" charset="-120"/>
              </a:rPr>
              <a:t>COMMENT ÇA MARCHE</a:t>
            </a:r>
            <a:endParaRPr lang="en-US" sz="950" dirty="0"/>
          </a:p>
        </p:txBody>
      </p:sp>
      <p:sp>
        <p:nvSpPr>
          <p:cNvPr id="7" name="Text 4"/>
          <p:cNvSpPr/>
          <p:nvPr/>
        </p:nvSpPr>
        <p:spPr>
          <a:xfrm>
            <a:off x="841248" y="1892808"/>
            <a:ext cx="3438144" cy="932688"/>
          </a:xfrm>
          <a:prstGeom prst="rect">
            <a:avLst/>
          </a:prstGeom>
          <a:noFill/>
          <a:ln/>
        </p:spPr>
        <p:txBody>
          <a:bodyPr wrap="square" lIns="0" tIns="0" rIns="0" bIns="0" rtlCol="0" anchor="t"/>
          <a:lstStyle/>
          <a:p>
            <a:pPr indent="0" marL="0">
              <a:lnSpc>
                <a:spcPct val="104000"/>
              </a:lnSpc>
              <a:buNone/>
            </a:pPr>
            <a:r>
              <a:rPr lang="en-US" sz="1150" dirty="0">
                <a:solidFill>
                  <a:srgbClr val="2E386E"/>
                </a:solidFill>
                <a:latin typeface="Inter" pitchFamily="34" charset="0"/>
                <a:ea typeface="Inter" pitchFamily="34" charset="-122"/>
                <a:cs typeface="Inter" pitchFamily="34" charset="-120"/>
              </a:rPr>
              <a:t>15 minutes avant de poster, tu commentes d'autres posts. Juste après, tu réponds à chaque commentaire sur le tien.</a:t>
            </a:r>
            <a:endParaRPr lang="en-US" sz="1150" dirty="0"/>
          </a:p>
        </p:txBody>
      </p:sp>
      <p:sp>
        <p:nvSpPr>
          <p:cNvPr id="8" name="Shape 5"/>
          <p:cNvSpPr/>
          <p:nvPr/>
        </p:nvSpPr>
        <p:spPr>
          <a:xfrm>
            <a:off x="4663440" y="1417320"/>
            <a:ext cx="3840480" cy="1517904"/>
          </a:xfrm>
          <a:prstGeom prst="roundRect">
            <a:avLst>
              <a:gd name="adj" fmla="val 4819"/>
            </a:avLst>
          </a:prstGeom>
          <a:solidFill>
            <a:srgbClr val="FFFFFF"/>
          </a:solidFill>
          <a:ln/>
          <a:effectLst>
            <a:outerShdw sx="100000" sy="100000" kx="0" ky="0" algn="bl" rotWithShape="0" blurRad="114300" dist="38100" dir="8100000">
              <a:srgbClr val="2E386E">
                <a:alpha val="16000"/>
              </a:srgbClr>
            </a:outerShdw>
          </a:effectLst>
        </p:spPr>
      </p:sp>
      <p:pic>
        <p:nvPicPr>
          <p:cNvPr id="9" name="Image 1" descr="preencoded.png">    </p:cNvPr>
          <p:cNvPicPr>
            <a:picLocks noChangeAspect="1"/>
          </p:cNvPicPr>
          <p:nvPr/>
        </p:nvPicPr>
        <p:blipFill>
          <a:blip r:embed="rId2"/>
          <a:stretch>
            <a:fillRect/>
          </a:stretch>
        </p:blipFill>
        <p:spPr>
          <a:xfrm>
            <a:off x="4864608" y="1581912"/>
            <a:ext cx="237744" cy="237744"/>
          </a:xfrm>
          <a:prstGeom prst="rect">
            <a:avLst/>
          </a:prstGeom>
        </p:spPr>
      </p:pic>
      <p:sp>
        <p:nvSpPr>
          <p:cNvPr id="10" name="Text 6"/>
          <p:cNvSpPr/>
          <p:nvPr/>
        </p:nvSpPr>
        <p:spPr>
          <a:xfrm>
            <a:off x="5184648" y="1563624"/>
            <a:ext cx="3127248" cy="274320"/>
          </a:xfrm>
          <a:prstGeom prst="rect">
            <a:avLst/>
          </a:prstGeom>
          <a:noFill/>
          <a:ln/>
        </p:spPr>
        <p:txBody>
          <a:bodyPr wrap="square" lIns="0" tIns="0" rIns="0" bIns="0" rtlCol="0" anchor="ctr"/>
          <a:lstStyle/>
          <a:p>
            <a:pPr indent="0" marL="0">
              <a:buNone/>
            </a:pPr>
            <a:r>
              <a:rPr lang="en-US" sz="950" b="1" spc="100" kern="0" dirty="0">
                <a:solidFill>
                  <a:srgbClr val="5D6CDB"/>
                </a:solidFill>
                <a:latin typeface="Inter" pitchFamily="34" charset="0"/>
                <a:ea typeface="Inter" pitchFamily="34" charset="-122"/>
                <a:cs typeface="Inter" pitchFamily="34" charset="-120"/>
              </a:rPr>
              <a:t>POURQUOI ÇA MARCHE</a:t>
            </a:r>
            <a:endParaRPr lang="en-US" sz="950" dirty="0"/>
          </a:p>
        </p:txBody>
      </p:sp>
      <p:sp>
        <p:nvSpPr>
          <p:cNvPr id="11" name="Text 7"/>
          <p:cNvSpPr/>
          <p:nvPr/>
        </p:nvSpPr>
        <p:spPr>
          <a:xfrm>
            <a:off x="4864608" y="1892808"/>
            <a:ext cx="3438144" cy="932688"/>
          </a:xfrm>
          <a:prstGeom prst="rect">
            <a:avLst/>
          </a:prstGeom>
          <a:noFill/>
          <a:ln/>
        </p:spPr>
        <p:txBody>
          <a:bodyPr wrap="square" lIns="0" tIns="0" rIns="0" bIns="0" rtlCol="0" anchor="t"/>
          <a:lstStyle/>
          <a:p>
            <a:pPr indent="0" marL="0">
              <a:lnSpc>
                <a:spcPct val="104000"/>
              </a:lnSpc>
              <a:buNone/>
            </a:pPr>
            <a:r>
              <a:rPr lang="en-US" sz="1150" dirty="0">
                <a:solidFill>
                  <a:srgbClr val="2E386E"/>
                </a:solidFill>
                <a:latin typeface="Inter" pitchFamily="34" charset="0"/>
                <a:ea typeface="Inter" pitchFamily="34" charset="-122"/>
                <a:cs typeface="Inter" pitchFamily="34" charset="-120"/>
              </a:rPr>
              <a:t>L'algorithme regarde l'activité des premières minutes. Plus ça bouge vite, plus il montre ton post à du monde. Tu amorces la pompe à la main.</a:t>
            </a:r>
            <a:endParaRPr lang="en-US" sz="1150" dirty="0"/>
          </a:p>
        </p:txBody>
      </p:sp>
      <p:sp>
        <p:nvSpPr>
          <p:cNvPr id="12" name="Shape 8"/>
          <p:cNvSpPr/>
          <p:nvPr/>
        </p:nvSpPr>
        <p:spPr>
          <a:xfrm>
            <a:off x="640080" y="3099816"/>
            <a:ext cx="3840480" cy="1517904"/>
          </a:xfrm>
          <a:prstGeom prst="roundRect">
            <a:avLst>
              <a:gd name="adj" fmla="val 4819"/>
            </a:avLst>
          </a:prstGeom>
          <a:solidFill>
            <a:srgbClr val="FFFFFF"/>
          </a:solidFill>
          <a:ln/>
          <a:effectLst>
            <a:outerShdw sx="100000" sy="100000" kx="0" ky="0" algn="bl" rotWithShape="0" blurRad="114300" dist="38100" dir="8100000">
              <a:srgbClr val="2E386E">
                <a:alpha val="16000"/>
              </a:srgbClr>
            </a:outerShdw>
          </a:effectLst>
        </p:spPr>
      </p:sp>
      <p:pic>
        <p:nvPicPr>
          <p:cNvPr id="13" name="Image 2" descr="preencoded.png">    </p:cNvPr>
          <p:cNvPicPr>
            <a:picLocks noChangeAspect="1"/>
          </p:cNvPicPr>
          <p:nvPr/>
        </p:nvPicPr>
        <p:blipFill>
          <a:blip r:embed="rId3"/>
          <a:stretch>
            <a:fillRect/>
          </a:stretch>
        </p:blipFill>
        <p:spPr>
          <a:xfrm>
            <a:off x="841248" y="3264408"/>
            <a:ext cx="237744" cy="237744"/>
          </a:xfrm>
          <a:prstGeom prst="rect">
            <a:avLst/>
          </a:prstGeom>
        </p:spPr>
      </p:pic>
      <p:sp>
        <p:nvSpPr>
          <p:cNvPr id="14" name="Text 9"/>
          <p:cNvSpPr/>
          <p:nvPr/>
        </p:nvSpPr>
        <p:spPr>
          <a:xfrm>
            <a:off x="1161288" y="3246120"/>
            <a:ext cx="3127248" cy="274320"/>
          </a:xfrm>
          <a:prstGeom prst="rect">
            <a:avLst/>
          </a:prstGeom>
          <a:noFill/>
          <a:ln/>
        </p:spPr>
        <p:txBody>
          <a:bodyPr wrap="square" lIns="0" tIns="0" rIns="0" bIns="0" rtlCol="0" anchor="ctr"/>
          <a:lstStyle/>
          <a:p>
            <a:pPr indent="0" marL="0">
              <a:buNone/>
            </a:pPr>
            <a:r>
              <a:rPr lang="en-US" sz="950" b="1" spc="100" kern="0" dirty="0">
                <a:solidFill>
                  <a:srgbClr val="F5B301"/>
                </a:solidFill>
                <a:latin typeface="Inter" pitchFamily="34" charset="0"/>
                <a:ea typeface="Inter" pitchFamily="34" charset="-122"/>
                <a:cs typeface="Inter" pitchFamily="34" charset="-120"/>
              </a:rPr>
              <a:t>COMMENT ONT FAIT LES AUTRES</a:t>
            </a:r>
            <a:endParaRPr lang="en-US" sz="950" dirty="0"/>
          </a:p>
        </p:txBody>
      </p:sp>
      <p:sp>
        <p:nvSpPr>
          <p:cNvPr id="15" name="Text 10"/>
          <p:cNvSpPr/>
          <p:nvPr/>
        </p:nvSpPr>
        <p:spPr>
          <a:xfrm>
            <a:off x="841248" y="3575304"/>
            <a:ext cx="3438144" cy="932688"/>
          </a:xfrm>
          <a:prstGeom prst="rect">
            <a:avLst/>
          </a:prstGeom>
          <a:noFill/>
          <a:ln/>
        </p:spPr>
        <p:txBody>
          <a:bodyPr wrap="square" lIns="0" tIns="0" rIns="0" bIns="0" rtlCol="0" anchor="t"/>
          <a:lstStyle/>
          <a:p>
            <a:pPr indent="0" marL="0">
              <a:lnSpc>
                <a:spcPct val="104000"/>
              </a:lnSpc>
              <a:buNone/>
            </a:pPr>
            <a:r>
              <a:rPr lang="en-US" sz="1150" dirty="0">
                <a:solidFill>
                  <a:srgbClr val="2E386E"/>
                </a:solidFill>
                <a:latin typeface="Inter" pitchFamily="34" charset="0"/>
                <a:ea typeface="Inter" pitchFamily="34" charset="-122"/>
                <a:cs typeface="Inter" pitchFamily="34" charset="-120"/>
              </a:rPr>
              <a:t>C'est le secret mal connu des gros comptes : ils ne « postent et partent » jamais, ils animent les 30 premières minutes.</a:t>
            </a:r>
            <a:endParaRPr lang="en-US" sz="1150" dirty="0"/>
          </a:p>
        </p:txBody>
      </p:sp>
      <p:sp>
        <p:nvSpPr>
          <p:cNvPr id="16" name="Shape 11"/>
          <p:cNvSpPr/>
          <p:nvPr/>
        </p:nvSpPr>
        <p:spPr>
          <a:xfrm>
            <a:off x="4663440" y="3099816"/>
            <a:ext cx="3840480" cy="1517904"/>
          </a:xfrm>
          <a:prstGeom prst="roundRect">
            <a:avLst>
              <a:gd name="adj" fmla="val 4819"/>
            </a:avLst>
          </a:prstGeom>
          <a:solidFill>
            <a:srgbClr val="FFFFFF"/>
          </a:solidFill>
          <a:ln/>
          <a:effectLst>
            <a:outerShdw sx="100000" sy="100000" kx="0" ky="0" algn="bl" rotWithShape="0" blurRad="114300" dist="38100" dir="8100000">
              <a:srgbClr val="2E386E">
                <a:alpha val="16000"/>
              </a:srgbClr>
            </a:outerShdw>
          </a:effectLst>
        </p:spPr>
      </p:sp>
      <p:pic>
        <p:nvPicPr>
          <p:cNvPr id="17" name="Image 3" descr="preencoded.png">    </p:cNvPr>
          <p:cNvPicPr>
            <a:picLocks noChangeAspect="1"/>
          </p:cNvPicPr>
          <p:nvPr/>
        </p:nvPicPr>
        <p:blipFill>
          <a:blip r:embed="rId4"/>
          <a:stretch>
            <a:fillRect/>
          </a:stretch>
        </p:blipFill>
        <p:spPr>
          <a:xfrm>
            <a:off x="4864608" y="3264408"/>
            <a:ext cx="237744" cy="237744"/>
          </a:xfrm>
          <a:prstGeom prst="rect">
            <a:avLst/>
          </a:prstGeom>
        </p:spPr>
      </p:pic>
      <p:sp>
        <p:nvSpPr>
          <p:cNvPr id="18" name="Text 12"/>
          <p:cNvSpPr/>
          <p:nvPr/>
        </p:nvSpPr>
        <p:spPr>
          <a:xfrm>
            <a:off x="5184648" y="3246120"/>
            <a:ext cx="3127248" cy="274320"/>
          </a:xfrm>
          <a:prstGeom prst="rect">
            <a:avLst/>
          </a:prstGeom>
          <a:noFill/>
          <a:ln/>
        </p:spPr>
        <p:txBody>
          <a:bodyPr wrap="square" lIns="0" tIns="0" rIns="0" bIns="0" rtlCol="0" anchor="ctr"/>
          <a:lstStyle/>
          <a:p>
            <a:pPr indent="0" marL="0">
              <a:buNone/>
            </a:pPr>
            <a:r>
              <a:rPr lang="en-US" sz="950" b="1" spc="100" kern="0" dirty="0">
                <a:solidFill>
                  <a:srgbClr val="2BB673"/>
                </a:solidFill>
                <a:latin typeface="Inter" pitchFamily="34" charset="0"/>
                <a:ea typeface="Inter" pitchFamily="34" charset="-122"/>
                <a:cs typeface="Inter" pitchFamily="34" charset="-120"/>
              </a:rPr>
              <a:t>COMMENT FAIRE CHEZ TOI</a:t>
            </a:r>
            <a:endParaRPr lang="en-US" sz="950" dirty="0"/>
          </a:p>
        </p:txBody>
      </p:sp>
      <p:sp>
        <p:nvSpPr>
          <p:cNvPr id="19" name="Text 13"/>
          <p:cNvSpPr/>
          <p:nvPr/>
        </p:nvSpPr>
        <p:spPr>
          <a:xfrm>
            <a:off x="4864608" y="3575304"/>
            <a:ext cx="3438144" cy="932688"/>
          </a:xfrm>
          <a:prstGeom prst="rect">
            <a:avLst/>
          </a:prstGeom>
          <a:noFill/>
          <a:ln/>
        </p:spPr>
        <p:txBody>
          <a:bodyPr wrap="square" lIns="0" tIns="0" rIns="0" bIns="0" rtlCol="0" anchor="t"/>
          <a:lstStyle/>
          <a:p>
            <a:pPr indent="0" marL="0">
              <a:lnSpc>
                <a:spcPct val="104000"/>
              </a:lnSpc>
              <a:buNone/>
            </a:pPr>
            <a:r>
              <a:rPr lang="en-US" sz="1150" dirty="0">
                <a:solidFill>
                  <a:srgbClr val="2E386E"/>
                </a:solidFill>
                <a:latin typeface="Inter" pitchFamily="34" charset="0"/>
                <a:ea typeface="Inter" pitchFamily="34" charset="-122"/>
                <a:cs typeface="Inter" pitchFamily="34" charset="-120"/>
              </a:rPr>
              <a:t>Bloque 15 min avant et 30 min après chaque post pour commenter et répondre, vraiment, pas en mode robot.</a:t>
            </a:r>
            <a:endParaRPr lang="en-US" sz="1150" dirty="0"/>
          </a:p>
        </p:txBody>
      </p:sp>
      <p:sp>
        <p:nvSpPr>
          <p:cNvPr id="20" name="Text 14"/>
          <p:cNvSpPr/>
          <p:nvPr/>
        </p:nvSpPr>
        <p:spPr>
          <a:xfrm>
            <a:off x="457200" y="4759452"/>
            <a:ext cx="6400800" cy="274320"/>
          </a:xfrm>
          <a:prstGeom prst="rect">
            <a:avLst/>
          </a:prstGeom>
          <a:noFill/>
          <a:ln/>
        </p:spPr>
        <p:txBody>
          <a:bodyPr wrap="square" lIns="0" tIns="0" rIns="0" bIns="0" rtlCol="0" anchor="ctr"/>
          <a:lstStyle/>
          <a:p>
            <a:pPr indent="0" marL="0">
              <a:buNone/>
            </a:pPr>
            <a:r>
              <a:rPr lang="en-US" sz="900" b="1" dirty="0">
                <a:solidFill>
                  <a:srgbClr val="6B73A0"/>
                </a:solidFill>
                <a:latin typeface="Inter" pitchFamily="34" charset="0"/>
                <a:ea typeface="Inter" pitchFamily="34" charset="-122"/>
                <a:cs typeface="Inter" pitchFamily="34" charset="-120"/>
              </a:rPr>
              <a:t>L'Atelier du Quiz</a:t>
            </a:r>
            <a:pPr indent="0" marL="0">
              <a:buNone/>
            </a:pPr>
            <a:r>
              <a:rPr lang="en-US" sz="900" dirty="0">
                <a:solidFill>
                  <a:srgbClr val="6B73A0"/>
                </a:solidFill>
                <a:latin typeface="Inter" pitchFamily="34" charset="0"/>
                <a:ea typeface="Inter" pitchFamily="34" charset="-122"/>
                <a:cs typeface="Inter" pitchFamily="34" charset="-120"/>
              </a:rPr>
              <a:t>   ·   Promo réseaux</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863840" cy="457200"/>
          </a:xfrm>
          <a:prstGeom prst="rect">
            <a:avLst/>
          </a:prstGeom>
          <a:noFill/>
          <a:ln/>
        </p:spPr>
        <p:txBody>
          <a:bodyPr wrap="square" lIns="0" tIns="0" rIns="0" bIns="0" rtlCol="0" anchor="ctr"/>
          <a:lstStyle/>
          <a:p>
            <a:pPr indent="0" marL="0">
              <a:buNone/>
            </a:pPr>
            <a:r>
              <a:rPr lang="en-US" sz="1600" b="1" spc="100" kern="0" dirty="0">
                <a:solidFill>
                  <a:srgbClr val="F5B301"/>
                </a:solidFill>
                <a:latin typeface="Inter" pitchFamily="34" charset="0"/>
                <a:ea typeface="Inter" pitchFamily="34" charset="-122"/>
                <a:cs typeface="Inter" pitchFamily="34" charset="-120"/>
              </a:rPr>
              <a:t>Exemple concret</a:t>
            </a:r>
            <a:endParaRPr lang="en-US" sz="1600" dirty="0"/>
          </a:p>
        </p:txBody>
      </p:sp>
      <p:sp>
        <p:nvSpPr>
          <p:cNvPr id="3" name="Text 1"/>
          <p:cNvSpPr/>
          <p:nvPr/>
        </p:nvSpPr>
        <p:spPr>
          <a:xfrm>
            <a:off x="640080" y="841248"/>
            <a:ext cx="7863840" cy="548640"/>
          </a:xfrm>
          <a:prstGeom prst="rect">
            <a:avLst/>
          </a:prstGeom>
          <a:noFill/>
          <a:ln/>
        </p:spPr>
        <p:txBody>
          <a:bodyPr wrap="square" lIns="0" tIns="0" rIns="0" bIns="0" rtlCol="0" anchor="ctr"/>
          <a:lstStyle/>
          <a:p>
            <a:pPr indent="0" marL="0">
              <a:buNone/>
            </a:pPr>
            <a:r>
              <a:rPr lang="en-US" sz="2400" b="1" dirty="0">
                <a:solidFill>
                  <a:srgbClr val="2E386E"/>
                </a:solidFill>
                <a:latin typeface="Inter" pitchFamily="34" charset="0"/>
                <a:ea typeface="Inter" pitchFamily="34" charset="-122"/>
                <a:cs typeface="Inter" pitchFamily="34" charset="-120"/>
              </a:rPr>
              <a:t>Interagis à la main avant ET après ton post</a:t>
            </a:r>
            <a:endParaRPr lang="en-US" sz="2400" dirty="0"/>
          </a:p>
        </p:txBody>
      </p:sp>
      <p:sp>
        <p:nvSpPr>
          <p:cNvPr id="4" name="Shape 2"/>
          <p:cNvSpPr/>
          <p:nvPr/>
        </p:nvSpPr>
        <p:spPr>
          <a:xfrm>
            <a:off x="640080" y="1691640"/>
            <a:ext cx="7863840" cy="2468880"/>
          </a:xfrm>
          <a:prstGeom prst="roundRect">
            <a:avLst>
              <a:gd name="adj" fmla="val 5185"/>
            </a:avLst>
          </a:prstGeom>
          <a:solidFill>
            <a:srgbClr val="EAECFB"/>
          </a:solidFill>
          <a:ln/>
        </p:spPr>
      </p:sp>
      <p:sp>
        <p:nvSpPr>
          <p:cNvPr id="5" name="Text 3"/>
          <p:cNvSpPr/>
          <p:nvPr/>
        </p:nvSpPr>
        <p:spPr>
          <a:xfrm>
            <a:off x="1005840" y="1691640"/>
            <a:ext cx="7132320" cy="2468880"/>
          </a:xfrm>
          <a:prstGeom prst="rect">
            <a:avLst/>
          </a:prstGeom>
          <a:noFill/>
          <a:ln/>
        </p:spPr>
        <p:txBody>
          <a:bodyPr wrap="square" lIns="0" tIns="0" rIns="0" bIns="0" rtlCol="0" anchor="ctr"/>
          <a:lstStyle/>
          <a:p>
            <a:pPr indent="0" marL="0">
              <a:lnSpc>
                <a:spcPct val="115000"/>
              </a:lnSpc>
              <a:buNone/>
            </a:pPr>
            <a:r>
              <a:rPr lang="en-US" sz="1600" dirty="0">
                <a:solidFill>
                  <a:srgbClr val="2E386E"/>
                </a:solidFill>
                <a:latin typeface="Inter" pitchFamily="34" charset="0"/>
                <a:ea typeface="Inter" pitchFamily="34" charset="-122"/>
                <a:cs typeface="Inter" pitchFamily="34" charset="-120"/>
              </a:rPr>
              <a:t>Tu publies à 12h. À 11h45 tu commentes 5 posts de ta niche. De 12h à 12h30 tu réponds à chaque commentaire par une vraie phrase. Résultat : l'algo voit un post vivant, et l'envoie à 3 fois plus de monde.</a:t>
            </a:r>
            <a:endParaRPr lang="en-US" sz="1600" dirty="0"/>
          </a:p>
        </p:txBody>
      </p:sp>
      <p:sp>
        <p:nvSpPr>
          <p:cNvPr id="6" name="Text 4"/>
          <p:cNvSpPr/>
          <p:nvPr/>
        </p:nvSpPr>
        <p:spPr>
          <a:xfrm>
            <a:off x="457200" y="4759452"/>
            <a:ext cx="6400800" cy="274320"/>
          </a:xfrm>
          <a:prstGeom prst="rect">
            <a:avLst/>
          </a:prstGeom>
          <a:noFill/>
          <a:ln/>
        </p:spPr>
        <p:txBody>
          <a:bodyPr wrap="square" lIns="0" tIns="0" rIns="0" bIns="0" rtlCol="0" anchor="ctr"/>
          <a:lstStyle/>
          <a:p>
            <a:pPr indent="0" marL="0">
              <a:buNone/>
            </a:pPr>
            <a:r>
              <a:rPr lang="en-US" sz="900" b="1" dirty="0">
                <a:solidFill>
                  <a:srgbClr val="6B73A0"/>
                </a:solidFill>
                <a:latin typeface="Inter" pitchFamily="34" charset="0"/>
                <a:ea typeface="Inter" pitchFamily="34" charset="-122"/>
                <a:cs typeface="Inter" pitchFamily="34" charset="-120"/>
              </a:rPr>
              <a:t>L'Atelier du Quiz</a:t>
            </a:r>
            <a:pPr indent="0" marL="0">
              <a:buNone/>
            </a:pPr>
            <a:r>
              <a:rPr lang="en-US" sz="900" dirty="0">
                <a:solidFill>
                  <a:srgbClr val="6B73A0"/>
                </a:solidFill>
                <a:latin typeface="Inter" pitchFamily="34" charset="0"/>
                <a:ea typeface="Inter" pitchFamily="34" charset="-122"/>
                <a:cs typeface="Inter" pitchFamily="34" charset="-120"/>
              </a:rPr>
              <a:t>   ·   Promo réseaux</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5FA"/>
        </a:solidFill>
      </p:bgPr>
    </p:bg>
    <p:spTree>
      <p:nvGrpSpPr>
        <p:cNvPr id="1" name=""/>
        <p:cNvGrpSpPr/>
        <p:nvPr/>
      </p:nvGrpSpPr>
      <p:grpSpPr>
        <a:xfrm>
          <a:off x="0" y="0"/>
          <a:ext cx="0" cy="0"/>
          <a:chOff x="0" y="0"/>
          <a:chExt cx="0" cy="0"/>
        </a:xfrm>
      </p:grpSpPr>
      <p:sp>
        <p:nvSpPr>
          <p:cNvPr id="2" name="Text 0"/>
          <p:cNvSpPr/>
          <p:nvPr/>
        </p:nvSpPr>
        <p:spPr>
          <a:xfrm>
            <a:off x="640080" y="365760"/>
            <a:ext cx="7315200" cy="320040"/>
          </a:xfrm>
          <a:prstGeom prst="rect">
            <a:avLst/>
          </a:prstGeom>
          <a:noFill/>
          <a:ln/>
        </p:spPr>
        <p:txBody>
          <a:bodyPr wrap="square" lIns="0" tIns="0" rIns="0" bIns="0" rtlCol="0" anchor="ctr"/>
          <a:lstStyle/>
          <a:p>
            <a:pPr indent="0" marL="0">
              <a:buNone/>
            </a:pPr>
            <a:r>
              <a:rPr lang="en-US" sz="1200" b="1" spc="200" kern="0" dirty="0">
                <a:solidFill>
                  <a:srgbClr val="F5B301"/>
                </a:solidFill>
                <a:latin typeface="Inter" pitchFamily="34" charset="0"/>
                <a:ea typeface="Inter" pitchFamily="34" charset="-122"/>
                <a:cs typeface="Inter" pitchFamily="34" charset="-120"/>
              </a:rPr>
              <a:t>GROWTH HACK   2/4</a:t>
            </a:r>
            <a:endParaRPr lang="en-US" sz="1200" dirty="0"/>
          </a:p>
        </p:txBody>
      </p:sp>
      <p:sp>
        <p:nvSpPr>
          <p:cNvPr id="3" name="Text 1"/>
          <p:cNvSpPr/>
          <p:nvPr/>
        </p:nvSpPr>
        <p:spPr>
          <a:xfrm>
            <a:off x="640080" y="676656"/>
            <a:ext cx="7863840" cy="594360"/>
          </a:xfrm>
          <a:prstGeom prst="rect">
            <a:avLst/>
          </a:prstGeom>
          <a:noFill/>
          <a:ln/>
        </p:spPr>
        <p:txBody>
          <a:bodyPr wrap="square" lIns="0" tIns="0" rIns="0" bIns="0" rtlCol="0" anchor="ctr"/>
          <a:lstStyle/>
          <a:p>
            <a:pPr indent="0" marL="0">
              <a:buNone/>
            </a:pPr>
            <a:r>
              <a:rPr lang="en-US" sz="2500" b="1" dirty="0">
                <a:solidFill>
                  <a:srgbClr val="2E386E"/>
                </a:solidFill>
                <a:latin typeface="Inter" pitchFamily="34" charset="0"/>
                <a:ea typeface="Inter" pitchFamily="34" charset="-122"/>
                <a:cs typeface="Inter" pitchFamily="34" charset="-120"/>
              </a:rPr>
              <a:t>Emprunte la notoriété des gros</a:t>
            </a:r>
            <a:endParaRPr lang="en-US" sz="2500" dirty="0"/>
          </a:p>
        </p:txBody>
      </p:sp>
      <p:sp>
        <p:nvSpPr>
          <p:cNvPr id="4" name="Shape 2"/>
          <p:cNvSpPr/>
          <p:nvPr/>
        </p:nvSpPr>
        <p:spPr>
          <a:xfrm>
            <a:off x="640080" y="1417320"/>
            <a:ext cx="3840480" cy="1517904"/>
          </a:xfrm>
          <a:prstGeom prst="roundRect">
            <a:avLst>
              <a:gd name="adj" fmla="val 4819"/>
            </a:avLst>
          </a:prstGeom>
          <a:solidFill>
            <a:srgbClr val="FFFFFF"/>
          </a:solidFill>
          <a:ln/>
          <a:effectLst>
            <a:outerShdw sx="100000" sy="100000" kx="0" ky="0" algn="bl" rotWithShape="0" blurRad="114300" dist="38100" dir="8100000">
              <a:srgbClr val="2E386E">
                <a:alpha val="16000"/>
              </a:srgbClr>
            </a:outerShdw>
          </a:effectLst>
        </p:spPr>
      </p:sp>
      <p:pic>
        <p:nvPicPr>
          <p:cNvPr id="5" name="Image 0" descr="preencoded.png">    </p:cNvPr>
          <p:cNvPicPr>
            <a:picLocks noChangeAspect="1"/>
          </p:cNvPicPr>
          <p:nvPr/>
        </p:nvPicPr>
        <p:blipFill>
          <a:blip r:embed="rId1"/>
          <a:stretch>
            <a:fillRect/>
          </a:stretch>
        </p:blipFill>
        <p:spPr>
          <a:xfrm>
            <a:off x="841248" y="1581912"/>
            <a:ext cx="237744" cy="237744"/>
          </a:xfrm>
          <a:prstGeom prst="rect">
            <a:avLst/>
          </a:prstGeom>
        </p:spPr>
      </p:pic>
      <p:sp>
        <p:nvSpPr>
          <p:cNvPr id="6" name="Text 3"/>
          <p:cNvSpPr/>
          <p:nvPr/>
        </p:nvSpPr>
        <p:spPr>
          <a:xfrm>
            <a:off x="1161288" y="1563624"/>
            <a:ext cx="3127248" cy="274320"/>
          </a:xfrm>
          <a:prstGeom prst="rect">
            <a:avLst/>
          </a:prstGeom>
          <a:noFill/>
          <a:ln/>
        </p:spPr>
        <p:txBody>
          <a:bodyPr wrap="square" lIns="0" tIns="0" rIns="0" bIns="0" rtlCol="0" anchor="ctr"/>
          <a:lstStyle/>
          <a:p>
            <a:pPr indent="0" marL="0">
              <a:buNone/>
            </a:pPr>
            <a:r>
              <a:rPr lang="en-US" sz="950" b="1" spc="100" kern="0" dirty="0">
                <a:solidFill>
                  <a:srgbClr val="5D6CDB"/>
                </a:solidFill>
                <a:latin typeface="Inter" pitchFamily="34" charset="0"/>
                <a:ea typeface="Inter" pitchFamily="34" charset="-122"/>
                <a:cs typeface="Inter" pitchFamily="34" charset="-120"/>
              </a:rPr>
              <a:t>COMMENT ÇA MARCHE</a:t>
            </a:r>
            <a:endParaRPr lang="en-US" sz="950" dirty="0"/>
          </a:p>
        </p:txBody>
      </p:sp>
      <p:sp>
        <p:nvSpPr>
          <p:cNvPr id="7" name="Text 4"/>
          <p:cNvSpPr/>
          <p:nvPr/>
        </p:nvSpPr>
        <p:spPr>
          <a:xfrm>
            <a:off x="841248" y="1892808"/>
            <a:ext cx="3438144" cy="932688"/>
          </a:xfrm>
          <a:prstGeom prst="rect">
            <a:avLst/>
          </a:prstGeom>
          <a:noFill/>
          <a:ln/>
        </p:spPr>
        <p:txBody>
          <a:bodyPr wrap="square" lIns="0" tIns="0" rIns="0" bIns="0" rtlCol="0" anchor="t"/>
          <a:lstStyle/>
          <a:p>
            <a:pPr indent="0" marL="0">
              <a:lnSpc>
                <a:spcPct val="104000"/>
              </a:lnSpc>
              <a:buNone/>
            </a:pPr>
            <a:r>
              <a:rPr lang="en-US" sz="1150" dirty="0">
                <a:solidFill>
                  <a:srgbClr val="2E386E"/>
                </a:solidFill>
                <a:latin typeface="Inter" pitchFamily="34" charset="0"/>
                <a:ea typeface="Inter" pitchFamily="34" charset="-122"/>
                <a:cs typeface="Inter" pitchFamily="34" charset="-120"/>
              </a:rPr>
              <a:t>Tu commentes intelligemment les posts des grosses figures de ta niche, et tu les cites dans tes contenus.</a:t>
            </a:r>
            <a:endParaRPr lang="en-US" sz="1150" dirty="0"/>
          </a:p>
        </p:txBody>
      </p:sp>
      <p:sp>
        <p:nvSpPr>
          <p:cNvPr id="8" name="Shape 5"/>
          <p:cNvSpPr/>
          <p:nvPr/>
        </p:nvSpPr>
        <p:spPr>
          <a:xfrm>
            <a:off x="4663440" y="1417320"/>
            <a:ext cx="3840480" cy="1517904"/>
          </a:xfrm>
          <a:prstGeom prst="roundRect">
            <a:avLst>
              <a:gd name="adj" fmla="val 4819"/>
            </a:avLst>
          </a:prstGeom>
          <a:solidFill>
            <a:srgbClr val="FFFFFF"/>
          </a:solidFill>
          <a:ln/>
          <a:effectLst>
            <a:outerShdw sx="100000" sy="100000" kx="0" ky="0" algn="bl" rotWithShape="0" blurRad="114300" dist="38100" dir="8100000">
              <a:srgbClr val="2E386E">
                <a:alpha val="16000"/>
              </a:srgbClr>
            </a:outerShdw>
          </a:effectLst>
        </p:spPr>
      </p:sp>
      <p:pic>
        <p:nvPicPr>
          <p:cNvPr id="9" name="Image 1" descr="preencoded.png">    </p:cNvPr>
          <p:cNvPicPr>
            <a:picLocks noChangeAspect="1"/>
          </p:cNvPicPr>
          <p:nvPr/>
        </p:nvPicPr>
        <p:blipFill>
          <a:blip r:embed="rId2"/>
          <a:stretch>
            <a:fillRect/>
          </a:stretch>
        </p:blipFill>
        <p:spPr>
          <a:xfrm>
            <a:off x="4864608" y="1581912"/>
            <a:ext cx="237744" cy="237744"/>
          </a:xfrm>
          <a:prstGeom prst="rect">
            <a:avLst/>
          </a:prstGeom>
        </p:spPr>
      </p:pic>
      <p:sp>
        <p:nvSpPr>
          <p:cNvPr id="10" name="Text 6"/>
          <p:cNvSpPr/>
          <p:nvPr/>
        </p:nvSpPr>
        <p:spPr>
          <a:xfrm>
            <a:off x="5184648" y="1563624"/>
            <a:ext cx="3127248" cy="274320"/>
          </a:xfrm>
          <a:prstGeom prst="rect">
            <a:avLst/>
          </a:prstGeom>
          <a:noFill/>
          <a:ln/>
        </p:spPr>
        <p:txBody>
          <a:bodyPr wrap="square" lIns="0" tIns="0" rIns="0" bIns="0" rtlCol="0" anchor="ctr"/>
          <a:lstStyle/>
          <a:p>
            <a:pPr indent="0" marL="0">
              <a:buNone/>
            </a:pPr>
            <a:r>
              <a:rPr lang="en-US" sz="950" b="1" spc="100" kern="0" dirty="0">
                <a:solidFill>
                  <a:srgbClr val="5D6CDB"/>
                </a:solidFill>
                <a:latin typeface="Inter" pitchFamily="34" charset="0"/>
                <a:ea typeface="Inter" pitchFamily="34" charset="-122"/>
                <a:cs typeface="Inter" pitchFamily="34" charset="-120"/>
              </a:rPr>
              <a:t>POURQUOI ÇA MARCHE</a:t>
            </a:r>
            <a:endParaRPr lang="en-US" sz="950" dirty="0"/>
          </a:p>
        </p:txBody>
      </p:sp>
      <p:sp>
        <p:nvSpPr>
          <p:cNvPr id="11" name="Text 7"/>
          <p:cNvSpPr/>
          <p:nvPr/>
        </p:nvSpPr>
        <p:spPr>
          <a:xfrm>
            <a:off x="4864608" y="1892808"/>
            <a:ext cx="3438144" cy="932688"/>
          </a:xfrm>
          <a:prstGeom prst="rect">
            <a:avLst/>
          </a:prstGeom>
          <a:noFill/>
          <a:ln/>
        </p:spPr>
        <p:txBody>
          <a:bodyPr wrap="square" lIns="0" tIns="0" rIns="0" bIns="0" rtlCol="0" anchor="t"/>
          <a:lstStyle/>
          <a:p>
            <a:pPr indent="0" marL="0">
              <a:lnSpc>
                <a:spcPct val="104000"/>
              </a:lnSpc>
              <a:buNone/>
            </a:pPr>
            <a:r>
              <a:rPr lang="en-US" sz="1150" dirty="0">
                <a:solidFill>
                  <a:srgbClr val="2E386E"/>
                </a:solidFill>
                <a:latin typeface="Inter" pitchFamily="34" charset="0"/>
                <a:ea typeface="Inter" pitchFamily="34" charset="-122"/>
                <a:cs typeface="Inter" pitchFamily="34" charset="-120"/>
              </a:rPr>
              <a:t>Leur audience voit ton commentaire pertinent, est curieuse, et vient voir ton profil. Tu te places devant un public déjà chaud, gratuitement.</a:t>
            </a:r>
            <a:endParaRPr lang="en-US" sz="1150" dirty="0"/>
          </a:p>
        </p:txBody>
      </p:sp>
      <p:sp>
        <p:nvSpPr>
          <p:cNvPr id="12" name="Shape 8"/>
          <p:cNvSpPr/>
          <p:nvPr/>
        </p:nvSpPr>
        <p:spPr>
          <a:xfrm>
            <a:off x="640080" y="3099816"/>
            <a:ext cx="3840480" cy="1517904"/>
          </a:xfrm>
          <a:prstGeom prst="roundRect">
            <a:avLst>
              <a:gd name="adj" fmla="val 4819"/>
            </a:avLst>
          </a:prstGeom>
          <a:solidFill>
            <a:srgbClr val="FFFFFF"/>
          </a:solidFill>
          <a:ln/>
          <a:effectLst>
            <a:outerShdw sx="100000" sy="100000" kx="0" ky="0" algn="bl" rotWithShape="0" blurRad="114300" dist="38100" dir="8100000">
              <a:srgbClr val="2E386E">
                <a:alpha val="16000"/>
              </a:srgbClr>
            </a:outerShdw>
          </a:effectLst>
        </p:spPr>
      </p:sp>
      <p:pic>
        <p:nvPicPr>
          <p:cNvPr id="13" name="Image 2" descr="preencoded.png">    </p:cNvPr>
          <p:cNvPicPr>
            <a:picLocks noChangeAspect="1"/>
          </p:cNvPicPr>
          <p:nvPr/>
        </p:nvPicPr>
        <p:blipFill>
          <a:blip r:embed="rId3"/>
          <a:stretch>
            <a:fillRect/>
          </a:stretch>
        </p:blipFill>
        <p:spPr>
          <a:xfrm>
            <a:off x="841248" y="3264408"/>
            <a:ext cx="237744" cy="237744"/>
          </a:xfrm>
          <a:prstGeom prst="rect">
            <a:avLst/>
          </a:prstGeom>
        </p:spPr>
      </p:pic>
      <p:sp>
        <p:nvSpPr>
          <p:cNvPr id="14" name="Text 9"/>
          <p:cNvSpPr/>
          <p:nvPr/>
        </p:nvSpPr>
        <p:spPr>
          <a:xfrm>
            <a:off x="1161288" y="3246120"/>
            <a:ext cx="3127248" cy="274320"/>
          </a:xfrm>
          <a:prstGeom prst="rect">
            <a:avLst/>
          </a:prstGeom>
          <a:noFill/>
          <a:ln/>
        </p:spPr>
        <p:txBody>
          <a:bodyPr wrap="square" lIns="0" tIns="0" rIns="0" bIns="0" rtlCol="0" anchor="ctr"/>
          <a:lstStyle/>
          <a:p>
            <a:pPr indent="0" marL="0">
              <a:buNone/>
            </a:pPr>
            <a:r>
              <a:rPr lang="en-US" sz="950" b="1" spc="100" kern="0" dirty="0">
                <a:solidFill>
                  <a:srgbClr val="F5B301"/>
                </a:solidFill>
                <a:latin typeface="Inter" pitchFamily="34" charset="0"/>
                <a:ea typeface="Inter" pitchFamily="34" charset="-122"/>
                <a:cs typeface="Inter" pitchFamily="34" charset="-120"/>
              </a:rPr>
              <a:t>COMMENT ONT FAIT LES AUTRES</a:t>
            </a:r>
            <a:endParaRPr lang="en-US" sz="950" dirty="0"/>
          </a:p>
        </p:txBody>
      </p:sp>
      <p:sp>
        <p:nvSpPr>
          <p:cNvPr id="15" name="Text 10"/>
          <p:cNvSpPr/>
          <p:nvPr/>
        </p:nvSpPr>
        <p:spPr>
          <a:xfrm>
            <a:off x="841248" y="3575304"/>
            <a:ext cx="3438144" cy="932688"/>
          </a:xfrm>
          <a:prstGeom prst="rect">
            <a:avLst/>
          </a:prstGeom>
          <a:noFill/>
          <a:ln/>
        </p:spPr>
        <p:txBody>
          <a:bodyPr wrap="square" lIns="0" tIns="0" rIns="0" bIns="0" rtlCol="0" anchor="t"/>
          <a:lstStyle/>
          <a:p>
            <a:pPr indent="0" marL="0">
              <a:lnSpc>
                <a:spcPct val="104000"/>
              </a:lnSpc>
              <a:buNone/>
            </a:pPr>
            <a:r>
              <a:rPr lang="en-US" sz="1150" dirty="0">
                <a:solidFill>
                  <a:srgbClr val="2E386E"/>
                </a:solidFill>
                <a:latin typeface="Inter" pitchFamily="34" charset="0"/>
                <a:ea typeface="Inter" pitchFamily="34" charset="-122"/>
                <a:cs typeface="Inter" pitchFamily="34" charset="-120"/>
              </a:rPr>
              <a:t>Beaucoup de créateurs ont décollé juste en étant « le bon commentaire » sous les posts des stars de leur domaine.</a:t>
            </a:r>
            <a:endParaRPr lang="en-US" sz="1150" dirty="0"/>
          </a:p>
        </p:txBody>
      </p:sp>
      <p:sp>
        <p:nvSpPr>
          <p:cNvPr id="16" name="Shape 11"/>
          <p:cNvSpPr/>
          <p:nvPr/>
        </p:nvSpPr>
        <p:spPr>
          <a:xfrm>
            <a:off x="4663440" y="3099816"/>
            <a:ext cx="3840480" cy="1517904"/>
          </a:xfrm>
          <a:prstGeom prst="roundRect">
            <a:avLst>
              <a:gd name="adj" fmla="val 4819"/>
            </a:avLst>
          </a:prstGeom>
          <a:solidFill>
            <a:srgbClr val="FFFFFF"/>
          </a:solidFill>
          <a:ln/>
          <a:effectLst>
            <a:outerShdw sx="100000" sy="100000" kx="0" ky="0" algn="bl" rotWithShape="0" blurRad="114300" dist="38100" dir="8100000">
              <a:srgbClr val="2E386E">
                <a:alpha val="16000"/>
              </a:srgbClr>
            </a:outerShdw>
          </a:effectLst>
        </p:spPr>
      </p:sp>
      <p:pic>
        <p:nvPicPr>
          <p:cNvPr id="17" name="Image 3" descr="preencoded.png">    </p:cNvPr>
          <p:cNvPicPr>
            <a:picLocks noChangeAspect="1"/>
          </p:cNvPicPr>
          <p:nvPr/>
        </p:nvPicPr>
        <p:blipFill>
          <a:blip r:embed="rId4"/>
          <a:stretch>
            <a:fillRect/>
          </a:stretch>
        </p:blipFill>
        <p:spPr>
          <a:xfrm>
            <a:off x="4864608" y="3264408"/>
            <a:ext cx="237744" cy="237744"/>
          </a:xfrm>
          <a:prstGeom prst="rect">
            <a:avLst/>
          </a:prstGeom>
        </p:spPr>
      </p:pic>
      <p:sp>
        <p:nvSpPr>
          <p:cNvPr id="18" name="Text 12"/>
          <p:cNvSpPr/>
          <p:nvPr/>
        </p:nvSpPr>
        <p:spPr>
          <a:xfrm>
            <a:off x="5184648" y="3246120"/>
            <a:ext cx="3127248" cy="274320"/>
          </a:xfrm>
          <a:prstGeom prst="rect">
            <a:avLst/>
          </a:prstGeom>
          <a:noFill/>
          <a:ln/>
        </p:spPr>
        <p:txBody>
          <a:bodyPr wrap="square" lIns="0" tIns="0" rIns="0" bIns="0" rtlCol="0" anchor="ctr"/>
          <a:lstStyle/>
          <a:p>
            <a:pPr indent="0" marL="0">
              <a:buNone/>
            </a:pPr>
            <a:r>
              <a:rPr lang="en-US" sz="950" b="1" spc="100" kern="0" dirty="0">
                <a:solidFill>
                  <a:srgbClr val="2BB673"/>
                </a:solidFill>
                <a:latin typeface="Inter" pitchFamily="34" charset="0"/>
                <a:ea typeface="Inter" pitchFamily="34" charset="-122"/>
                <a:cs typeface="Inter" pitchFamily="34" charset="-120"/>
              </a:rPr>
              <a:t>COMMENT FAIRE CHEZ TOI</a:t>
            </a:r>
            <a:endParaRPr lang="en-US" sz="950" dirty="0"/>
          </a:p>
        </p:txBody>
      </p:sp>
      <p:sp>
        <p:nvSpPr>
          <p:cNvPr id="19" name="Text 13"/>
          <p:cNvSpPr/>
          <p:nvPr/>
        </p:nvSpPr>
        <p:spPr>
          <a:xfrm>
            <a:off x="4864608" y="3575304"/>
            <a:ext cx="3438144" cy="932688"/>
          </a:xfrm>
          <a:prstGeom prst="rect">
            <a:avLst/>
          </a:prstGeom>
          <a:noFill/>
          <a:ln/>
        </p:spPr>
        <p:txBody>
          <a:bodyPr wrap="square" lIns="0" tIns="0" rIns="0" bIns="0" rtlCol="0" anchor="t"/>
          <a:lstStyle/>
          <a:p>
            <a:pPr indent="0" marL="0">
              <a:lnSpc>
                <a:spcPct val="104000"/>
              </a:lnSpc>
              <a:buNone/>
            </a:pPr>
            <a:r>
              <a:rPr lang="en-US" sz="1150" dirty="0">
                <a:solidFill>
                  <a:srgbClr val="2E386E"/>
                </a:solidFill>
                <a:latin typeface="Inter" pitchFamily="34" charset="0"/>
                <a:ea typeface="Inter" pitchFamily="34" charset="-122"/>
                <a:cs typeface="Inter" pitchFamily="34" charset="-120"/>
              </a:rPr>
              <a:t>Choisis 5 gros comptes et sois le commentaire utile et malin sous leurs posts, chaque semaine. Cite-les aussi dans tes posts.</a:t>
            </a:r>
            <a:endParaRPr lang="en-US" sz="1150" dirty="0"/>
          </a:p>
        </p:txBody>
      </p:sp>
      <p:sp>
        <p:nvSpPr>
          <p:cNvPr id="20" name="Text 14"/>
          <p:cNvSpPr/>
          <p:nvPr/>
        </p:nvSpPr>
        <p:spPr>
          <a:xfrm>
            <a:off x="457200" y="4759452"/>
            <a:ext cx="6400800" cy="274320"/>
          </a:xfrm>
          <a:prstGeom prst="rect">
            <a:avLst/>
          </a:prstGeom>
          <a:noFill/>
          <a:ln/>
        </p:spPr>
        <p:txBody>
          <a:bodyPr wrap="square" lIns="0" tIns="0" rIns="0" bIns="0" rtlCol="0" anchor="ctr"/>
          <a:lstStyle/>
          <a:p>
            <a:pPr indent="0" marL="0">
              <a:buNone/>
            </a:pPr>
            <a:r>
              <a:rPr lang="en-US" sz="900" b="1" dirty="0">
                <a:solidFill>
                  <a:srgbClr val="6B73A0"/>
                </a:solidFill>
                <a:latin typeface="Inter" pitchFamily="34" charset="0"/>
                <a:ea typeface="Inter" pitchFamily="34" charset="-122"/>
                <a:cs typeface="Inter" pitchFamily="34" charset="-120"/>
              </a:rPr>
              <a:t>L'Atelier du Quiz</a:t>
            </a:r>
            <a:pPr indent="0" marL="0">
              <a:buNone/>
            </a:pPr>
            <a:r>
              <a:rPr lang="en-US" sz="900" dirty="0">
                <a:solidFill>
                  <a:srgbClr val="6B73A0"/>
                </a:solidFill>
                <a:latin typeface="Inter" pitchFamily="34" charset="0"/>
                <a:ea typeface="Inter" pitchFamily="34" charset="-122"/>
                <a:cs typeface="Inter" pitchFamily="34" charset="-120"/>
              </a:rPr>
              <a:t>   ·   Promo réseaux</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863840" cy="457200"/>
          </a:xfrm>
          <a:prstGeom prst="rect">
            <a:avLst/>
          </a:prstGeom>
          <a:noFill/>
          <a:ln/>
        </p:spPr>
        <p:txBody>
          <a:bodyPr wrap="square" lIns="0" tIns="0" rIns="0" bIns="0" rtlCol="0" anchor="ctr"/>
          <a:lstStyle/>
          <a:p>
            <a:pPr indent="0" marL="0">
              <a:buNone/>
            </a:pPr>
            <a:r>
              <a:rPr lang="en-US" sz="1600" b="1" spc="100" kern="0" dirty="0">
                <a:solidFill>
                  <a:srgbClr val="F5B301"/>
                </a:solidFill>
                <a:latin typeface="Inter" pitchFamily="34" charset="0"/>
                <a:ea typeface="Inter" pitchFamily="34" charset="-122"/>
                <a:cs typeface="Inter" pitchFamily="34" charset="-120"/>
              </a:rPr>
              <a:t>Exemple concret</a:t>
            </a:r>
            <a:endParaRPr lang="en-US" sz="1600" dirty="0"/>
          </a:p>
        </p:txBody>
      </p:sp>
      <p:sp>
        <p:nvSpPr>
          <p:cNvPr id="3" name="Text 1"/>
          <p:cNvSpPr/>
          <p:nvPr/>
        </p:nvSpPr>
        <p:spPr>
          <a:xfrm>
            <a:off x="640080" y="841248"/>
            <a:ext cx="7863840" cy="548640"/>
          </a:xfrm>
          <a:prstGeom prst="rect">
            <a:avLst/>
          </a:prstGeom>
          <a:noFill/>
          <a:ln/>
        </p:spPr>
        <p:txBody>
          <a:bodyPr wrap="square" lIns="0" tIns="0" rIns="0" bIns="0" rtlCol="0" anchor="ctr"/>
          <a:lstStyle/>
          <a:p>
            <a:pPr indent="0" marL="0">
              <a:buNone/>
            </a:pPr>
            <a:r>
              <a:rPr lang="en-US" sz="2400" b="1" dirty="0">
                <a:solidFill>
                  <a:srgbClr val="2E386E"/>
                </a:solidFill>
                <a:latin typeface="Inter" pitchFamily="34" charset="0"/>
                <a:ea typeface="Inter" pitchFamily="34" charset="-122"/>
                <a:cs typeface="Inter" pitchFamily="34" charset="-120"/>
              </a:rPr>
              <a:t>Emprunte la notoriété des gros</a:t>
            </a:r>
            <a:endParaRPr lang="en-US" sz="2400" dirty="0"/>
          </a:p>
        </p:txBody>
      </p:sp>
      <p:sp>
        <p:nvSpPr>
          <p:cNvPr id="4" name="Shape 2"/>
          <p:cNvSpPr/>
          <p:nvPr/>
        </p:nvSpPr>
        <p:spPr>
          <a:xfrm>
            <a:off x="640080" y="1691640"/>
            <a:ext cx="7863840" cy="2468880"/>
          </a:xfrm>
          <a:prstGeom prst="roundRect">
            <a:avLst>
              <a:gd name="adj" fmla="val 5185"/>
            </a:avLst>
          </a:prstGeom>
          <a:solidFill>
            <a:srgbClr val="EAECFB"/>
          </a:solidFill>
          <a:ln/>
        </p:spPr>
      </p:sp>
      <p:sp>
        <p:nvSpPr>
          <p:cNvPr id="5" name="Text 3"/>
          <p:cNvSpPr/>
          <p:nvPr/>
        </p:nvSpPr>
        <p:spPr>
          <a:xfrm>
            <a:off x="1005840" y="1691640"/>
            <a:ext cx="7132320" cy="2468880"/>
          </a:xfrm>
          <a:prstGeom prst="rect">
            <a:avLst/>
          </a:prstGeom>
          <a:noFill/>
          <a:ln/>
        </p:spPr>
        <p:txBody>
          <a:bodyPr wrap="square" lIns="0" tIns="0" rIns="0" bIns="0" rtlCol="0" anchor="ctr"/>
          <a:lstStyle/>
          <a:p>
            <a:pPr indent="0" marL="0">
              <a:lnSpc>
                <a:spcPct val="115000"/>
              </a:lnSpc>
              <a:buNone/>
            </a:pPr>
            <a:r>
              <a:rPr lang="en-US" sz="1600" dirty="0">
                <a:solidFill>
                  <a:srgbClr val="2E386E"/>
                </a:solidFill>
                <a:latin typeface="Inter" pitchFamily="34" charset="0"/>
                <a:ea typeface="Inter" pitchFamily="34" charset="-122"/>
                <a:cs typeface="Inter" pitchFamily="34" charset="-120"/>
              </a:rPr>
              <a:t>Sous le post d'un expert suivi par 100 000 personnes, tu ajoutes une astuce concrète qui complète la sienne. Des dizaines de gens cliquent sur ton nom, tombent sur ton profil, puis sur ton quiz via ta bio.</a:t>
            </a:r>
            <a:endParaRPr lang="en-US" sz="1600" dirty="0"/>
          </a:p>
        </p:txBody>
      </p:sp>
      <p:sp>
        <p:nvSpPr>
          <p:cNvPr id="6" name="Text 4"/>
          <p:cNvSpPr/>
          <p:nvPr/>
        </p:nvSpPr>
        <p:spPr>
          <a:xfrm>
            <a:off x="457200" y="4759452"/>
            <a:ext cx="6400800" cy="274320"/>
          </a:xfrm>
          <a:prstGeom prst="rect">
            <a:avLst/>
          </a:prstGeom>
          <a:noFill/>
          <a:ln/>
        </p:spPr>
        <p:txBody>
          <a:bodyPr wrap="square" lIns="0" tIns="0" rIns="0" bIns="0" rtlCol="0" anchor="ctr"/>
          <a:lstStyle/>
          <a:p>
            <a:pPr indent="0" marL="0">
              <a:buNone/>
            </a:pPr>
            <a:r>
              <a:rPr lang="en-US" sz="900" b="1" dirty="0">
                <a:solidFill>
                  <a:srgbClr val="6B73A0"/>
                </a:solidFill>
                <a:latin typeface="Inter" pitchFamily="34" charset="0"/>
                <a:ea typeface="Inter" pitchFamily="34" charset="-122"/>
                <a:cs typeface="Inter" pitchFamily="34" charset="-120"/>
              </a:rPr>
              <a:t>L'Atelier du Quiz</a:t>
            </a:r>
            <a:pPr indent="0" marL="0">
              <a:buNone/>
            </a:pPr>
            <a:r>
              <a:rPr lang="en-US" sz="900" dirty="0">
                <a:solidFill>
                  <a:srgbClr val="6B73A0"/>
                </a:solidFill>
                <a:latin typeface="Inter" pitchFamily="34" charset="0"/>
                <a:ea typeface="Inter" pitchFamily="34" charset="-122"/>
                <a:cs typeface="Inter" pitchFamily="34" charset="-120"/>
              </a:rPr>
              <a:t>   ·   Promo réseaux</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5FA"/>
        </a:solidFill>
      </p:bgPr>
    </p:bg>
    <p:spTree>
      <p:nvGrpSpPr>
        <p:cNvPr id="1" name=""/>
        <p:cNvGrpSpPr/>
        <p:nvPr/>
      </p:nvGrpSpPr>
      <p:grpSpPr>
        <a:xfrm>
          <a:off x="0" y="0"/>
          <a:ext cx="0" cy="0"/>
          <a:chOff x="0" y="0"/>
          <a:chExt cx="0" cy="0"/>
        </a:xfrm>
      </p:grpSpPr>
      <p:sp>
        <p:nvSpPr>
          <p:cNvPr id="2" name="Text 0"/>
          <p:cNvSpPr/>
          <p:nvPr/>
        </p:nvSpPr>
        <p:spPr>
          <a:xfrm>
            <a:off x="640080" y="365760"/>
            <a:ext cx="7315200" cy="320040"/>
          </a:xfrm>
          <a:prstGeom prst="rect">
            <a:avLst/>
          </a:prstGeom>
          <a:noFill/>
          <a:ln/>
        </p:spPr>
        <p:txBody>
          <a:bodyPr wrap="square" lIns="0" tIns="0" rIns="0" bIns="0" rtlCol="0" anchor="ctr"/>
          <a:lstStyle/>
          <a:p>
            <a:pPr indent="0" marL="0">
              <a:buNone/>
            </a:pPr>
            <a:r>
              <a:rPr lang="en-US" sz="1200" b="1" spc="200" kern="0" dirty="0">
                <a:solidFill>
                  <a:srgbClr val="F5B301"/>
                </a:solidFill>
                <a:latin typeface="Inter" pitchFamily="34" charset="0"/>
                <a:ea typeface="Inter" pitchFamily="34" charset="-122"/>
                <a:cs typeface="Inter" pitchFamily="34" charset="-120"/>
              </a:rPr>
              <a:t>GROWTH HACK   3/4</a:t>
            </a:r>
            <a:endParaRPr lang="en-US" sz="1200" dirty="0"/>
          </a:p>
        </p:txBody>
      </p:sp>
      <p:sp>
        <p:nvSpPr>
          <p:cNvPr id="3" name="Text 1"/>
          <p:cNvSpPr/>
          <p:nvPr/>
        </p:nvSpPr>
        <p:spPr>
          <a:xfrm>
            <a:off x="640080" y="676656"/>
            <a:ext cx="7863840" cy="594360"/>
          </a:xfrm>
          <a:prstGeom prst="rect">
            <a:avLst/>
          </a:prstGeom>
          <a:noFill/>
          <a:ln/>
        </p:spPr>
        <p:txBody>
          <a:bodyPr wrap="square" lIns="0" tIns="0" rIns="0" bIns="0" rtlCol="0" anchor="ctr"/>
          <a:lstStyle/>
          <a:p>
            <a:pPr indent="0" marL="0">
              <a:buNone/>
            </a:pPr>
            <a:r>
              <a:rPr lang="en-US" sz="2500" b="1" dirty="0">
                <a:solidFill>
                  <a:srgbClr val="2E386E"/>
                </a:solidFill>
                <a:latin typeface="Inter" pitchFamily="34" charset="0"/>
                <a:ea typeface="Inter" pitchFamily="34" charset="-122"/>
                <a:cs typeface="Inter" pitchFamily="34" charset="-120"/>
              </a:rPr>
              <a:t>Donne énormément dans les groupes (sans jamais vendre)</a:t>
            </a:r>
            <a:endParaRPr lang="en-US" sz="2500" dirty="0"/>
          </a:p>
        </p:txBody>
      </p:sp>
      <p:sp>
        <p:nvSpPr>
          <p:cNvPr id="4" name="Shape 2"/>
          <p:cNvSpPr/>
          <p:nvPr/>
        </p:nvSpPr>
        <p:spPr>
          <a:xfrm>
            <a:off x="640080" y="1417320"/>
            <a:ext cx="3840480" cy="1517904"/>
          </a:xfrm>
          <a:prstGeom prst="roundRect">
            <a:avLst>
              <a:gd name="adj" fmla="val 4819"/>
            </a:avLst>
          </a:prstGeom>
          <a:solidFill>
            <a:srgbClr val="FFFFFF"/>
          </a:solidFill>
          <a:ln/>
          <a:effectLst>
            <a:outerShdw sx="100000" sy="100000" kx="0" ky="0" algn="bl" rotWithShape="0" blurRad="114300" dist="38100" dir="8100000">
              <a:srgbClr val="2E386E">
                <a:alpha val="16000"/>
              </a:srgbClr>
            </a:outerShdw>
          </a:effectLst>
        </p:spPr>
      </p:sp>
      <p:pic>
        <p:nvPicPr>
          <p:cNvPr id="5" name="Image 0" descr="preencoded.png">    </p:cNvPr>
          <p:cNvPicPr>
            <a:picLocks noChangeAspect="1"/>
          </p:cNvPicPr>
          <p:nvPr/>
        </p:nvPicPr>
        <p:blipFill>
          <a:blip r:embed="rId1"/>
          <a:stretch>
            <a:fillRect/>
          </a:stretch>
        </p:blipFill>
        <p:spPr>
          <a:xfrm>
            <a:off x="841248" y="1581912"/>
            <a:ext cx="237744" cy="237744"/>
          </a:xfrm>
          <a:prstGeom prst="rect">
            <a:avLst/>
          </a:prstGeom>
        </p:spPr>
      </p:pic>
      <p:sp>
        <p:nvSpPr>
          <p:cNvPr id="6" name="Text 3"/>
          <p:cNvSpPr/>
          <p:nvPr/>
        </p:nvSpPr>
        <p:spPr>
          <a:xfrm>
            <a:off x="1161288" y="1563624"/>
            <a:ext cx="3127248" cy="274320"/>
          </a:xfrm>
          <a:prstGeom prst="rect">
            <a:avLst/>
          </a:prstGeom>
          <a:noFill/>
          <a:ln/>
        </p:spPr>
        <p:txBody>
          <a:bodyPr wrap="square" lIns="0" tIns="0" rIns="0" bIns="0" rtlCol="0" anchor="ctr"/>
          <a:lstStyle/>
          <a:p>
            <a:pPr indent="0" marL="0">
              <a:buNone/>
            </a:pPr>
            <a:r>
              <a:rPr lang="en-US" sz="950" b="1" spc="100" kern="0" dirty="0">
                <a:solidFill>
                  <a:srgbClr val="5D6CDB"/>
                </a:solidFill>
                <a:latin typeface="Inter" pitchFamily="34" charset="0"/>
                <a:ea typeface="Inter" pitchFamily="34" charset="-122"/>
                <a:cs typeface="Inter" pitchFamily="34" charset="-120"/>
              </a:rPr>
              <a:t>COMMENT ÇA MARCHE</a:t>
            </a:r>
            <a:endParaRPr lang="en-US" sz="950" dirty="0"/>
          </a:p>
        </p:txBody>
      </p:sp>
      <p:sp>
        <p:nvSpPr>
          <p:cNvPr id="7" name="Text 4"/>
          <p:cNvSpPr/>
          <p:nvPr/>
        </p:nvSpPr>
        <p:spPr>
          <a:xfrm>
            <a:off x="841248" y="1892808"/>
            <a:ext cx="3438144" cy="932688"/>
          </a:xfrm>
          <a:prstGeom prst="rect">
            <a:avLst/>
          </a:prstGeom>
          <a:noFill/>
          <a:ln/>
        </p:spPr>
        <p:txBody>
          <a:bodyPr wrap="square" lIns="0" tIns="0" rIns="0" bIns="0" rtlCol="0" anchor="t"/>
          <a:lstStyle/>
          <a:p>
            <a:pPr indent="0" marL="0">
              <a:lnSpc>
                <a:spcPct val="104000"/>
              </a:lnSpc>
              <a:buNone/>
            </a:pPr>
            <a:r>
              <a:rPr lang="en-US" sz="1150" dirty="0">
                <a:solidFill>
                  <a:srgbClr val="2E386E"/>
                </a:solidFill>
                <a:latin typeface="Inter" pitchFamily="34" charset="0"/>
                <a:ea typeface="Inter" pitchFamily="34" charset="-122"/>
                <a:cs typeface="Inter" pitchFamily="34" charset="-120"/>
              </a:rPr>
              <a:t>Dans les groupes Facebook de ta niche, tu réponds aux questions avec une vraie valeur, sans jamais mettre ton lien.</a:t>
            </a:r>
            <a:endParaRPr lang="en-US" sz="1150" dirty="0"/>
          </a:p>
        </p:txBody>
      </p:sp>
      <p:sp>
        <p:nvSpPr>
          <p:cNvPr id="8" name="Shape 5"/>
          <p:cNvSpPr/>
          <p:nvPr/>
        </p:nvSpPr>
        <p:spPr>
          <a:xfrm>
            <a:off x="4663440" y="1417320"/>
            <a:ext cx="3840480" cy="1517904"/>
          </a:xfrm>
          <a:prstGeom prst="roundRect">
            <a:avLst>
              <a:gd name="adj" fmla="val 4819"/>
            </a:avLst>
          </a:prstGeom>
          <a:solidFill>
            <a:srgbClr val="FFFFFF"/>
          </a:solidFill>
          <a:ln/>
          <a:effectLst>
            <a:outerShdw sx="100000" sy="100000" kx="0" ky="0" algn="bl" rotWithShape="0" blurRad="114300" dist="38100" dir="8100000">
              <a:srgbClr val="2E386E">
                <a:alpha val="16000"/>
              </a:srgbClr>
            </a:outerShdw>
          </a:effectLst>
        </p:spPr>
      </p:sp>
      <p:pic>
        <p:nvPicPr>
          <p:cNvPr id="9" name="Image 1" descr="preencoded.png">    </p:cNvPr>
          <p:cNvPicPr>
            <a:picLocks noChangeAspect="1"/>
          </p:cNvPicPr>
          <p:nvPr/>
        </p:nvPicPr>
        <p:blipFill>
          <a:blip r:embed="rId2"/>
          <a:stretch>
            <a:fillRect/>
          </a:stretch>
        </p:blipFill>
        <p:spPr>
          <a:xfrm>
            <a:off x="4864608" y="1581912"/>
            <a:ext cx="237744" cy="237744"/>
          </a:xfrm>
          <a:prstGeom prst="rect">
            <a:avLst/>
          </a:prstGeom>
        </p:spPr>
      </p:pic>
      <p:sp>
        <p:nvSpPr>
          <p:cNvPr id="10" name="Text 6"/>
          <p:cNvSpPr/>
          <p:nvPr/>
        </p:nvSpPr>
        <p:spPr>
          <a:xfrm>
            <a:off x="5184648" y="1563624"/>
            <a:ext cx="3127248" cy="274320"/>
          </a:xfrm>
          <a:prstGeom prst="rect">
            <a:avLst/>
          </a:prstGeom>
          <a:noFill/>
          <a:ln/>
        </p:spPr>
        <p:txBody>
          <a:bodyPr wrap="square" lIns="0" tIns="0" rIns="0" bIns="0" rtlCol="0" anchor="ctr"/>
          <a:lstStyle/>
          <a:p>
            <a:pPr indent="0" marL="0">
              <a:buNone/>
            </a:pPr>
            <a:r>
              <a:rPr lang="en-US" sz="950" b="1" spc="100" kern="0" dirty="0">
                <a:solidFill>
                  <a:srgbClr val="5D6CDB"/>
                </a:solidFill>
                <a:latin typeface="Inter" pitchFamily="34" charset="0"/>
                <a:ea typeface="Inter" pitchFamily="34" charset="-122"/>
                <a:cs typeface="Inter" pitchFamily="34" charset="-120"/>
              </a:rPr>
              <a:t>POURQUOI ÇA MARCHE</a:t>
            </a:r>
            <a:endParaRPr lang="en-US" sz="950" dirty="0"/>
          </a:p>
        </p:txBody>
      </p:sp>
      <p:sp>
        <p:nvSpPr>
          <p:cNvPr id="11" name="Text 7"/>
          <p:cNvSpPr/>
          <p:nvPr/>
        </p:nvSpPr>
        <p:spPr>
          <a:xfrm>
            <a:off x="4864608" y="1892808"/>
            <a:ext cx="3438144" cy="932688"/>
          </a:xfrm>
          <a:prstGeom prst="rect">
            <a:avLst/>
          </a:prstGeom>
          <a:noFill/>
          <a:ln/>
        </p:spPr>
        <p:txBody>
          <a:bodyPr wrap="square" lIns="0" tIns="0" rIns="0" bIns="0" rtlCol="0" anchor="t"/>
          <a:lstStyle/>
          <a:p>
            <a:pPr indent="0" marL="0">
              <a:lnSpc>
                <a:spcPct val="104000"/>
              </a:lnSpc>
              <a:buNone/>
            </a:pPr>
            <a:r>
              <a:rPr lang="en-US" sz="1150" dirty="0">
                <a:solidFill>
                  <a:srgbClr val="2E386E"/>
                </a:solidFill>
                <a:latin typeface="Inter" pitchFamily="34" charset="0"/>
                <a:ea typeface="Inter" pitchFamily="34" charset="-122"/>
                <a:cs typeface="Inter" pitchFamily="34" charset="-120"/>
              </a:rPr>
              <a:t>Tu ne vends rien, donc tu ne déranges personne. Les gens impressionnés vont voir ton profil par curiosité, et tombent sur ton lien et ton quiz tout seuls.</a:t>
            </a:r>
            <a:endParaRPr lang="en-US" sz="1150" dirty="0"/>
          </a:p>
        </p:txBody>
      </p:sp>
      <p:sp>
        <p:nvSpPr>
          <p:cNvPr id="12" name="Shape 8"/>
          <p:cNvSpPr/>
          <p:nvPr/>
        </p:nvSpPr>
        <p:spPr>
          <a:xfrm>
            <a:off x="640080" y="3099816"/>
            <a:ext cx="3840480" cy="1517904"/>
          </a:xfrm>
          <a:prstGeom prst="roundRect">
            <a:avLst>
              <a:gd name="adj" fmla="val 4819"/>
            </a:avLst>
          </a:prstGeom>
          <a:solidFill>
            <a:srgbClr val="FFFFFF"/>
          </a:solidFill>
          <a:ln/>
          <a:effectLst>
            <a:outerShdw sx="100000" sy="100000" kx="0" ky="0" algn="bl" rotWithShape="0" blurRad="114300" dist="38100" dir="8100000">
              <a:srgbClr val="2E386E">
                <a:alpha val="16000"/>
              </a:srgbClr>
            </a:outerShdw>
          </a:effectLst>
        </p:spPr>
      </p:sp>
      <p:pic>
        <p:nvPicPr>
          <p:cNvPr id="13" name="Image 2" descr="preencoded.png">    </p:cNvPr>
          <p:cNvPicPr>
            <a:picLocks noChangeAspect="1"/>
          </p:cNvPicPr>
          <p:nvPr/>
        </p:nvPicPr>
        <p:blipFill>
          <a:blip r:embed="rId3"/>
          <a:stretch>
            <a:fillRect/>
          </a:stretch>
        </p:blipFill>
        <p:spPr>
          <a:xfrm>
            <a:off x="841248" y="3264408"/>
            <a:ext cx="237744" cy="237744"/>
          </a:xfrm>
          <a:prstGeom prst="rect">
            <a:avLst/>
          </a:prstGeom>
        </p:spPr>
      </p:pic>
      <p:sp>
        <p:nvSpPr>
          <p:cNvPr id="14" name="Text 9"/>
          <p:cNvSpPr/>
          <p:nvPr/>
        </p:nvSpPr>
        <p:spPr>
          <a:xfrm>
            <a:off x="1161288" y="3246120"/>
            <a:ext cx="3127248" cy="274320"/>
          </a:xfrm>
          <a:prstGeom prst="rect">
            <a:avLst/>
          </a:prstGeom>
          <a:noFill/>
          <a:ln/>
        </p:spPr>
        <p:txBody>
          <a:bodyPr wrap="square" lIns="0" tIns="0" rIns="0" bIns="0" rtlCol="0" anchor="ctr"/>
          <a:lstStyle/>
          <a:p>
            <a:pPr indent="0" marL="0">
              <a:buNone/>
            </a:pPr>
            <a:r>
              <a:rPr lang="en-US" sz="950" b="1" spc="100" kern="0" dirty="0">
                <a:solidFill>
                  <a:srgbClr val="F5B301"/>
                </a:solidFill>
                <a:latin typeface="Inter" pitchFamily="34" charset="0"/>
                <a:ea typeface="Inter" pitchFamily="34" charset="-122"/>
                <a:cs typeface="Inter" pitchFamily="34" charset="-120"/>
              </a:rPr>
              <a:t>COMMENT ONT FAIT LES AUTRES</a:t>
            </a:r>
            <a:endParaRPr lang="en-US" sz="950" dirty="0"/>
          </a:p>
        </p:txBody>
      </p:sp>
      <p:sp>
        <p:nvSpPr>
          <p:cNvPr id="15" name="Text 10"/>
          <p:cNvSpPr/>
          <p:nvPr/>
        </p:nvSpPr>
        <p:spPr>
          <a:xfrm>
            <a:off x="841248" y="3575304"/>
            <a:ext cx="3438144" cy="932688"/>
          </a:xfrm>
          <a:prstGeom prst="rect">
            <a:avLst/>
          </a:prstGeom>
          <a:noFill/>
          <a:ln/>
        </p:spPr>
        <p:txBody>
          <a:bodyPr wrap="square" lIns="0" tIns="0" rIns="0" bIns="0" rtlCol="0" anchor="t"/>
          <a:lstStyle/>
          <a:p>
            <a:pPr indent="0" marL="0">
              <a:lnSpc>
                <a:spcPct val="104000"/>
              </a:lnSpc>
              <a:buNone/>
            </a:pPr>
            <a:r>
              <a:rPr lang="en-US" sz="1150" dirty="0">
                <a:solidFill>
                  <a:srgbClr val="2E386E"/>
                </a:solidFill>
                <a:latin typeface="Inter" pitchFamily="34" charset="0"/>
                <a:ea typeface="Inter" pitchFamily="34" charset="-122"/>
                <a:cs typeface="Inter" pitchFamily="34" charset="-120"/>
              </a:rPr>
              <a:t>C'est la stratégie reine des groupes : les vendeurs se font virer, les généreux deviennent la référence et récoltent le trafic.</a:t>
            </a:r>
            <a:endParaRPr lang="en-US" sz="1150" dirty="0"/>
          </a:p>
        </p:txBody>
      </p:sp>
      <p:sp>
        <p:nvSpPr>
          <p:cNvPr id="16" name="Shape 11"/>
          <p:cNvSpPr/>
          <p:nvPr/>
        </p:nvSpPr>
        <p:spPr>
          <a:xfrm>
            <a:off x="4663440" y="3099816"/>
            <a:ext cx="3840480" cy="1517904"/>
          </a:xfrm>
          <a:prstGeom prst="roundRect">
            <a:avLst>
              <a:gd name="adj" fmla="val 4819"/>
            </a:avLst>
          </a:prstGeom>
          <a:solidFill>
            <a:srgbClr val="FFFFFF"/>
          </a:solidFill>
          <a:ln/>
          <a:effectLst>
            <a:outerShdw sx="100000" sy="100000" kx="0" ky="0" algn="bl" rotWithShape="0" blurRad="114300" dist="38100" dir="8100000">
              <a:srgbClr val="2E386E">
                <a:alpha val="16000"/>
              </a:srgbClr>
            </a:outerShdw>
          </a:effectLst>
        </p:spPr>
      </p:sp>
      <p:pic>
        <p:nvPicPr>
          <p:cNvPr id="17" name="Image 3" descr="preencoded.png">    </p:cNvPr>
          <p:cNvPicPr>
            <a:picLocks noChangeAspect="1"/>
          </p:cNvPicPr>
          <p:nvPr/>
        </p:nvPicPr>
        <p:blipFill>
          <a:blip r:embed="rId4"/>
          <a:stretch>
            <a:fillRect/>
          </a:stretch>
        </p:blipFill>
        <p:spPr>
          <a:xfrm>
            <a:off x="4864608" y="3264408"/>
            <a:ext cx="237744" cy="237744"/>
          </a:xfrm>
          <a:prstGeom prst="rect">
            <a:avLst/>
          </a:prstGeom>
        </p:spPr>
      </p:pic>
      <p:sp>
        <p:nvSpPr>
          <p:cNvPr id="18" name="Text 12"/>
          <p:cNvSpPr/>
          <p:nvPr/>
        </p:nvSpPr>
        <p:spPr>
          <a:xfrm>
            <a:off x="5184648" y="3246120"/>
            <a:ext cx="3127248" cy="274320"/>
          </a:xfrm>
          <a:prstGeom prst="rect">
            <a:avLst/>
          </a:prstGeom>
          <a:noFill/>
          <a:ln/>
        </p:spPr>
        <p:txBody>
          <a:bodyPr wrap="square" lIns="0" tIns="0" rIns="0" bIns="0" rtlCol="0" anchor="ctr"/>
          <a:lstStyle/>
          <a:p>
            <a:pPr indent="0" marL="0">
              <a:buNone/>
            </a:pPr>
            <a:r>
              <a:rPr lang="en-US" sz="950" b="1" spc="100" kern="0" dirty="0">
                <a:solidFill>
                  <a:srgbClr val="2BB673"/>
                </a:solidFill>
                <a:latin typeface="Inter" pitchFamily="34" charset="0"/>
                <a:ea typeface="Inter" pitchFamily="34" charset="-122"/>
                <a:cs typeface="Inter" pitchFamily="34" charset="-120"/>
              </a:rPr>
              <a:t>COMMENT FAIRE CHEZ TOI</a:t>
            </a:r>
            <a:endParaRPr lang="en-US" sz="950" dirty="0"/>
          </a:p>
        </p:txBody>
      </p:sp>
      <p:sp>
        <p:nvSpPr>
          <p:cNvPr id="19" name="Text 13"/>
          <p:cNvSpPr/>
          <p:nvPr/>
        </p:nvSpPr>
        <p:spPr>
          <a:xfrm>
            <a:off x="4864608" y="3575304"/>
            <a:ext cx="3438144" cy="932688"/>
          </a:xfrm>
          <a:prstGeom prst="rect">
            <a:avLst/>
          </a:prstGeom>
          <a:noFill/>
          <a:ln/>
        </p:spPr>
        <p:txBody>
          <a:bodyPr wrap="square" lIns="0" tIns="0" rIns="0" bIns="0" rtlCol="0" anchor="t"/>
          <a:lstStyle/>
          <a:p>
            <a:pPr indent="0" marL="0">
              <a:lnSpc>
                <a:spcPct val="104000"/>
              </a:lnSpc>
              <a:buNone/>
            </a:pPr>
            <a:r>
              <a:rPr lang="en-US" sz="1150" dirty="0">
                <a:solidFill>
                  <a:srgbClr val="2E386E"/>
                </a:solidFill>
                <a:latin typeface="Inter" pitchFamily="34" charset="0"/>
                <a:ea typeface="Inter" pitchFamily="34" charset="-122"/>
                <a:cs typeface="Inter" pitchFamily="34" charset="-120"/>
              </a:rPr>
              <a:t>Repère 3 groupes actifs de ta niche. Chaque jour, réponds à fond à une question, sans lien. Laisse ta valeur parler.</a:t>
            </a:r>
            <a:endParaRPr lang="en-US" sz="1150" dirty="0"/>
          </a:p>
        </p:txBody>
      </p:sp>
      <p:sp>
        <p:nvSpPr>
          <p:cNvPr id="20" name="Text 14"/>
          <p:cNvSpPr/>
          <p:nvPr/>
        </p:nvSpPr>
        <p:spPr>
          <a:xfrm>
            <a:off x="457200" y="4759452"/>
            <a:ext cx="6400800" cy="274320"/>
          </a:xfrm>
          <a:prstGeom prst="rect">
            <a:avLst/>
          </a:prstGeom>
          <a:noFill/>
          <a:ln/>
        </p:spPr>
        <p:txBody>
          <a:bodyPr wrap="square" lIns="0" tIns="0" rIns="0" bIns="0" rtlCol="0" anchor="ctr"/>
          <a:lstStyle/>
          <a:p>
            <a:pPr indent="0" marL="0">
              <a:buNone/>
            </a:pPr>
            <a:r>
              <a:rPr lang="en-US" sz="900" b="1" dirty="0">
                <a:solidFill>
                  <a:srgbClr val="6B73A0"/>
                </a:solidFill>
                <a:latin typeface="Inter" pitchFamily="34" charset="0"/>
                <a:ea typeface="Inter" pitchFamily="34" charset="-122"/>
                <a:cs typeface="Inter" pitchFamily="34" charset="-120"/>
              </a:rPr>
              <a:t>L'Atelier du Quiz</a:t>
            </a:r>
            <a:pPr indent="0" marL="0">
              <a:buNone/>
            </a:pPr>
            <a:r>
              <a:rPr lang="en-US" sz="900" dirty="0">
                <a:solidFill>
                  <a:srgbClr val="6B73A0"/>
                </a:solidFill>
                <a:latin typeface="Inter" pitchFamily="34" charset="0"/>
                <a:ea typeface="Inter" pitchFamily="34" charset="-122"/>
                <a:cs typeface="Inter" pitchFamily="34" charset="-120"/>
              </a:rPr>
              <a:t>   ·   Promo réseaux</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863840" cy="457200"/>
          </a:xfrm>
          <a:prstGeom prst="rect">
            <a:avLst/>
          </a:prstGeom>
          <a:noFill/>
          <a:ln/>
        </p:spPr>
        <p:txBody>
          <a:bodyPr wrap="square" lIns="0" tIns="0" rIns="0" bIns="0" rtlCol="0" anchor="ctr"/>
          <a:lstStyle/>
          <a:p>
            <a:pPr indent="0" marL="0">
              <a:buNone/>
            </a:pPr>
            <a:r>
              <a:rPr lang="en-US" sz="1600" b="1" spc="100" kern="0" dirty="0">
                <a:solidFill>
                  <a:srgbClr val="F5B301"/>
                </a:solidFill>
                <a:latin typeface="Inter" pitchFamily="34" charset="0"/>
                <a:ea typeface="Inter" pitchFamily="34" charset="-122"/>
                <a:cs typeface="Inter" pitchFamily="34" charset="-120"/>
              </a:rPr>
              <a:t>Exemple concret</a:t>
            </a:r>
            <a:endParaRPr lang="en-US" sz="1600" dirty="0"/>
          </a:p>
        </p:txBody>
      </p:sp>
      <p:sp>
        <p:nvSpPr>
          <p:cNvPr id="3" name="Text 1"/>
          <p:cNvSpPr/>
          <p:nvPr/>
        </p:nvSpPr>
        <p:spPr>
          <a:xfrm>
            <a:off x="640080" y="841248"/>
            <a:ext cx="7863840" cy="548640"/>
          </a:xfrm>
          <a:prstGeom prst="rect">
            <a:avLst/>
          </a:prstGeom>
          <a:noFill/>
          <a:ln/>
        </p:spPr>
        <p:txBody>
          <a:bodyPr wrap="square" lIns="0" tIns="0" rIns="0" bIns="0" rtlCol="0" anchor="ctr"/>
          <a:lstStyle/>
          <a:p>
            <a:pPr indent="0" marL="0">
              <a:buNone/>
            </a:pPr>
            <a:r>
              <a:rPr lang="en-US" sz="2400" b="1" dirty="0">
                <a:solidFill>
                  <a:srgbClr val="2E386E"/>
                </a:solidFill>
                <a:latin typeface="Inter" pitchFamily="34" charset="0"/>
                <a:ea typeface="Inter" pitchFamily="34" charset="-122"/>
                <a:cs typeface="Inter" pitchFamily="34" charset="-120"/>
              </a:rPr>
              <a:t>Donne énormément dans les groupes (sans jamais vendre)</a:t>
            </a:r>
            <a:endParaRPr lang="en-US" sz="2400" dirty="0"/>
          </a:p>
        </p:txBody>
      </p:sp>
      <p:sp>
        <p:nvSpPr>
          <p:cNvPr id="4" name="Shape 2"/>
          <p:cNvSpPr/>
          <p:nvPr/>
        </p:nvSpPr>
        <p:spPr>
          <a:xfrm>
            <a:off x="640080" y="1691640"/>
            <a:ext cx="7863840" cy="2468880"/>
          </a:xfrm>
          <a:prstGeom prst="roundRect">
            <a:avLst>
              <a:gd name="adj" fmla="val 5185"/>
            </a:avLst>
          </a:prstGeom>
          <a:solidFill>
            <a:srgbClr val="EAECFB"/>
          </a:solidFill>
          <a:ln/>
        </p:spPr>
      </p:sp>
      <p:sp>
        <p:nvSpPr>
          <p:cNvPr id="5" name="Text 3"/>
          <p:cNvSpPr/>
          <p:nvPr/>
        </p:nvSpPr>
        <p:spPr>
          <a:xfrm>
            <a:off x="1005840" y="1691640"/>
            <a:ext cx="7132320" cy="2468880"/>
          </a:xfrm>
          <a:prstGeom prst="rect">
            <a:avLst/>
          </a:prstGeom>
          <a:noFill/>
          <a:ln/>
        </p:spPr>
        <p:txBody>
          <a:bodyPr wrap="square" lIns="0" tIns="0" rIns="0" bIns="0" rtlCol="0" anchor="ctr"/>
          <a:lstStyle/>
          <a:p>
            <a:pPr indent="0" marL="0">
              <a:lnSpc>
                <a:spcPct val="115000"/>
              </a:lnSpc>
              <a:buNone/>
            </a:pPr>
            <a:r>
              <a:rPr lang="en-US" sz="1600" dirty="0">
                <a:solidFill>
                  <a:srgbClr val="2E386E"/>
                </a:solidFill>
                <a:latin typeface="Inter" pitchFamily="34" charset="0"/>
                <a:ea typeface="Inter" pitchFamily="34" charset="-122"/>
                <a:cs typeface="Inter" pitchFamily="34" charset="-120"/>
              </a:rPr>
              <a:t>Quelqu'un demande « comment trouver mes premiers clients ? ». Tu écris une réponse détaillée et utile. 20 personnes likent, plusieurs visitent ton profil, voient ton quiz en bio, et entrent dans ton tunnel. Tu n'as rien « vendu ».</a:t>
            </a:r>
            <a:endParaRPr lang="en-US" sz="1600" dirty="0"/>
          </a:p>
        </p:txBody>
      </p:sp>
      <p:sp>
        <p:nvSpPr>
          <p:cNvPr id="6" name="Text 4"/>
          <p:cNvSpPr/>
          <p:nvPr/>
        </p:nvSpPr>
        <p:spPr>
          <a:xfrm>
            <a:off x="457200" y="4759452"/>
            <a:ext cx="6400800" cy="274320"/>
          </a:xfrm>
          <a:prstGeom prst="rect">
            <a:avLst/>
          </a:prstGeom>
          <a:noFill/>
          <a:ln/>
        </p:spPr>
        <p:txBody>
          <a:bodyPr wrap="square" lIns="0" tIns="0" rIns="0" bIns="0" rtlCol="0" anchor="ctr"/>
          <a:lstStyle/>
          <a:p>
            <a:pPr indent="0" marL="0">
              <a:buNone/>
            </a:pPr>
            <a:r>
              <a:rPr lang="en-US" sz="900" b="1" dirty="0">
                <a:solidFill>
                  <a:srgbClr val="6B73A0"/>
                </a:solidFill>
                <a:latin typeface="Inter" pitchFamily="34" charset="0"/>
                <a:ea typeface="Inter" pitchFamily="34" charset="-122"/>
                <a:cs typeface="Inter" pitchFamily="34" charset="-120"/>
              </a:rPr>
              <a:t>L'Atelier du Quiz</a:t>
            </a:r>
            <a:pPr indent="0" marL="0">
              <a:buNone/>
            </a:pPr>
            <a:r>
              <a:rPr lang="en-US" sz="900" dirty="0">
                <a:solidFill>
                  <a:srgbClr val="6B73A0"/>
                </a:solidFill>
                <a:latin typeface="Inter" pitchFamily="34" charset="0"/>
                <a:ea typeface="Inter" pitchFamily="34" charset="-122"/>
                <a:cs typeface="Inter" pitchFamily="34" charset="-120"/>
              </a:rPr>
              <a:t>   ·   Promo réseaux</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5FA"/>
        </a:solidFill>
      </p:bgPr>
    </p:bg>
    <p:spTree>
      <p:nvGrpSpPr>
        <p:cNvPr id="1" name=""/>
        <p:cNvGrpSpPr/>
        <p:nvPr/>
      </p:nvGrpSpPr>
      <p:grpSpPr>
        <a:xfrm>
          <a:off x="0" y="0"/>
          <a:ext cx="0" cy="0"/>
          <a:chOff x="0" y="0"/>
          <a:chExt cx="0" cy="0"/>
        </a:xfrm>
      </p:grpSpPr>
      <p:sp>
        <p:nvSpPr>
          <p:cNvPr id="2" name="Text 0"/>
          <p:cNvSpPr/>
          <p:nvPr/>
        </p:nvSpPr>
        <p:spPr>
          <a:xfrm>
            <a:off x="640080" y="365760"/>
            <a:ext cx="7315200" cy="320040"/>
          </a:xfrm>
          <a:prstGeom prst="rect">
            <a:avLst/>
          </a:prstGeom>
          <a:noFill/>
          <a:ln/>
        </p:spPr>
        <p:txBody>
          <a:bodyPr wrap="square" lIns="0" tIns="0" rIns="0" bIns="0" rtlCol="0" anchor="ctr"/>
          <a:lstStyle/>
          <a:p>
            <a:pPr indent="0" marL="0">
              <a:buNone/>
            </a:pPr>
            <a:r>
              <a:rPr lang="en-US" sz="1200" b="1" spc="200" kern="0" dirty="0">
                <a:solidFill>
                  <a:srgbClr val="F5B301"/>
                </a:solidFill>
                <a:latin typeface="Inter" pitchFamily="34" charset="0"/>
                <a:ea typeface="Inter" pitchFamily="34" charset="-122"/>
                <a:cs typeface="Inter" pitchFamily="34" charset="-120"/>
              </a:rPr>
              <a:t>GROWTH HACK   4/4</a:t>
            </a:r>
            <a:endParaRPr lang="en-US" sz="1200" dirty="0"/>
          </a:p>
        </p:txBody>
      </p:sp>
      <p:sp>
        <p:nvSpPr>
          <p:cNvPr id="3" name="Text 1"/>
          <p:cNvSpPr/>
          <p:nvPr/>
        </p:nvSpPr>
        <p:spPr>
          <a:xfrm>
            <a:off x="640080" y="676656"/>
            <a:ext cx="7863840" cy="594360"/>
          </a:xfrm>
          <a:prstGeom prst="rect">
            <a:avLst/>
          </a:prstGeom>
          <a:noFill/>
          <a:ln/>
        </p:spPr>
        <p:txBody>
          <a:bodyPr wrap="square" lIns="0" tIns="0" rIns="0" bIns="0" rtlCol="0" anchor="ctr"/>
          <a:lstStyle/>
          <a:p>
            <a:pPr indent="0" marL="0">
              <a:buNone/>
            </a:pPr>
            <a:r>
              <a:rPr lang="en-US" sz="2500" b="1" dirty="0">
                <a:solidFill>
                  <a:srgbClr val="2E386E"/>
                </a:solidFill>
                <a:latin typeface="Inter" pitchFamily="34" charset="0"/>
                <a:ea typeface="Inter" pitchFamily="34" charset="-122"/>
                <a:cs typeface="Inter" pitchFamily="34" charset="-120"/>
              </a:rPr>
              <a:t>Le commentaire épinglé qui capture</a:t>
            </a:r>
            <a:endParaRPr lang="en-US" sz="2500" dirty="0"/>
          </a:p>
        </p:txBody>
      </p:sp>
      <p:sp>
        <p:nvSpPr>
          <p:cNvPr id="4" name="Shape 2"/>
          <p:cNvSpPr/>
          <p:nvPr/>
        </p:nvSpPr>
        <p:spPr>
          <a:xfrm>
            <a:off x="640080" y="1417320"/>
            <a:ext cx="3840480" cy="1517904"/>
          </a:xfrm>
          <a:prstGeom prst="roundRect">
            <a:avLst>
              <a:gd name="adj" fmla="val 4819"/>
            </a:avLst>
          </a:prstGeom>
          <a:solidFill>
            <a:srgbClr val="FFFFFF"/>
          </a:solidFill>
          <a:ln/>
          <a:effectLst>
            <a:outerShdw sx="100000" sy="100000" kx="0" ky="0" algn="bl" rotWithShape="0" blurRad="114300" dist="38100" dir="8100000">
              <a:srgbClr val="2E386E">
                <a:alpha val="16000"/>
              </a:srgbClr>
            </a:outerShdw>
          </a:effectLst>
        </p:spPr>
      </p:sp>
      <p:pic>
        <p:nvPicPr>
          <p:cNvPr id="5" name="Image 0" descr="preencoded.png">    </p:cNvPr>
          <p:cNvPicPr>
            <a:picLocks noChangeAspect="1"/>
          </p:cNvPicPr>
          <p:nvPr/>
        </p:nvPicPr>
        <p:blipFill>
          <a:blip r:embed="rId1"/>
          <a:stretch>
            <a:fillRect/>
          </a:stretch>
        </p:blipFill>
        <p:spPr>
          <a:xfrm>
            <a:off x="841248" y="1581912"/>
            <a:ext cx="237744" cy="237744"/>
          </a:xfrm>
          <a:prstGeom prst="rect">
            <a:avLst/>
          </a:prstGeom>
        </p:spPr>
      </p:pic>
      <p:sp>
        <p:nvSpPr>
          <p:cNvPr id="6" name="Text 3"/>
          <p:cNvSpPr/>
          <p:nvPr/>
        </p:nvSpPr>
        <p:spPr>
          <a:xfrm>
            <a:off x="1161288" y="1563624"/>
            <a:ext cx="3127248" cy="274320"/>
          </a:xfrm>
          <a:prstGeom prst="rect">
            <a:avLst/>
          </a:prstGeom>
          <a:noFill/>
          <a:ln/>
        </p:spPr>
        <p:txBody>
          <a:bodyPr wrap="square" lIns="0" tIns="0" rIns="0" bIns="0" rtlCol="0" anchor="ctr"/>
          <a:lstStyle/>
          <a:p>
            <a:pPr indent="0" marL="0">
              <a:buNone/>
            </a:pPr>
            <a:r>
              <a:rPr lang="en-US" sz="950" b="1" spc="100" kern="0" dirty="0">
                <a:solidFill>
                  <a:srgbClr val="5D6CDB"/>
                </a:solidFill>
                <a:latin typeface="Inter" pitchFamily="34" charset="0"/>
                <a:ea typeface="Inter" pitchFamily="34" charset="-122"/>
                <a:cs typeface="Inter" pitchFamily="34" charset="-120"/>
              </a:rPr>
              <a:t>COMMENT ÇA MARCHE</a:t>
            </a:r>
            <a:endParaRPr lang="en-US" sz="950" dirty="0"/>
          </a:p>
        </p:txBody>
      </p:sp>
      <p:sp>
        <p:nvSpPr>
          <p:cNvPr id="7" name="Text 4"/>
          <p:cNvSpPr/>
          <p:nvPr/>
        </p:nvSpPr>
        <p:spPr>
          <a:xfrm>
            <a:off x="841248" y="1892808"/>
            <a:ext cx="3438144" cy="932688"/>
          </a:xfrm>
          <a:prstGeom prst="rect">
            <a:avLst/>
          </a:prstGeom>
          <a:noFill/>
          <a:ln/>
        </p:spPr>
        <p:txBody>
          <a:bodyPr wrap="square" lIns="0" tIns="0" rIns="0" bIns="0" rtlCol="0" anchor="t"/>
          <a:lstStyle/>
          <a:p>
            <a:pPr indent="0" marL="0">
              <a:lnSpc>
                <a:spcPct val="104000"/>
              </a:lnSpc>
              <a:buNone/>
            </a:pPr>
            <a:r>
              <a:rPr lang="en-US" sz="1150" dirty="0">
                <a:solidFill>
                  <a:srgbClr val="2E386E"/>
                </a:solidFill>
                <a:latin typeface="Inter" pitchFamily="34" charset="0"/>
                <a:ea typeface="Inter" pitchFamily="34" charset="-122"/>
                <a:cs typeface="Inter" pitchFamily="34" charset="-120"/>
              </a:rPr>
              <a:t>Quand un de tes posts marche, tu ajoutes ton lien de quiz en commentaire, et tu épingles ce commentaire en haut.</a:t>
            </a:r>
            <a:endParaRPr lang="en-US" sz="1150" dirty="0"/>
          </a:p>
        </p:txBody>
      </p:sp>
      <p:sp>
        <p:nvSpPr>
          <p:cNvPr id="8" name="Shape 5"/>
          <p:cNvSpPr/>
          <p:nvPr/>
        </p:nvSpPr>
        <p:spPr>
          <a:xfrm>
            <a:off x="4663440" y="1417320"/>
            <a:ext cx="3840480" cy="1517904"/>
          </a:xfrm>
          <a:prstGeom prst="roundRect">
            <a:avLst>
              <a:gd name="adj" fmla="val 4819"/>
            </a:avLst>
          </a:prstGeom>
          <a:solidFill>
            <a:srgbClr val="FFFFFF"/>
          </a:solidFill>
          <a:ln/>
          <a:effectLst>
            <a:outerShdw sx="100000" sy="100000" kx="0" ky="0" algn="bl" rotWithShape="0" blurRad="114300" dist="38100" dir="8100000">
              <a:srgbClr val="2E386E">
                <a:alpha val="16000"/>
              </a:srgbClr>
            </a:outerShdw>
          </a:effectLst>
        </p:spPr>
      </p:sp>
      <p:pic>
        <p:nvPicPr>
          <p:cNvPr id="9" name="Image 1" descr="preencoded.png">    </p:cNvPr>
          <p:cNvPicPr>
            <a:picLocks noChangeAspect="1"/>
          </p:cNvPicPr>
          <p:nvPr/>
        </p:nvPicPr>
        <p:blipFill>
          <a:blip r:embed="rId2"/>
          <a:stretch>
            <a:fillRect/>
          </a:stretch>
        </p:blipFill>
        <p:spPr>
          <a:xfrm>
            <a:off x="4864608" y="1581912"/>
            <a:ext cx="237744" cy="237744"/>
          </a:xfrm>
          <a:prstGeom prst="rect">
            <a:avLst/>
          </a:prstGeom>
        </p:spPr>
      </p:pic>
      <p:sp>
        <p:nvSpPr>
          <p:cNvPr id="10" name="Text 6"/>
          <p:cNvSpPr/>
          <p:nvPr/>
        </p:nvSpPr>
        <p:spPr>
          <a:xfrm>
            <a:off x="5184648" y="1563624"/>
            <a:ext cx="3127248" cy="274320"/>
          </a:xfrm>
          <a:prstGeom prst="rect">
            <a:avLst/>
          </a:prstGeom>
          <a:noFill/>
          <a:ln/>
        </p:spPr>
        <p:txBody>
          <a:bodyPr wrap="square" lIns="0" tIns="0" rIns="0" bIns="0" rtlCol="0" anchor="ctr"/>
          <a:lstStyle/>
          <a:p>
            <a:pPr indent="0" marL="0">
              <a:buNone/>
            </a:pPr>
            <a:r>
              <a:rPr lang="en-US" sz="950" b="1" spc="100" kern="0" dirty="0">
                <a:solidFill>
                  <a:srgbClr val="5D6CDB"/>
                </a:solidFill>
                <a:latin typeface="Inter" pitchFamily="34" charset="0"/>
                <a:ea typeface="Inter" pitchFamily="34" charset="-122"/>
                <a:cs typeface="Inter" pitchFamily="34" charset="-120"/>
              </a:rPr>
              <a:t>POURQUOI ÇA MARCHE</a:t>
            </a:r>
            <a:endParaRPr lang="en-US" sz="950" dirty="0"/>
          </a:p>
        </p:txBody>
      </p:sp>
      <p:sp>
        <p:nvSpPr>
          <p:cNvPr id="11" name="Text 7"/>
          <p:cNvSpPr/>
          <p:nvPr/>
        </p:nvSpPr>
        <p:spPr>
          <a:xfrm>
            <a:off x="4864608" y="1892808"/>
            <a:ext cx="3438144" cy="932688"/>
          </a:xfrm>
          <a:prstGeom prst="rect">
            <a:avLst/>
          </a:prstGeom>
          <a:noFill/>
          <a:ln/>
        </p:spPr>
        <p:txBody>
          <a:bodyPr wrap="square" lIns="0" tIns="0" rIns="0" bIns="0" rtlCol="0" anchor="t"/>
          <a:lstStyle/>
          <a:p>
            <a:pPr indent="0" marL="0">
              <a:lnSpc>
                <a:spcPct val="104000"/>
              </a:lnSpc>
              <a:buNone/>
            </a:pPr>
            <a:r>
              <a:rPr lang="en-US" sz="1150" dirty="0">
                <a:solidFill>
                  <a:srgbClr val="2E386E"/>
                </a:solidFill>
                <a:latin typeface="Inter" pitchFamily="34" charset="0"/>
                <a:ea typeface="Inter" pitchFamily="34" charset="-122"/>
                <a:cs typeface="Inter" pitchFamily="34" charset="-120"/>
              </a:rPr>
              <a:t>Un lien dans le post lui-même réduit sa portée (l'algo n'aime pas les liens sortants). En commentaire épinglé, tu gardes la portée ET le lien.</a:t>
            </a:r>
            <a:endParaRPr lang="en-US" sz="1150" dirty="0"/>
          </a:p>
        </p:txBody>
      </p:sp>
      <p:sp>
        <p:nvSpPr>
          <p:cNvPr id="12" name="Shape 8"/>
          <p:cNvSpPr/>
          <p:nvPr/>
        </p:nvSpPr>
        <p:spPr>
          <a:xfrm>
            <a:off x="640080" y="3099816"/>
            <a:ext cx="3840480" cy="1517904"/>
          </a:xfrm>
          <a:prstGeom prst="roundRect">
            <a:avLst>
              <a:gd name="adj" fmla="val 4819"/>
            </a:avLst>
          </a:prstGeom>
          <a:solidFill>
            <a:srgbClr val="FFFFFF"/>
          </a:solidFill>
          <a:ln/>
          <a:effectLst>
            <a:outerShdw sx="100000" sy="100000" kx="0" ky="0" algn="bl" rotWithShape="0" blurRad="114300" dist="38100" dir="8100000">
              <a:srgbClr val="2E386E">
                <a:alpha val="16000"/>
              </a:srgbClr>
            </a:outerShdw>
          </a:effectLst>
        </p:spPr>
      </p:sp>
      <p:pic>
        <p:nvPicPr>
          <p:cNvPr id="13" name="Image 2" descr="preencoded.png">    </p:cNvPr>
          <p:cNvPicPr>
            <a:picLocks noChangeAspect="1"/>
          </p:cNvPicPr>
          <p:nvPr/>
        </p:nvPicPr>
        <p:blipFill>
          <a:blip r:embed="rId3"/>
          <a:stretch>
            <a:fillRect/>
          </a:stretch>
        </p:blipFill>
        <p:spPr>
          <a:xfrm>
            <a:off x="841248" y="3264408"/>
            <a:ext cx="237744" cy="237744"/>
          </a:xfrm>
          <a:prstGeom prst="rect">
            <a:avLst/>
          </a:prstGeom>
        </p:spPr>
      </p:pic>
      <p:sp>
        <p:nvSpPr>
          <p:cNvPr id="14" name="Text 9"/>
          <p:cNvSpPr/>
          <p:nvPr/>
        </p:nvSpPr>
        <p:spPr>
          <a:xfrm>
            <a:off x="1161288" y="3246120"/>
            <a:ext cx="3127248" cy="274320"/>
          </a:xfrm>
          <a:prstGeom prst="rect">
            <a:avLst/>
          </a:prstGeom>
          <a:noFill/>
          <a:ln/>
        </p:spPr>
        <p:txBody>
          <a:bodyPr wrap="square" lIns="0" tIns="0" rIns="0" bIns="0" rtlCol="0" anchor="ctr"/>
          <a:lstStyle/>
          <a:p>
            <a:pPr indent="0" marL="0">
              <a:buNone/>
            </a:pPr>
            <a:r>
              <a:rPr lang="en-US" sz="950" b="1" spc="100" kern="0" dirty="0">
                <a:solidFill>
                  <a:srgbClr val="F5B301"/>
                </a:solidFill>
                <a:latin typeface="Inter" pitchFamily="34" charset="0"/>
                <a:ea typeface="Inter" pitchFamily="34" charset="-122"/>
                <a:cs typeface="Inter" pitchFamily="34" charset="-120"/>
              </a:rPr>
              <a:t>COMMENT ONT FAIT LES AUTRES</a:t>
            </a:r>
            <a:endParaRPr lang="en-US" sz="950" dirty="0"/>
          </a:p>
        </p:txBody>
      </p:sp>
      <p:sp>
        <p:nvSpPr>
          <p:cNvPr id="15" name="Text 10"/>
          <p:cNvSpPr/>
          <p:nvPr/>
        </p:nvSpPr>
        <p:spPr>
          <a:xfrm>
            <a:off x="841248" y="3575304"/>
            <a:ext cx="3438144" cy="932688"/>
          </a:xfrm>
          <a:prstGeom prst="rect">
            <a:avLst/>
          </a:prstGeom>
          <a:noFill/>
          <a:ln/>
        </p:spPr>
        <p:txBody>
          <a:bodyPr wrap="square" lIns="0" tIns="0" rIns="0" bIns="0" rtlCol="0" anchor="t"/>
          <a:lstStyle/>
          <a:p>
            <a:pPr indent="0" marL="0">
              <a:lnSpc>
                <a:spcPct val="104000"/>
              </a:lnSpc>
              <a:buNone/>
            </a:pPr>
            <a:r>
              <a:rPr lang="en-US" sz="1150" dirty="0">
                <a:solidFill>
                  <a:srgbClr val="2E386E"/>
                </a:solidFill>
                <a:latin typeface="Inter" pitchFamily="34" charset="0"/>
                <a:ea typeface="Inter" pitchFamily="34" charset="-122"/>
                <a:cs typeface="Inter" pitchFamily="34" charset="-120"/>
              </a:rPr>
              <a:t>Tous les pros des réseaux font ça : le post reste « propre », et l'appel à l'action vit dans le premier commentaire.</a:t>
            </a:r>
            <a:endParaRPr lang="en-US" sz="1150" dirty="0"/>
          </a:p>
        </p:txBody>
      </p:sp>
      <p:sp>
        <p:nvSpPr>
          <p:cNvPr id="16" name="Shape 11"/>
          <p:cNvSpPr/>
          <p:nvPr/>
        </p:nvSpPr>
        <p:spPr>
          <a:xfrm>
            <a:off x="4663440" y="3099816"/>
            <a:ext cx="3840480" cy="1517904"/>
          </a:xfrm>
          <a:prstGeom prst="roundRect">
            <a:avLst>
              <a:gd name="adj" fmla="val 4819"/>
            </a:avLst>
          </a:prstGeom>
          <a:solidFill>
            <a:srgbClr val="FFFFFF"/>
          </a:solidFill>
          <a:ln/>
          <a:effectLst>
            <a:outerShdw sx="100000" sy="100000" kx="0" ky="0" algn="bl" rotWithShape="0" blurRad="114300" dist="38100" dir="8100000">
              <a:srgbClr val="2E386E">
                <a:alpha val="16000"/>
              </a:srgbClr>
            </a:outerShdw>
          </a:effectLst>
        </p:spPr>
      </p:sp>
      <p:pic>
        <p:nvPicPr>
          <p:cNvPr id="17" name="Image 3" descr="preencoded.png">    </p:cNvPr>
          <p:cNvPicPr>
            <a:picLocks noChangeAspect="1"/>
          </p:cNvPicPr>
          <p:nvPr/>
        </p:nvPicPr>
        <p:blipFill>
          <a:blip r:embed="rId4"/>
          <a:stretch>
            <a:fillRect/>
          </a:stretch>
        </p:blipFill>
        <p:spPr>
          <a:xfrm>
            <a:off x="4864608" y="3264408"/>
            <a:ext cx="237744" cy="237744"/>
          </a:xfrm>
          <a:prstGeom prst="rect">
            <a:avLst/>
          </a:prstGeom>
        </p:spPr>
      </p:pic>
      <p:sp>
        <p:nvSpPr>
          <p:cNvPr id="18" name="Text 12"/>
          <p:cNvSpPr/>
          <p:nvPr/>
        </p:nvSpPr>
        <p:spPr>
          <a:xfrm>
            <a:off x="5184648" y="3246120"/>
            <a:ext cx="3127248" cy="274320"/>
          </a:xfrm>
          <a:prstGeom prst="rect">
            <a:avLst/>
          </a:prstGeom>
          <a:noFill/>
          <a:ln/>
        </p:spPr>
        <p:txBody>
          <a:bodyPr wrap="square" lIns="0" tIns="0" rIns="0" bIns="0" rtlCol="0" anchor="ctr"/>
          <a:lstStyle/>
          <a:p>
            <a:pPr indent="0" marL="0">
              <a:buNone/>
            </a:pPr>
            <a:r>
              <a:rPr lang="en-US" sz="950" b="1" spc="100" kern="0" dirty="0">
                <a:solidFill>
                  <a:srgbClr val="2BB673"/>
                </a:solidFill>
                <a:latin typeface="Inter" pitchFamily="34" charset="0"/>
                <a:ea typeface="Inter" pitchFamily="34" charset="-122"/>
                <a:cs typeface="Inter" pitchFamily="34" charset="-120"/>
              </a:rPr>
              <a:t>COMMENT FAIRE CHEZ TOI</a:t>
            </a:r>
            <a:endParaRPr lang="en-US" sz="950" dirty="0"/>
          </a:p>
        </p:txBody>
      </p:sp>
      <p:sp>
        <p:nvSpPr>
          <p:cNvPr id="19" name="Text 13"/>
          <p:cNvSpPr/>
          <p:nvPr/>
        </p:nvSpPr>
        <p:spPr>
          <a:xfrm>
            <a:off x="4864608" y="3575304"/>
            <a:ext cx="3438144" cy="932688"/>
          </a:xfrm>
          <a:prstGeom prst="rect">
            <a:avLst/>
          </a:prstGeom>
          <a:noFill/>
          <a:ln/>
        </p:spPr>
        <p:txBody>
          <a:bodyPr wrap="square" lIns="0" tIns="0" rIns="0" bIns="0" rtlCol="0" anchor="t"/>
          <a:lstStyle/>
          <a:p>
            <a:pPr indent="0" marL="0">
              <a:lnSpc>
                <a:spcPct val="104000"/>
              </a:lnSpc>
              <a:buNone/>
            </a:pPr>
            <a:r>
              <a:rPr lang="en-US" sz="1150" dirty="0">
                <a:solidFill>
                  <a:srgbClr val="2E386E"/>
                </a:solidFill>
                <a:latin typeface="Inter" pitchFamily="34" charset="0"/>
                <a:ea typeface="Inter" pitchFamily="34" charset="-122"/>
                <a:cs typeface="Inter" pitchFamily="34" charset="-120"/>
              </a:rPr>
              <a:t>Ne mets jamais ton lien dans le texte du post. Mets-le en premier commentaire, et épingle-le.</a:t>
            </a:r>
            <a:endParaRPr lang="en-US" sz="1150" dirty="0"/>
          </a:p>
        </p:txBody>
      </p:sp>
      <p:sp>
        <p:nvSpPr>
          <p:cNvPr id="20" name="Text 14"/>
          <p:cNvSpPr/>
          <p:nvPr/>
        </p:nvSpPr>
        <p:spPr>
          <a:xfrm>
            <a:off x="457200" y="4759452"/>
            <a:ext cx="6400800" cy="274320"/>
          </a:xfrm>
          <a:prstGeom prst="rect">
            <a:avLst/>
          </a:prstGeom>
          <a:noFill/>
          <a:ln/>
        </p:spPr>
        <p:txBody>
          <a:bodyPr wrap="square" lIns="0" tIns="0" rIns="0" bIns="0" rtlCol="0" anchor="ctr"/>
          <a:lstStyle/>
          <a:p>
            <a:pPr indent="0" marL="0">
              <a:buNone/>
            </a:pPr>
            <a:r>
              <a:rPr lang="en-US" sz="900" b="1" dirty="0">
                <a:solidFill>
                  <a:srgbClr val="6B73A0"/>
                </a:solidFill>
                <a:latin typeface="Inter" pitchFamily="34" charset="0"/>
                <a:ea typeface="Inter" pitchFamily="34" charset="-122"/>
                <a:cs typeface="Inter" pitchFamily="34" charset="-120"/>
              </a:rPr>
              <a:t>L'Atelier du Quiz</a:t>
            </a:r>
            <a:pPr indent="0" marL="0">
              <a:buNone/>
            </a:pPr>
            <a:r>
              <a:rPr lang="en-US" sz="900" dirty="0">
                <a:solidFill>
                  <a:srgbClr val="6B73A0"/>
                </a:solidFill>
                <a:latin typeface="Inter" pitchFamily="34" charset="0"/>
                <a:ea typeface="Inter" pitchFamily="34" charset="-122"/>
                <a:cs typeface="Inter" pitchFamily="34" charset="-120"/>
              </a:rPr>
              <a:t>   ·   Promo réseaux</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863840" cy="457200"/>
          </a:xfrm>
          <a:prstGeom prst="rect">
            <a:avLst/>
          </a:prstGeom>
          <a:noFill/>
          <a:ln/>
        </p:spPr>
        <p:txBody>
          <a:bodyPr wrap="square" lIns="0" tIns="0" rIns="0" bIns="0" rtlCol="0" anchor="ctr"/>
          <a:lstStyle/>
          <a:p>
            <a:pPr indent="0" marL="0">
              <a:buNone/>
            </a:pPr>
            <a:r>
              <a:rPr lang="en-US" sz="1600" b="1" spc="100" kern="0" dirty="0">
                <a:solidFill>
                  <a:srgbClr val="F5B301"/>
                </a:solidFill>
                <a:latin typeface="Inter" pitchFamily="34" charset="0"/>
                <a:ea typeface="Inter" pitchFamily="34" charset="-122"/>
                <a:cs typeface="Inter" pitchFamily="34" charset="-120"/>
              </a:rPr>
              <a:t>Exemple concret</a:t>
            </a:r>
            <a:endParaRPr lang="en-US" sz="1600" dirty="0"/>
          </a:p>
        </p:txBody>
      </p:sp>
      <p:sp>
        <p:nvSpPr>
          <p:cNvPr id="3" name="Text 1"/>
          <p:cNvSpPr/>
          <p:nvPr/>
        </p:nvSpPr>
        <p:spPr>
          <a:xfrm>
            <a:off x="640080" y="841248"/>
            <a:ext cx="7863840" cy="548640"/>
          </a:xfrm>
          <a:prstGeom prst="rect">
            <a:avLst/>
          </a:prstGeom>
          <a:noFill/>
          <a:ln/>
        </p:spPr>
        <p:txBody>
          <a:bodyPr wrap="square" lIns="0" tIns="0" rIns="0" bIns="0" rtlCol="0" anchor="ctr"/>
          <a:lstStyle/>
          <a:p>
            <a:pPr indent="0" marL="0">
              <a:buNone/>
            </a:pPr>
            <a:r>
              <a:rPr lang="en-US" sz="2400" b="1" dirty="0">
                <a:solidFill>
                  <a:srgbClr val="2E386E"/>
                </a:solidFill>
                <a:latin typeface="Inter" pitchFamily="34" charset="0"/>
                <a:ea typeface="Inter" pitchFamily="34" charset="-122"/>
                <a:cs typeface="Inter" pitchFamily="34" charset="-120"/>
              </a:rPr>
              <a:t>Le commentaire épinglé qui capture</a:t>
            </a:r>
            <a:endParaRPr lang="en-US" sz="2400" dirty="0"/>
          </a:p>
        </p:txBody>
      </p:sp>
      <p:sp>
        <p:nvSpPr>
          <p:cNvPr id="4" name="Shape 2"/>
          <p:cNvSpPr/>
          <p:nvPr/>
        </p:nvSpPr>
        <p:spPr>
          <a:xfrm>
            <a:off x="640080" y="1691640"/>
            <a:ext cx="7863840" cy="2468880"/>
          </a:xfrm>
          <a:prstGeom prst="roundRect">
            <a:avLst>
              <a:gd name="adj" fmla="val 5185"/>
            </a:avLst>
          </a:prstGeom>
          <a:solidFill>
            <a:srgbClr val="EAECFB"/>
          </a:solidFill>
          <a:ln/>
        </p:spPr>
      </p:sp>
      <p:sp>
        <p:nvSpPr>
          <p:cNvPr id="5" name="Text 3"/>
          <p:cNvSpPr/>
          <p:nvPr/>
        </p:nvSpPr>
        <p:spPr>
          <a:xfrm>
            <a:off x="1005840" y="1691640"/>
            <a:ext cx="7132320" cy="2468880"/>
          </a:xfrm>
          <a:prstGeom prst="rect">
            <a:avLst/>
          </a:prstGeom>
          <a:noFill/>
          <a:ln/>
        </p:spPr>
        <p:txBody>
          <a:bodyPr wrap="square" lIns="0" tIns="0" rIns="0" bIns="0" rtlCol="0" anchor="ctr"/>
          <a:lstStyle/>
          <a:p>
            <a:pPr indent="0" marL="0">
              <a:lnSpc>
                <a:spcPct val="115000"/>
              </a:lnSpc>
              <a:buNone/>
            </a:pPr>
            <a:r>
              <a:rPr lang="en-US" sz="1600" dirty="0">
                <a:solidFill>
                  <a:srgbClr val="2E386E"/>
                </a:solidFill>
                <a:latin typeface="Inter" pitchFamily="34" charset="0"/>
                <a:ea typeface="Inter" pitchFamily="34" charset="-122"/>
                <a:cs typeface="Inter" pitchFamily="34" charset="-120"/>
              </a:rPr>
              <a:t>Ton post « les 3 erreurs qui plombent tes quiz » cartonne. En commentaire épinglé : « Tu veux savoir laquelle te coûte le plus ? Fais le quiz ici, lien juste là. » Portée maximale, et les intéressés cliquent.</a:t>
            </a:r>
            <a:endParaRPr lang="en-US" sz="1600" dirty="0"/>
          </a:p>
        </p:txBody>
      </p:sp>
      <p:sp>
        <p:nvSpPr>
          <p:cNvPr id="6" name="Text 4"/>
          <p:cNvSpPr/>
          <p:nvPr/>
        </p:nvSpPr>
        <p:spPr>
          <a:xfrm>
            <a:off x="457200" y="4759452"/>
            <a:ext cx="6400800" cy="274320"/>
          </a:xfrm>
          <a:prstGeom prst="rect">
            <a:avLst/>
          </a:prstGeom>
          <a:noFill/>
          <a:ln/>
        </p:spPr>
        <p:txBody>
          <a:bodyPr wrap="square" lIns="0" tIns="0" rIns="0" bIns="0" rtlCol="0" anchor="ctr"/>
          <a:lstStyle/>
          <a:p>
            <a:pPr indent="0" marL="0">
              <a:buNone/>
            </a:pPr>
            <a:r>
              <a:rPr lang="en-US" sz="900" b="1" dirty="0">
                <a:solidFill>
                  <a:srgbClr val="6B73A0"/>
                </a:solidFill>
                <a:latin typeface="Inter" pitchFamily="34" charset="0"/>
                <a:ea typeface="Inter" pitchFamily="34" charset="-122"/>
                <a:cs typeface="Inter" pitchFamily="34" charset="-120"/>
              </a:rPr>
              <a:t>L'Atelier du Quiz</a:t>
            </a:r>
            <a:pPr indent="0" marL="0">
              <a:buNone/>
            </a:pPr>
            <a:r>
              <a:rPr lang="en-US" sz="900" dirty="0">
                <a:solidFill>
                  <a:srgbClr val="6B73A0"/>
                </a:solidFill>
                <a:latin typeface="Inter" pitchFamily="34" charset="0"/>
                <a:ea typeface="Inter" pitchFamily="34" charset="-122"/>
                <a:cs typeface="Inter" pitchFamily="34" charset="-120"/>
              </a:rPr>
              <a:t>   ·   Promo réseaux</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48640"/>
            <a:ext cx="7863840" cy="640080"/>
          </a:xfrm>
          <a:prstGeom prst="rect">
            <a:avLst/>
          </a:prstGeom>
          <a:noFill/>
          <a:ln/>
        </p:spPr>
        <p:txBody>
          <a:bodyPr wrap="square" lIns="0" tIns="0" rIns="0" bIns="0" rtlCol="0" anchor="ctr"/>
          <a:lstStyle/>
          <a:p>
            <a:pPr indent="0" marL="0">
              <a:buNone/>
            </a:pPr>
            <a:r>
              <a:rPr lang="en-US" sz="3000" b="1" dirty="0">
                <a:solidFill>
                  <a:srgbClr val="2E386E"/>
                </a:solidFill>
                <a:latin typeface="Inter" pitchFamily="34" charset="0"/>
                <a:ea typeface="Inter" pitchFamily="34" charset="-122"/>
                <a:cs typeface="Inter" pitchFamily="34" charset="-120"/>
              </a:rPr>
              <a:t>L'erreur à éviter</a:t>
            </a:r>
            <a:endParaRPr lang="en-US" sz="3000" dirty="0"/>
          </a:p>
        </p:txBody>
      </p:sp>
      <p:sp>
        <p:nvSpPr>
          <p:cNvPr id="3" name="Shape 1"/>
          <p:cNvSpPr/>
          <p:nvPr/>
        </p:nvSpPr>
        <p:spPr>
          <a:xfrm>
            <a:off x="640080" y="1554480"/>
            <a:ext cx="7863840" cy="1188720"/>
          </a:xfrm>
          <a:prstGeom prst="roundRect">
            <a:avLst>
              <a:gd name="adj" fmla="val 9231"/>
            </a:avLst>
          </a:prstGeom>
          <a:solidFill>
            <a:srgbClr val="FBEAF0"/>
          </a:solidFill>
          <a:ln/>
        </p:spPr>
      </p:sp>
      <p:sp>
        <p:nvSpPr>
          <p:cNvPr id="4" name="Text 2"/>
          <p:cNvSpPr/>
          <p:nvPr/>
        </p:nvSpPr>
        <p:spPr>
          <a:xfrm>
            <a:off x="914400" y="1554480"/>
            <a:ext cx="7315200" cy="1188720"/>
          </a:xfrm>
          <a:prstGeom prst="rect">
            <a:avLst/>
          </a:prstGeom>
          <a:noFill/>
          <a:ln/>
        </p:spPr>
        <p:txBody>
          <a:bodyPr wrap="square" lIns="0" tIns="0" rIns="0" bIns="0" rtlCol="0" anchor="ctr"/>
          <a:lstStyle/>
          <a:p>
            <a:pPr indent="0" marL="0">
              <a:lnSpc>
                <a:spcPct val="110000"/>
              </a:lnSpc>
              <a:buNone/>
            </a:pPr>
            <a:r>
              <a:rPr lang="en-US" sz="1600" b="1" dirty="0">
                <a:solidFill>
                  <a:srgbClr val="E5577D"/>
                </a:solidFill>
                <a:latin typeface="Inter" pitchFamily="34" charset="0"/>
                <a:ea typeface="Inter" pitchFamily="34" charset="-122"/>
                <a:cs typeface="Inter" pitchFamily="34" charset="-120"/>
              </a:rPr>
              <a:t>L'erreur :  </a:t>
            </a:r>
            <a:pPr indent="0" marL="0">
              <a:lnSpc>
                <a:spcPct val="110000"/>
              </a:lnSpc>
              <a:buNone/>
            </a:pPr>
            <a:r>
              <a:rPr lang="en-US" sz="1600" dirty="0">
                <a:solidFill>
                  <a:srgbClr val="2E386E"/>
                </a:solidFill>
                <a:latin typeface="Inter" pitchFamily="34" charset="0"/>
                <a:ea typeface="Inter" pitchFamily="34" charset="-122"/>
                <a:cs typeface="Inter" pitchFamily="34" charset="-120"/>
              </a:rPr>
              <a:t>Poster ton lien partout, en boucle, façon panneau publicitaire : « viens faire mon quiz, viens, viens ». Les gens fuient et l'algo te punit.</a:t>
            </a:r>
            <a:endParaRPr lang="en-US" sz="1600" dirty="0"/>
          </a:p>
        </p:txBody>
      </p:sp>
      <p:sp>
        <p:nvSpPr>
          <p:cNvPr id="5" name="Shape 3"/>
          <p:cNvSpPr/>
          <p:nvPr/>
        </p:nvSpPr>
        <p:spPr>
          <a:xfrm>
            <a:off x="640080" y="2926080"/>
            <a:ext cx="7863840" cy="1188720"/>
          </a:xfrm>
          <a:prstGeom prst="roundRect">
            <a:avLst>
              <a:gd name="adj" fmla="val 9231"/>
            </a:avLst>
          </a:prstGeom>
          <a:solidFill>
            <a:srgbClr val="EAF7F0"/>
          </a:solidFill>
          <a:ln/>
        </p:spPr>
      </p:sp>
      <p:sp>
        <p:nvSpPr>
          <p:cNvPr id="6" name="Text 4"/>
          <p:cNvSpPr/>
          <p:nvPr/>
        </p:nvSpPr>
        <p:spPr>
          <a:xfrm>
            <a:off x="914400" y="2926080"/>
            <a:ext cx="7315200" cy="1188720"/>
          </a:xfrm>
          <a:prstGeom prst="rect">
            <a:avLst/>
          </a:prstGeom>
          <a:noFill/>
          <a:ln/>
        </p:spPr>
        <p:txBody>
          <a:bodyPr wrap="square" lIns="0" tIns="0" rIns="0" bIns="0" rtlCol="0" anchor="ctr"/>
          <a:lstStyle/>
          <a:p>
            <a:pPr indent="0" marL="0">
              <a:lnSpc>
                <a:spcPct val="110000"/>
              </a:lnSpc>
              <a:buNone/>
            </a:pPr>
            <a:r>
              <a:rPr lang="en-US" sz="1600" b="1" dirty="0">
                <a:solidFill>
                  <a:srgbClr val="2BB673"/>
                </a:solidFill>
                <a:latin typeface="Inter" pitchFamily="34" charset="0"/>
                <a:ea typeface="Inter" pitchFamily="34" charset="-122"/>
                <a:cs typeface="Inter" pitchFamily="34" charset="-120"/>
              </a:rPr>
              <a:t>La solution :  </a:t>
            </a:r>
            <a:pPr indent="0" marL="0">
              <a:lnSpc>
                <a:spcPct val="110000"/>
              </a:lnSpc>
              <a:buNone/>
            </a:pPr>
            <a:r>
              <a:rPr lang="en-US" sz="1600" dirty="0">
                <a:solidFill>
                  <a:srgbClr val="2E386E"/>
                </a:solidFill>
                <a:latin typeface="Inter" pitchFamily="34" charset="0"/>
                <a:ea typeface="Inter" pitchFamily="34" charset="-122"/>
                <a:cs typeface="Inter" pitchFamily="34" charset="-120"/>
              </a:rPr>
              <a:t>Donne de la valeur la plupart du temps, place ton lien intelligemment (bio, commentaire épinglé), et laisse la curiosité faire le travail.</a:t>
            </a:r>
            <a:endParaRPr lang="en-US" sz="1600" dirty="0"/>
          </a:p>
        </p:txBody>
      </p:sp>
      <p:sp>
        <p:nvSpPr>
          <p:cNvPr id="7" name="Text 5"/>
          <p:cNvSpPr/>
          <p:nvPr/>
        </p:nvSpPr>
        <p:spPr>
          <a:xfrm>
            <a:off x="457200" y="4759452"/>
            <a:ext cx="6400800" cy="274320"/>
          </a:xfrm>
          <a:prstGeom prst="rect">
            <a:avLst/>
          </a:prstGeom>
          <a:noFill/>
          <a:ln/>
        </p:spPr>
        <p:txBody>
          <a:bodyPr wrap="square" lIns="0" tIns="0" rIns="0" bIns="0" rtlCol="0" anchor="ctr"/>
          <a:lstStyle/>
          <a:p>
            <a:pPr indent="0" marL="0">
              <a:buNone/>
            </a:pPr>
            <a:r>
              <a:rPr lang="en-US" sz="900" b="1" dirty="0">
                <a:solidFill>
                  <a:srgbClr val="6B73A0"/>
                </a:solidFill>
                <a:latin typeface="Inter" pitchFamily="34" charset="0"/>
                <a:ea typeface="Inter" pitchFamily="34" charset="-122"/>
                <a:cs typeface="Inter" pitchFamily="34" charset="-120"/>
              </a:rPr>
              <a:t>L'Atelier du Quiz</a:t>
            </a:r>
            <a:pPr indent="0" marL="0">
              <a:buNone/>
            </a:pPr>
            <a:r>
              <a:rPr lang="en-US" sz="900" dirty="0">
                <a:solidFill>
                  <a:srgbClr val="6B73A0"/>
                </a:solidFill>
                <a:latin typeface="Inter" pitchFamily="34" charset="0"/>
                <a:ea typeface="Inter" pitchFamily="34" charset="-122"/>
                <a:cs typeface="Inter" pitchFamily="34" charset="-120"/>
              </a:rPr>
              <a:t>   ·   Promo réseaux</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2E386E"/>
        </a:solidFill>
      </p:bgPr>
    </p:bg>
    <p:spTree>
      <p:nvGrpSpPr>
        <p:cNvPr id="1" name=""/>
        <p:cNvGrpSpPr/>
        <p:nvPr/>
      </p:nvGrpSpPr>
      <p:grpSpPr>
        <a:xfrm>
          <a:off x="0" y="0"/>
          <a:ext cx="0" cy="0"/>
          <a:chOff x="0" y="0"/>
          <a:chExt cx="0" cy="0"/>
        </a:xfrm>
      </p:grpSpPr>
      <p:sp>
        <p:nvSpPr>
          <p:cNvPr id="2" name="Shape 0"/>
          <p:cNvSpPr/>
          <p:nvPr/>
        </p:nvSpPr>
        <p:spPr>
          <a:xfrm>
            <a:off x="7955280" y="-640080"/>
            <a:ext cx="2194560" cy="2194560"/>
          </a:xfrm>
          <a:prstGeom prst="ellipse">
            <a:avLst/>
          </a:prstGeom>
          <a:solidFill>
            <a:srgbClr val="5D6CDB">
              <a:alpha val="30000"/>
            </a:srgbClr>
          </a:solidFill>
          <a:ln/>
        </p:spPr>
      </p:sp>
      <p:sp>
        <p:nvSpPr>
          <p:cNvPr id="3" name="Shape 1"/>
          <p:cNvSpPr/>
          <p:nvPr/>
        </p:nvSpPr>
        <p:spPr>
          <a:xfrm>
            <a:off x="8686800" y="4023360"/>
            <a:ext cx="1554480" cy="1554480"/>
          </a:xfrm>
          <a:prstGeom prst="ellipse">
            <a:avLst/>
          </a:prstGeom>
          <a:solidFill>
            <a:srgbClr val="5D6CDB">
              <a:alpha val="20000"/>
            </a:srgbClr>
          </a:solidFill>
          <a:ln/>
        </p:spPr>
      </p:sp>
      <p:sp>
        <p:nvSpPr>
          <p:cNvPr id="4" name="Text 2"/>
          <p:cNvSpPr/>
          <p:nvPr/>
        </p:nvSpPr>
        <p:spPr>
          <a:xfrm>
            <a:off x="640080" y="548640"/>
            <a:ext cx="7863840" cy="457200"/>
          </a:xfrm>
          <a:prstGeom prst="rect">
            <a:avLst/>
          </a:prstGeom>
          <a:noFill/>
          <a:ln/>
        </p:spPr>
        <p:txBody>
          <a:bodyPr wrap="square" lIns="0" tIns="0" rIns="0" bIns="0" rtlCol="0" anchor="ctr"/>
          <a:lstStyle/>
          <a:p>
            <a:pPr indent="0" marL="0">
              <a:buNone/>
            </a:pPr>
            <a:r>
              <a:rPr lang="en-US" sz="1500" b="1" spc="200" kern="0" dirty="0">
                <a:solidFill>
                  <a:srgbClr val="F5B301"/>
                </a:solidFill>
                <a:latin typeface="Inter" pitchFamily="34" charset="0"/>
                <a:ea typeface="Inter" pitchFamily="34" charset="-122"/>
                <a:cs typeface="Inter" pitchFamily="34" charset="-120"/>
              </a:rPr>
              <a:t>CE QUE TU SAIS MAINTENANT</a:t>
            </a:r>
            <a:endParaRPr lang="en-US" sz="1500" dirty="0"/>
          </a:p>
        </p:txBody>
      </p:sp>
      <p:sp>
        <p:nvSpPr>
          <p:cNvPr id="5" name="Shape 3"/>
          <p:cNvSpPr/>
          <p:nvPr/>
        </p:nvSpPr>
        <p:spPr>
          <a:xfrm>
            <a:off x="640080" y="1502474"/>
            <a:ext cx="384048" cy="384048"/>
          </a:xfrm>
          <a:prstGeom prst="ellipse">
            <a:avLst/>
          </a:prstGeom>
          <a:solidFill>
            <a:srgbClr val="2BB673"/>
          </a:solidFill>
          <a:ln/>
        </p:spPr>
      </p:sp>
      <p:sp>
        <p:nvSpPr>
          <p:cNvPr id="6" name="Text 4"/>
          <p:cNvSpPr/>
          <p:nvPr/>
        </p:nvSpPr>
        <p:spPr>
          <a:xfrm>
            <a:off x="640080" y="150247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a:t>
            </a:r>
            <a:endParaRPr lang="en-US" sz="1400" dirty="0"/>
          </a:p>
        </p:txBody>
      </p:sp>
      <p:sp>
        <p:nvSpPr>
          <p:cNvPr id="7" name="Text 5"/>
          <p:cNvSpPr/>
          <p:nvPr/>
        </p:nvSpPr>
        <p:spPr>
          <a:xfrm>
            <a:off x="1234440" y="1325880"/>
            <a:ext cx="7223760" cy="737235"/>
          </a:xfrm>
          <a:prstGeom prst="rect">
            <a:avLst/>
          </a:prstGeom>
          <a:noFill/>
          <a:ln/>
        </p:spPr>
        <p:txBody>
          <a:bodyPr wrap="square" lIns="0" tIns="0" rIns="0" bIns="0" rtlCol="0" anchor="ctr"/>
          <a:lstStyle/>
          <a:p>
            <a:pPr indent="0" marL="0">
              <a:buNone/>
            </a:pPr>
            <a:r>
              <a:rPr lang="en-US" sz="1550" dirty="0">
                <a:solidFill>
                  <a:srgbClr val="FFFFFF"/>
                </a:solidFill>
                <a:latin typeface="Inter" pitchFamily="34" charset="0"/>
                <a:ea typeface="Inter" pitchFamily="34" charset="-122"/>
                <a:cs typeface="Inter" pitchFamily="34" charset="-120"/>
              </a:rPr>
              <a:t>Tu sais qu'un profil net, orienté bénéfice et sans polémique pro est ta vitrine.</a:t>
            </a:r>
            <a:endParaRPr lang="en-US" sz="1550" dirty="0"/>
          </a:p>
        </p:txBody>
      </p:sp>
      <p:sp>
        <p:nvSpPr>
          <p:cNvPr id="8" name="Shape 6"/>
          <p:cNvSpPr/>
          <p:nvPr/>
        </p:nvSpPr>
        <p:spPr>
          <a:xfrm>
            <a:off x="640080" y="2239708"/>
            <a:ext cx="384048" cy="384048"/>
          </a:xfrm>
          <a:prstGeom prst="ellipse">
            <a:avLst/>
          </a:prstGeom>
          <a:solidFill>
            <a:srgbClr val="2BB673"/>
          </a:solidFill>
          <a:ln/>
        </p:spPr>
      </p:sp>
      <p:sp>
        <p:nvSpPr>
          <p:cNvPr id="9" name="Text 7"/>
          <p:cNvSpPr/>
          <p:nvPr/>
        </p:nvSpPr>
        <p:spPr>
          <a:xfrm>
            <a:off x="640080" y="22397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a:t>
            </a:r>
            <a:endParaRPr lang="en-US" sz="1400" dirty="0"/>
          </a:p>
        </p:txBody>
      </p:sp>
      <p:sp>
        <p:nvSpPr>
          <p:cNvPr id="10" name="Text 8"/>
          <p:cNvSpPr/>
          <p:nvPr/>
        </p:nvSpPr>
        <p:spPr>
          <a:xfrm>
            <a:off x="1234440" y="2063115"/>
            <a:ext cx="7223760" cy="737235"/>
          </a:xfrm>
          <a:prstGeom prst="rect">
            <a:avLst/>
          </a:prstGeom>
          <a:noFill/>
          <a:ln/>
        </p:spPr>
        <p:txBody>
          <a:bodyPr wrap="square" lIns="0" tIns="0" rIns="0" bIns="0" rtlCol="0" anchor="ctr"/>
          <a:lstStyle/>
          <a:p>
            <a:pPr indent="0" marL="0">
              <a:buNone/>
            </a:pPr>
            <a:r>
              <a:rPr lang="en-US" sz="1550" dirty="0">
                <a:solidFill>
                  <a:srgbClr val="FFFFFF"/>
                </a:solidFill>
                <a:latin typeface="Inter" pitchFamily="34" charset="0"/>
                <a:ea typeface="Inter" pitchFamily="34" charset="-122"/>
                <a:cs typeface="Inter" pitchFamily="34" charset="-120"/>
              </a:rPr>
              <a:t>Tu sais bâtir un lien en bio sur Systeme.io qui mène à ton quiz.</a:t>
            </a:r>
            <a:endParaRPr lang="en-US" sz="1550" dirty="0"/>
          </a:p>
        </p:txBody>
      </p:sp>
      <p:sp>
        <p:nvSpPr>
          <p:cNvPr id="11" name="Shape 9"/>
          <p:cNvSpPr/>
          <p:nvPr/>
        </p:nvSpPr>
        <p:spPr>
          <a:xfrm>
            <a:off x="640080" y="2976944"/>
            <a:ext cx="384048" cy="384048"/>
          </a:xfrm>
          <a:prstGeom prst="ellipse">
            <a:avLst/>
          </a:prstGeom>
          <a:solidFill>
            <a:srgbClr val="2BB673"/>
          </a:solidFill>
          <a:ln/>
        </p:spPr>
      </p:sp>
      <p:sp>
        <p:nvSpPr>
          <p:cNvPr id="12" name="Text 10"/>
          <p:cNvSpPr/>
          <p:nvPr/>
        </p:nvSpPr>
        <p:spPr>
          <a:xfrm>
            <a:off x="640080" y="29769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a:t>
            </a:r>
            <a:endParaRPr lang="en-US" sz="1400" dirty="0"/>
          </a:p>
        </p:txBody>
      </p:sp>
      <p:sp>
        <p:nvSpPr>
          <p:cNvPr id="13" name="Text 11"/>
          <p:cNvSpPr/>
          <p:nvPr/>
        </p:nvSpPr>
        <p:spPr>
          <a:xfrm>
            <a:off x="1234440" y="2800350"/>
            <a:ext cx="7223760" cy="737235"/>
          </a:xfrm>
          <a:prstGeom prst="rect">
            <a:avLst/>
          </a:prstGeom>
          <a:noFill/>
          <a:ln/>
        </p:spPr>
        <p:txBody>
          <a:bodyPr wrap="square" lIns="0" tIns="0" rIns="0" bIns="0" rtlCol="0" anchor="ctr"/>
          <a:lstStyle/>
          <a:p>
            <a:pPr indent="0" marL="0">
              <a:buNone/>
            </a:pPr>
            <a:r>
              <a:rPr lang="en-US" sz="1550" dirty="0">
                <a:solidFill>
                  <a:srgbClr val="FFFFFF"/>
                </a:solidFill>
                <a:latin typeface="Inter" pitchFamily="34" charset="0"/>
                <a:ea typeface="Inter" pitchFamily="34" charset="-122"/>
                <a:cs typeface="Inter" pitchFamily="34" charset="-120"/>
              </a:rPr>
              <a:t>Tu sais quoi poster, à quel rythme, et comment amorcer l'engagement à la main.</a:t>
            </a:r>
            <a:endParaRPr lang="en-US" sz="1550" dirty="0"/>
          </a:p>
        </p:txBody>
      </p:sp>
      <p:sp>
        <p:nvSpPr>
          <p:cNvPr id="14" name="Shape 12"/>
          <p:cNvSpPr/>
          <p:nvPr/>
        </p:nvSpPr>
        <p:spPr>
          <a:xfrm>
            <a:off x="640080" y="3714178"/>
            <a:ext cx="384048" cy="384048"/>
          </a:xfrm>
          <a:prstGeom prst="ellipse">
            <a:avLst/>
          </a:prstGeom>
          <a:solidFill>
            <a:srgbClr val="2BB673"/>
          </a:solidFill>
          <a:ln/>
        </p:spPr>
      </p:sp>
      <p:sp>
        <p:nvSpPr>
          <p:cNvPr id="15" name="Text 13"/>
          <p:cNvSpPr/>
          <p:nvPr/>
        </p:nvSpPr>
        <p:spPr>
          <a:xfrm>
            <a:off x="640080" y="371417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a:t>
            </a:r>
            <a:endParaRPr lang="en-US" sz="1400" dirty="0"/>
          </a:p>
        </p:txBody>
      </p:sp>
      <p:sp>
        <p:nvSpPr>
          <p:cNvPr id="16" name="Text 14"/>
          <p:cNvSpPr/>
          <p:nvPr/>
        </p:nvSpPr>
        <p:spPr>
          <a:xfrm>
            <a:off x="1234440" y="3537585"/>
            <a:ext cx="7223760" cy="737235"/>
          </a:xfrm>
          <a:prstGeom prst="rect">
            <a:avLst/>
          </a:prstGeom>
          <a:noFill/>
          <a:ln/>
        </p:spPr>
        <p:txBody>
          <a:bodyPr wrap="square" lIns="0" tIns="0" rIns="0" bIns="0" rtlCol="0" anchor="ctr"/>
          <a:lstStyle/>
          <a:p>
            <a:pPr indent="0" marL="0">
              <a:buNone/>
            </a:pPr>
            <a:r>
              <a:rPr lang="en-US" sz="1550" dirty="0">
                <a:solidFill>
                  <a:srgbClr val="FFFFFF"/>
                </a:solidFill>
                <a:latin typeface="Inter" pitchFamily="34" charset="0"/>
                <a:ea typeface="Inter" pitchFamily="34" charset="-122"/>
                <a:cs typeface="Inter" pitchFamily="34" charset="-120"/>
              </a:rPr>
              <a:t>Tu sais emprunter la notoriété des autres et donner à fond dans les groupes.</a:t>
            </a:r>
            <a:endParaRPr lang="en-US" sz="1550" dirty="0"/>
          </a:p>
        </p:txBody>
      </p:sp>
      <p:sp>
        <p:nvSpPr>
          <p:cNvPr id="17" name="Text 15"/>
          <p:cNvSpPr/>
          <p:nvPr/>
        </p:nvSpPr>
        <p:spPr>
          <a:xfrm>
            <a:off x="658368" y="4457700"/>
            <a:ext cx="7863840" cy="365760"/>
          </a:xfrm>
          <a:prstGeom prst="rect">
            <a:avLst/>
          </a:prstGeom>
          <a:noFill/>
          <a:ln/>
        </p:spPr>
        <p:txBody>
          <a:bodyPr wrap="square" lIns="0" tIns="0" rIns="0" bIns="0" rtlCol="0" anchor="ctr"/>
          <a:lstStyle/>
          <a:p>
            <a:pPr indent="0" marL="0">
              <a:buNone/>
            </a:pPr>
            <a:r>
              <a:rPr lang="en-US" sz="1350" i="1" dirty="0">
                <a:solidFill>
                  <a:srgbClr val="EAECFB"/>
                </a:solidFill>
                <a:latin typeface="Inter" pitchFamily="34" charset="0"/>
                <a:ea typeface="Inter" pitchFamily="34" charset="-122"/>
                <a:cs typeface="Inter" pitchFamily="34" charset="-120"/>
              </a:rPr>
              <a:t>Tu peux déjà l'expliquer à quelqu'un qui n'y connaît rien.</a:t>
            </a:r>
            <a:endParaRPr lang="en-US" sz="13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2E386E"/>
        </a:solidFill>
      </p:bgPr>
    </p:bg>
    <p:spTree>
      <p:nvGrpSpPr>
        <p:cNvPr id="1" name=""/>
        <p:cNvGrpSpPr/>
        <p:nvPr/>
      </p:nvGrpSpPr>
      <p:grpSpPr>
        <a:xfrm>
          <a:off x="0" y="0"/>
          <a:ext cx="0" cy="0"/>
          <a:chOff x="0" y="0"/>
          <a:chExt cx="0" cy="0"/>
        </a:xfrm>
      </p:grpSpPr>
      <p:sp>
        <p:nvSpPr>
          <p:cNvPr id="2" name="Shape 0"/>
          <p:cNvSpPr/>
          <p:nvPr/>
        </p:nvSpPr>
        <p:spPr>
          <a:xfrm>
            <a:off x="-731520" y="3291840"/>
            <a:ext cx="2377440" cy="2377440"/>
          </a:xfrm>
          <a:prstGeom prst="ellipse">
            <a:avLst/>
          </a:prstGeom>
          <a:solidFill>
            <a:srgbClr val="5D6CDB">
              <a:alpha val="45000"/>
            </a:srgbClr>
          </a:solidFill>
          <a:ln/>
        </p:spPr>
      </p:sp>
      <p:sp>
        <p:nvSpPr>
          <p:cNvPr id="3" name="Text 1"/>
          <p:cNvSpPr/>
          <p:nvPr/>
        </p:nvSpPr>
        <p:spPr>
          <a:xfrm>
            <a:off x="640080" y="1371600"/>
            <a:ext cx="7863840" cy="548640"/>
          </a:xfrm>
          <a:prstGeom prst="rect">
            <a:avLst/>
          </a:prstGeom>
          <a:noFill/>
          <a:ln/>
        </p:spPr>
        <p:txBody>
          <a:bodyPr wrap="square" lIns="0" tIns="0" rIns="0" bIns="0" rtlCol="0" anchor="ctr"/>
          <a:lstStyle/>
          <a:p>
            <a:pPr indent="0" marL="0">
              <a:buNone/>
            </a:pPr>
            <a:r>
              <a:rPr lang="en-US" sz="1600" b="1" spc="300" kern="0" dirty="0">
                <a:solidFill>
                  <a:srgbClr val="F5B301"/>
                </a:solidFill>
                <a:latin typeface="Inter" pitchFamily="34" charset="0"/>
                <a:ea typeface="Inter" pitchFamily="34" charset="-122"/>
                <a:cs typeface="Inter" pitchFamily="34" charset="-120"/>
              </a:rPr>
              <a:t>ON PASSE À L'ÉCRAN</a:t>
            </a:r>
            <a:endParaRPr lang="en-US" sz="1600" dirty="0"/>
          </a:p>
        </p:txBody>
      </p:sp>
      <p:sp>
        <p:nvSpPr>
          <p:cNvPr id="4" name="Text 2"/>
          <p:cNvSpPr/>
          <p:nvPr/>
        </p:nvSpPr>
        <p:spPr>
          <a:xfrm>
            <a:off x="640080" y="1965960"/>
            <a:ext cx="7863840" cy="1463040"/>
          </a:xfrm>
          <a:prstGeom prst="rect">
            <a:avLst/>
          </a:prstGeom>
          <a:noFill/>
          <a:ln/>
        </p:spPr>
        <p:txBody>
          <a:bodyPr wrap="square" lIns="0" tIns="0" rIns="0" bIns="0" rtlCol="0" anchor="ctr"/>
          <a:lstStyle/>
          <a:p>
            <a:pPr indent="0" marL="0">
              <a:lnSpc>
                <a:spcPct val="105000"/>
              </a:lnSpc>
              <a:buNone/>
            </a:pPr>
            <a:r>
              <a:rPr lang="en-US" sz="3000" b="1" dirty="0">
                <a:solidFill>
                  <a:srgbClr val="FFFFFF"/>
                </a:solidFill>
                <a:latin typeface="Inter" pitchFamily="34" charset="0"/>
                <a:ea typeface="Inter" pitchFamily="34" charset="-122"/>
                <a:cs typeface="Inter" pitchFamily="34" charset="-120"/>
              </a:rPr>
              <a:t>Construire ta page lien en bio sur Systeme.io (avec les templates fournis) et y coller ton lien de quiz.</a:t>
            </a:r>
            <a:endParaRPr lang="en-US" sz="3000" dirty="0"/>
          </a:p>
        </p:txBody>
      </p:sp>
      <p:sp>
        <p:nvSpPr>
          <p:cNvPr id="5" name="Text 3"/>
          <p:cNvSpPr/>
          <p:nvPr/>
        </p:nvSpPr>
        <p:spPr>
          <a:xfrm>
            <a:off x="658368" y="3611880"/>
            <a:ext cx="7315200" cy="457200"/>
          </a:xfrm>
          <a:prstGeom prst="rect">
            <a:avLst/>
          </a:prstGeom>
          <a:noFill/>
          <a:ln/>
        </p:spPr>
        <p:txBody>
          <a:bodyPr wrap="square" lIns="0" tIns="0" rIns="0" bIns="0" rtlCol="0" anchor="ctr"/>
          <a:lstStyle/>
          <a:p>
            <a:pPr indent="0" marL="0">
              <a:buNone/>
            </a:pPr>
            <a:r>
              <a:rPr lang="en-US" sz="1500" i="1" dirty="0">
                <a:solidFill>
                  <a:srgbClr val="EAECFB"/>
                </a:solidFill>
                <a:latin typeface="Inter" pitchFamily="34" charset="0"/>
                <a:ea typeface="Inter" pitchFamily="34" charset="-122"/>
                <a:cs typeface="Inter" pitchFamily="34" charset="-120"/>
              </a:rPr>
              <a:t>Je te montre en direct, suis pas à pas.</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863840" cy="640080"/>
          </a:xfrm>
          <a:prstGeom prst="rect">
            <a:avLst/>
          </a:prstGeom>
          <a:noFill/>
          <a:ln/>
        </p:spPr>
        <p:txBody>
          <a:bodyPr wrap="square" lIns="0" tIns="0" rIns="0" bIns="0" rtlCol="0" anchor="ctr"/>
          <a:lstStyle/>
          <a:p>
            <a:pPr indent="0" marL="0">
              <a:buNone/>
            </a:pPr>
            <a:r>
              <a:rPr lang="en-US" sz="3000" b="1" dirty="0">
                <a:solidFill>
                  <a:srgbClr val="2E386E"/>
                </a:solidFill>
                <a:latin typeface="Inter" pitchFamily="34" charset="0"/>
                <a:ea typeface="Inter" pitchFamily="34" charset="-122"/>
                <a:cs typeface="Inter" pitchFamily="34" charset="-120"/>
              </a:rPr>
              <a:t>Ta mission du jour</a:t>
            </a:r>
            <a:endParaRPr lang="en-US" sz="3000" dirty="0"/>
          </a:p>
        </p:txBody>
      </p:sp>
      <p:sp>
        <p:nvSpPr>
          <p:cNvPr id="3" name="Text 1"/>
          <p:cNvSpPr/>
          <p:nvPr/>
        </p:nvSpPr>
        <p:spPr>
          <a:xfrm>
            <a:off x="658368" y="1078992"/>
            <a:ext cx="7863840" cy="365760"/>
          </a:xfrm>
          <a:prstGeom prst="rect">
            <a:avLst/>
          </a:prstGeom>
          <a:noFill/>
          <a:ln/>
        </p:spPr>
        <p:txBody>
          <a:bodyPr wrap="square" lIns="0" tIns="0" rIns="0" bIns="0" rtlCol="0" anchor="ctr"/>
          <a:lstStyle/>
          <a:p>
            <a:pPr indent="0" marL="0">
              <a:buNone/>
            </a:pPr>
            <a:r>
              <a:rPr lang="en-US" sz="1350" i="1" dirty="0">
                <a:solidFill>
                  <a:srgbClr val="6B73A0"/>
                </a:solidFill>
                <a:latin typeface="Inter" pitchFamily="34" charset="0"/>
                <a:ea typeface="Inter" pitchFamily="34" charset="-122"/>
                <a:cs typeface="Inter" pitchFamily="34" charset="-120"/>
              </a:rPr>
              <a:t>Tu valides le quiz du jour pour débloquer le suivant.</a:t>
            </a:r>
            <a:endParaRPr lang="en-US" sz="1350" dirty="0"/>
          </a:p>
        </p:txBody>
      </p:sp>
      <p:sp>
        <p:nvSpPr>
          <p:cNvPr id="4" name="Shape 2"/>
          <p:cNvSpPr/>
          <p:nvPr/>
        </p:nvSpPr>
        <p:spPr>
          <a:xfrm>
            <a:off x="640080" y="1853375"/>
            <a:ext cx="402336" cy="402336"/>
          </a:xfrm>
          <a:prstGeom prst="ellipse">
            <a:avLst/>
          </a:prstGeom>
          <a:solidFill>
            <a:srgbClr val="2BB673"/>
          </a:solidFill>
          <a:ln/>
        </p:spPr>
      </p:sp>
      <p:sp>
        <p:nvSpPr>
          <p:cNvPr id="5" name="Text 3"/>
          <p:cNvSpPr/>
          <p:nvPr/>
        </p:nvSpPr>
        <p:spPr>
          <a:xfrm>
            <a:off x="640080" y="1853375"/>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Inter" pitchFamily="34" charset="0"/>
                <a:ea typeface="Inter" pitchFamily="34" charset="-122"/>
                <a:cs typeface="Inter" pitchFamily="34" charset="-120"/>
              </a:rPr>
              <a:t>✓</a:t>
            </a:r>
            <a:endParaRPr lang="en-US" sz="1500" dirty="0"/>
          </a:p>
        </p:txBody>
      </p:sp>
      <p:sp>
        <p:nvSpPr>
          <p:cNvPr id="6" name="Text 4"/>
          <p:cNvSpPr/>
          <p:nvPr/>
        </p:nvSpPr>
        <p:spPr>
          <a:xfrm>
            <a:off x="1234440" y="1691640"/>
            <a:ext cx="7269480" cy="725805"/>
          </a:xfrm>
          <a:prstGeom prst="rect">
            <a:avLst/>
          </a:prstGeom>
          <a:noFill/>
          <a:ln/>
        </p:spPr>
        <p:txBody>
          <a:bodyPr wrap="square" lIns="0" tIns="0" rIns="0" bIns="0" rtlCol="0" anchor="ctr"/>
          <a:lstStyle/>
          <a:p>
            <a:pPr indent="0" marL="0">
              <a:buNone/>
            </a:pPr>
            <a:r>
              <a:rPr lang="en-US" sz="1550" dirty="0">
                <a:solidFill>
                  <a:srgbClr val="2E386E"/>
                </a:solidFill>
                <a:latin typeface="Inter" pitchFamily="34" charset="0"/>
                <a:ea typeface="Inter" pitchFamily="34" charset="-122"/>
                <a:cs typeface="Inter" pitchFamily="34" charset="-120"/>
              </a:rPr>
              <a:t>Optimise ton profil : photo, bio bénéfice, un seul lien</a:t>
            </a:r>
            <a:endParaRPr lang="en-US" sz="1550" dirty="0"/>
          </a:p>
        </p:txBody>
      </p:sp>
      <p:sp>
        <p:nvSpPr>
          <p:cNvPr id="7" name="Shape 5"/>
          <p:cNvSpPr/>
          <p:nvPr/>
        </p:nvSpPr>
        <p:spPr>
          <a:xfrm>
            <a:off x="640080" y="2579179"/>
            <a:ext cx="402336" cy="402336"/>
          </a:xfrm>
          <a:prstGeom prst="ellipse">
            <a:avLst/>
          </a:prstGeom>
          <a:solidFill>
            <a:srgbClr val="2BB673"/>
          </a:solidFill>
          <a:ln/>
        </p:spPr>
      </p:sp>
      <p:sp>
        <p:nvSpPr>
          <p:cNvPr id="8" name="Text 6"/>
          <p:cNvSpPr/>
          <p:nvPr/>
        </p:nvSpPr>
        <p:spPr>
          <a:xfrm>
            <a:off x="640080" y="257917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Inter" pitchFamily="34" charset="0"/>
                <a:ea typeface="Inter" pitchFamily="34" charset="-122"/>
                <a:cs typeface="Inter" pitchFamily="34" charset="-120"/>
              </a:rPr>
              <a:t>✓</a:t>
            </a:r>
            <a:endParaRPr lang="en-US" sz="1500" dirty="0"/>
          </a:p>
        </p:txBody>
      </p:sp>
      <p:sp>
        <p:nvSpPr>
          <p:cNvPr id="9" name="Text 7"/>
          <p:cNvSpPr/>
          <p:nvPr/>
        </p:nvSpPr>
        <p:spPr>
          <a:xfrm>
            <a:off x="1234440" y="2417445"/>
            <a:ext cx="7269480" cy="725805"/>
          </a:xfrm>
          <a:prstGeom prst="rect">
            <a:avLst/>
          </a:prstGeom>
          <a:noFill/>
          <a:ln/>
        </p:spPr>
        <p:txBody>
          <a:bodyPr wrap="square" lIns="0" tIns="0" rIns="0" bIns="0" rtlCol="0" anchor="ctr"/>
          <a:lstStyle/>
          <a:p>
            <a:pPr indent="0" marL="0">
              <a:buNone/>
            </a:pPr>
            <a:r>
              <a:rPr lang="en-US" sz="1550" dirty="0">
                <a:solidFill>
                  <a:srgbClr val="2E386E"/>
                </a:solidFill>
                <a:latin typeface="Inter" pitchFamily="34" charset="0"/>
                <a:ea typeface="Inter" pitchFamily="34" charset="-122"/>
                <a:cs typeface="Inter" pitchFamily="34" charset="-120"/>
              </a:rPr>
              <a:t>Crée ta page lien en bio sur Systeme.io (templates fournis)</a:t>
            </a:r>
            <a:endParaRPr lang="en-US" sz="1550" dirty="0"/>
          </a:p>
        </p:txBody>
      </p:sp>
      <p:sp>
        <p:nvSpPr>
          <p:cNvPr id="10" name="Shape 8"/>
          <p:cNvSpPr/>
          <p:nvPr/>
        </p:nvSpPr>
        <p:spPr>
          <a:xfrm>
            <a:off x="640080" y="3304985"/>
            <a:ext cx="402336" cy="402336"/>
          </a:xfrm>
          <a:prstGeom prst="ellipse">
            <a:avLst/>
          </a:prstGeom>
          <a:solidFill>
            <a:srgbClr val="2BB673"/>
          </a:solidFill>
          <a:ln/>
        </p:spPr>
      </p:sp>
      <p:sp>
        <p:nvSpPr>
          <p:cNvPr id="11" name="Text 9"/>
          <p:cNvSpPr/>
          <p:nvPr/>
        </p:nvSpPr>
        <p:spPr>
          <a:xfrm>
            <a:off x="640080" y="3304985"/>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Inter" pitchFamily="34" charset="0"/>
                <a:ea typeface="Inter" pitchFamily="34" charset="-122"/>
                <a:cs typeface="Inter" pitchFamily="34" charset="-120"/>
              </a:rPr>
              <a:t>✓</a:t>
            </a:r>
            <a:endParaRPr lang="en-US" sz="1500" dirty="0"/>
          </a:p>
        </p:txBody>
      </p:sp>
      <p:sp>
        <p:nvSpPr>
          <p:cNvPr id="12" name="Text 10"/>
          <p:cNvSpPr/>
          <p:nvPr/>
        </p:nvSpPr>
        <p:spPr>
          <a:xfrm>
            <a:off x="1234440" y="3143250"/>
            <a:ext cx="7269480" cy="725805"/>
          </a:xfrm>
          <a:prstGeom prst="rect">
            <a:avLst/>
          </a:prstGeom>
          <a:noFill/>
          <a:ln/>
        </p:spPr>
        <p:txBody>
          <a:bodyPr wrap="square" lIns="0" tIns="0" rIns="0" bIns="0" rtlCol="0" anchor="ctr"/>
          <a:lstStyle/>
          <a:p>
            <a:pPr indent="0" marL="0">
              <a:buNone/>
            </a:pPr>
            <a:r>
              <a:rPr lang="en-US" sz="1550" dirty="0">
                <a:solidFill>
                  <a:srgbClr val="2E386E"/>
                </a:solidFill>
                <a:latin typeface="Inter" pitchFamily="34" charset="0"/>
                <a:ea typeface="Inter" pitchFamily="34" charset="-122"/>
                <a:cs typeface="Inter" pitchFamily="34" charset="-120"/>
              </a:rPr>
              <a:t>Prépare 5 posts en alternant valeur, preuve, curiosité</a:t>
            </a:r>
            <a:endParaRPr lang="en-US" sz="1550" dirty="0"/>
          </a:p>
        </p:txBody>
      </p:sp>
      <p:sp>
        <p:nvSpPr>
          <p:cNvPr id="13" name="Shape 11"/>
          <p:cNvSpPr/>
          <p:nvPr/>
        </p:nvSpPr>
        <p:spPr>
          <a:xfrm>
            <a:off x="640080" y="4030789"/>
            <a:ext cx="402336" cy="402336"/>
          </a:xfrm>
          <a:prstGeom prst="ellipse">
            <a:avLst/>
          </a:prstGeom>
          <a:solidFill>
            <a:srgbClr val="2BB673"/>
          </a:solidFill>
          <a:ln/>
        </p:spPr>
      </p:sp>
      <p:sp>
        <p:nvSpPr>
          <p:cNvPr id="14" name="Text 12"/>
          <p:cNvSpPr/>
          <p:nvPr/>
        </p:nvSpPr>
        <p:spPr>
          <a:xfrm>
            <a:off x="640080" y="403078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Inter" pitchFamily="34" charset="0"/>
                <a:ea typeface="Inter" pitchFamily="34" charset="-122"/>
                <a:cs typeface="Inter" pitchFamily="34" charset="-120"/>
              </a:rPr>
              <a:t>✓</a:t>
            </a:r>
            <a:endParaRPr lang="en-US" sz="1500" dirty="0"/>
          </a:p>
        </p:txBody>
      </p:sp>
      <p:sp>
        <p:nvSpPr>
          <p:cNvPr id="15" name="Text 13"/>
          <p:cNvSpPr/>
          <p:nvPr/>
        </p:nvSpPr>
        <p:spPr>
          <a:xfrm>
            <a:off x="1234440" y="3869055"/>
            <a:ext cx="7269480" cy="725805"/>
          </a:xfrm>
          <a:prstGeom prst="rect">
            <a:avLst/>
          </a:prstGeom>
          <a:noFill/>
          <a:ln/>
        </p:spPr>
        <p:txBody>
          <a:bodyPr wrap="square" lIns="0" tIns="0" rIns="0" bIns="0" rtlCol="0" anchor="ctr"/>
          <a:lstStyle/>
          <a:p>
            <a:pPr indent="0" marL="0">
              <a:buNone/>
            </a:pPr>
            <a:r>
              <a:rPr lang="en-US" sz="1550" dirty="0">
                <a:solidFill>
                  <a:srgbClr val="2E386E"/>
                </a:solidFill>
                <a:latin typeface="Inter" pitchFamily="34" charset="0"/>
                <a:ea typeface="Inter" pitchFamily="34" charset="-122"/>
                <a:cs typeface="Inter" pitchFamily="34" charset="-120"/>
              </a:rPr>
              <a:t>Repère 5 gros comptes et 3 groupes à animer cette semaine</a:t>
            </a:r>
            <a:endParaRPr lang="en-US" sz="1550" dirty="0"/>
          </a:p>
        </p:txBody>
      </p:sp>
      <p:sp>
        <p:nvSpPr>
          <p:cNvPr id="16" name="Text 14"/>
          <p:cNvSpPr/>
          <p:nvPr/>
        </p:nvSpPr>
        <p:spPr>
          <a:xfrm>
            <a:off x="457200" y="4759452"/>
            <a:ext cx="6400800" cy="274320"/>
          </a:xfrm>
          <a:prstGeom prst="rect">
            <a:avLst/>
          </a:prstGeom>
          <a:noFill/>
          <a:ln/>
        </p:spPr>
        <p:txBody>
          <a:bodyPr wrap="square" lIns="0" tIns="0" rIns="0" bIns="0" rtlCol="0" anchor="ctr"/>
          <a:lstStyle/>
          <a:p>
            <a:pPr indent="0" marL="0">
              <a:buNone/>
            </a:pPr>
            <a:r>
              <a:rPr lang="en-US" sz="900" b="1" dirty="0">
                <a:solidFill>
                  <a:srgbClr val="6B73A0"/>
                </a:solidFill>
                <a:latin typeface="Inter" pitchFamily="34" charset="0"/>
                <a:ea typeface="Inter" pitchFamily="34" charset="-122"/>
                <a:cs typeface="Inter" pitchFamily="34" charset="-120"/>
              </a:rPr>
              <a:t>L'Atelier du Quiz</a:t>
            </a:r>
            <a:pPr indent="0" marL="0">
              <a:buNone/>
            </a:pPr>
            <a:r>
              <a:rPr lang="en-US" sz="900" dirty="0">
                <a:solidFill>
                  <a:srgbClr val="6B73A0"/>
                </a:solidFill>
                <a:latin typeface="Inter" pitchFamily="34" charset="0"/>
                <a:ea typeface="Inter" pitchFamily="34" charset="-122"/>
                <a:cs typeface="Inter" pitchFamily="34" charset="-120"/>
              </a:rPr>
              <a:t>   ·   Promo réseaux</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2E386E"/>
        </a:solidFill>
      </p:bgPr>
    </p:bg>
    <p:spTree>
      <p:nvGrpSpPr>
        <p:cNvPr id="1" name=""/>
        <p:cNvGrpSpPr/>
        <p:nvPr/>
      </p:nvGrpSpPr>
      <p:grpSpPr>
        <a:xfrm>
          <a:off x="0" y="0"/>
          <a:ext cx="0" cy="0"/>
          <a:chOff x="0" y="0"/>
          <a:chExt cx="0" cy="0"/>
        </a:xfrm>
      </p:grpSpPr>
      <p:sp>
        <p:nvSpPr>
          <p:cNvPr id="2" name="Shape 0"/>
          <p:cNvSpPr/>
          <p:nvPr/>
        </p:nvSpPr>
        <p:spPr>
          <a:xfrm>
            <a:off x="7955280" y="-640080"/>
            <a:ext cx="2194560" cy="2194560"/>
          </a:xfrm>
          <a:prstGeom prst="ellipse">
            <a:avLst/>
          </a:prstGeom>
          <a:solidFill>
            <a:srgbClr val="5D6CDB">
              <a:alpha val="30000"/>
            </a:srgbClr>
          </a:solidFill>
          <a:ln/>
        </p:spPr>
      </p:sp>
      <p:sp>
        <p:nvSpPr>
          <p:cNvPr id="3" name="Shape 1"/>
          <p:cNvSpPr/>
          <p:nvPr/>
        </p:nvSpPr>
        <p:spPr>
          <a:xfrm>
            <a:off x="8686800" y="4023360"/>
            <a:ext cx="1554480" cy="1554480"/>
          </a:xfrm>
          <a:prstGeom prst="ellipse">
            <a:avLst/>
          </a:prstGeom>
          <a:solidFill>
            <a:srgbClr val="5D6CDB">
              <a:alpha val="20000"/>
            </a:srgbClr>
          </a:solidFill>
          <a:ln/>
        </p:spPr>
      </p:sp>
      <p:sp>
        <p:nvSpPr>
          <p:cNvPr id="4" name="Text 2"/>
          <p:cNvSpPr/>
          <p:nvPr/>
        </p:nvSpPr>
        <p:spPr>
          <a:xfrm>
            <a:off x="640080" y="1280160"/>
            <a:ext cx="7863840" cy="457200"/>
          </a:xfrm>
          <a:prstGeom prst="rect">
            <a:avLst/>
          </a:prstGeom>
          <a:noFill/>
          <a:ln/>
        </p:spPr>
        <p:txBody>
          <a:bodyPr wrap="square" lIns="0" tIns="0" rIns="0" bIns="0" rtlCol="0" anchor="ctr"/>
          <a:lstStyle/>
          <a:p>
            <a:pPr indent="0" marL="0">
              <a:buNone/>
            </a:pPr>
            <a:r>
              <a:rPr lang="en-US" sz="1400" b="1" spc="200" kern="0" dirty="0">
                <a:solidFill>
                  <a:srgbClr val="F5B301"/>
                </a:solidFill>
                <a:latin typeface="Inter" pitchFamily="34" charset="0"/>
                <a:ea typeface="Inter" pitchFamily="34" charset="-122"/>
                <a:cs typeface="Inter" pitchFamily="34" charset="-120"/>
              </a:rPr>
              <a:t>BRAVO, PROMO · LES BASES TERMINÉ</a:t>
            </a:r>
            <a:endParaRPr lang="en-US" sz="1400" dirty="0"/>
          </a:p>
        </p:txBody>
      </p:sp>
      <p:sp>
        <p:nvSpPr>
          <p:cNvPr id="5" name="Text 3"/>
          <p:cNvSpPr/>
          <p:nvPr/>
        </p:nvSpPr>
        <p:spPr>
          <a:xfrm>
            <a:off x="640080" y="1828800"/>
            <a:ext cx="7863840" cy="1645920"/>
          </a:xfrm>
          <a:prstGeom prst="rect">
            <a:avLst/>
          </a:prstGeom>
          <a:noFill/>
          <a:ln/>
        </p:spPr>
        <p:txBody>
          <a:bodyPr wrap="square" lIns="0" tIns="0" rIns="0" bIns="0" rtlCol="0" anchor="ctr"/>
          <a:lstStyle/>
          <a:p>
            <a:pPr indent="0" marL="0">
              <a:lnSpc>
                <a:spcPct val="105000"/>
              </a:lnSpc>
              <a:buNone/>
            </a:pPr>
            <a:r>
              <a:rPr lang="en-US" sz="2800" b="1" dirty="0">
                <a:solidFill>
                  <a:srgbClr val="FFFFFF"/>
                </a:solidFill>
                <a:latin typeface="Inter" pitchFamily="34" charset="0"/>
                <a:ea typeface="Inter" pitchFamily="34" charset="-122"/>
                <a:cs typeface="Inter" pitchFamily="34" charset="-120"/>
              </a:rPr>
              <a:t>Et maintenant, on attaque réseau par réseau : Facebook, Instagram, LinkedIn, YouTube, TikTok, Pinterest. Chacun a ses codes.</a:t>
            </a:r>
            <a:endParaRPr lang="en-US" sz="2800" dirty="0"/>
          </a:p>
        </p:txBody>
      </p:sp>
      <p:sp>
        <p:nvSpPr>
          <p:cNvPr id="6" name="Text 4"/>
          <p:cNvSpPr/>
          <p:nvPr/>
        </p:nvSpPr>
        <p:spPr>
          <a:xfrm>
            <a:off x="658368" y="4206240"/>
            <a:ext cx="7315200" cy="365760"/>
          </a:xfrm>
          <a:prstGeom prst="rect">
            <a:avLst/>
          </a:prstGeom>
          <a:noFill/>
          <a:ln/>
        </p:spPr>
        <p:txBody>
          <a:bodyPr wrap="square" lIns="0" tIns="0" rIns="0" bIns="0" rtlCol="0" anchor="ctr"/>
          <a:lstStyle/>
          <a:p>
            <a:pPr indent="0" marL="0">
              <a:buNone/>
            </a:pPr>
            <a:r>
              <a:rPr lang="en-US" sz="1200" dirty="0">
                <a:solidFill>
                  <a:srgbClr val="EAECFB"/>
                </a:solidFill>
                <a:latin typeface="Inter" pitchFamily="34" charset="0"/>
                <a:ea typeface="Inter" pitchFamily="34" charset="-122"/>
                <a:cs typeface="Inter" pitchFamily="34" charset="-120"/>
              </a:rPr>
              <a:t>L'Atelier du Quiz  ·  Méthode CAPTO®</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L'Atelier du Quiz - Jour undefined</dc:title>
  <dc:subject>PptxGenJS Presentation</dc:subject>
  <dc:creator>L'Atelier du Quiz</dc:creator>
  <cp:lastModifiedBy>L'Atelier du Quiz</cp:lastModifiedBy>
  <cp:revision>1</cp:revision>
  <dcterms:created xsi:type="dcterms:W3CDTF">2026-06-19T13:05:35Z</dcterms:created>
  <dcterms:modified xsi:type="dcterms:W3CDTF">2026-06-19T13:05:35Z</dcterms:modified>
</cp:coreProperties>
</file>